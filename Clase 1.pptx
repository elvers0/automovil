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6" r:id="rId3"/>
    <p:sldId id="258" r:id="rId4"/>
    <p:sldId id="293" r:id="rId5"/>
    <p:sldId id="274" r:id="rId6"/>
    <p:sldId id="273" r:id="rId7"/>
    <p:sldId id="260" r:id="rId8"/>
    <p:sldId id="282" r:id="rId9"/>
    <p:sldId id="283" r:id="rId10"/>
    <p:sldId id="261" r:id="rId11"/>
    <p:sldId id="285" r:id="rId12"/>
    <p:sldId id="284" r:id="rId13"/>
    <p:sldId id="263" r:id="rId14"/>
    <p:sldId id="275" r:id="rId15"/>
    <p:sldId id="262" r:id="rId16"/>
    <p:sldId id="279" r:id="rId17"/>
    <p:sldId id="264" r:id="rId18"/>
    <p:sldId id="276" r:id="rId19"/>
    <p:sldId id="277" r:id="rId20"/>
    <p:sldId id="265" r:id="rId21"/>
    <p:sldId id="280" r:id="rId22"/>
    <p:sldId id="281" r:id="rId23"/>
    <p:sldId id="286" r:id="rId24"/>
    <p:sldId id="287" r:id="rId25"/>
    <p:sldId id="288" r:id="rId26"/>
    <p:sldId id="289" r:id="rId27"/>
    <p:sldId id="291" r:id="rId28"/>
    <p:sldId id="290" r:id="rId29"/>
    <p:sldId id="292" r:id="rId30"/>
    <p:sldId id="266" r:id="rId31"/>
    <p:sldId id="267" r:id="rId32"/>
    <p:sldId id="295" r:id="rId33"/>
    <p:sldId id="296" r:id="rId34"/>
    <p:sldId id="297" r:id="rId35"/>
    <p:sldId id="268" r:id="rId36"/>
    <p:sldId id="299" r:id="rId37"/>
    <p:sldId id="300" r:id="rId38"/>
    <p:sldId id="301" r:id="rId39"/>
    <p:sldId id="302" r:id="rId40"/>
    <p:sldId id="303" r:id="rId41"/>
    <p:sldId id="270" r:id="rId42"/>
    <p:sldId id="271" r:id="rId43"/>
    <p:sldId id="272" r:id="rId44"/>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94660"/>
  </p:normalViewPr>
  <p:slideViewPr>
    <p:cSldViewPr snapToGrid="0">
      <p:cViewPr varScale="1">
        <p:scale>
          <a:sx n="70" d="100"/>
          <a:sy n="70" d="100"/>
        </p:scale>
        <p:origin x="738"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p:cNvSpPr>
            <a:spLocks noGrp="1"/>
          </p:cNvSpPr>
          <p:nvPr>
            <p:ph type="dt" sz="half" idx="10"/>
          </p:nvPr>
        </p:nvSpPr>
        <p:spPr/>
        <p:txBody>
          <a:bodyPr/>
          <a:lstStyle/>
          <a:p>
            <a:fld id="{E956585F-79E6-4EEA-9F46-3F42785F0E40}" type="datetimeFigureOut">
              <a:rPr lang="es-CO" smtClean="0"/>
              <a:t>12/02/2025</a:t>
            </a:fld>
            <a:endParaRPr lang="es-CO"/>
          </a:p>
        </p:txBody>
      </p:sp>
      <p:sp>
        <p:nvSpPr>
          <p:cNvPr id="5" name="Marcador de pie de página 4"/>
          <p:cNvSpPr>
            <a:spLocks noGrp="1"/>
          </p:cNvSpPr>
          <p:nvPr>
            <p:ph type="ftr" sz="quarter" idx="11"/>
          </p:nvPr>
        </p:nvSpPr>
        <p:spPr/>
        <p:txBody>
          <a:bodyPr/>
          <a:lstStyle/>
          <a:p>
            <a:endParaRPr lang="es-CO"/>
          </a:p>
        </p:txBody>
      </p:sp>
      <p:sp>
        <p:nvSpPr>
          <p:cNvPr id="6" name="Marcador de número de diapositiva 5"/>
          <p:cNvSpPr>
            <a:spLocks noGrp="1"/>
          </p:cNvSpPr>
          <p:nvPr>
            <p:ph type="sldNum" sz="quarter" idx="12"/>
          </p:nvPr>
        </p:nvSpPr>
        <p:spPr/>
        <p:txBody>
          <a:bodyPr/>
          <a:lstStyle/>
          <a:p>
            <a:fld id="{4DEFADC1-F790-4C65-A43A-9946135326C8}" type="slidenum">
              <a:rPr lang="es-CO" smtClean="0"/>
              <a:t>‹Nº›</a:t>
            </a:fld>
            <a:endParaRPr lang="es-CO"/>
          </a:p>
        </p:txBody>
      </p:sp>
    </p:spTree>
    <p:extLst>
      <p:ext uri="{BB962C8B-B14F-4D97-AF65-F5344CB8AC3E}">
        <p14:creationId xmlns:p14="http://schemas.microsoft.com/office/powerpoint/2010/main" val="16377747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CO"/>
          </a:p>
        </p:txBody>
      </p:sp>
      <p:sp>
        <p:nvSpPr>
          <p:cNvPr id="3" name="Marcador de contenido 2"/>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p:cNvSpPr>
            <a:spLocks noGrp="1"/>
          </p:cNvSpPr>
          <p:nvPr>
            <p:ph type="dt" sz="half" idx="10"/>
          </p:nvPr>
        </p:nvSpPr>
        <p:spPr/>
        <p:txBody>
          <a:bodyPr/>
          <a:lstStyle/>
          <a:p>
            <a:fld id="{E956585F-79E6-4EEA-9F46-3F42785F0E40}" type="datetimeFigureOut">
              <a:rPr lang="es-CO" smtClean="0"/>
              <a:t>12/02/2025</a:t>
            </a:fld>
            <a:endParaRPr lang="es-CO"/>
          </a:p>
        </p:txBody>
      </p:sp>
      <p:sp>
        <p:nvSpPr>
          <p:cNvPr id="5" name="Marcador de pie de página 4"/>
          <p:cNvSpPr>
            <a:spLocks noGrp="1"/>
          </p:cNvSpPr>
          <p:nvPr>
            <p:ph type="ftr" sz="quarter" idx="11"/>
          </p:nvPr>
        </p:nvSpPr>
        <p:spPr/>
        <p:txBody>
          <a:bodyPr/>
          <a:lstStyle/>
          <a:p>
            <a:endParaRPr lang="es-CO"/>
          </a:p>
        </p:txBody>
      </p:sp>
      <p:sp>
        <p:nvSpPr>
          <p:cNvPr id="6" name="Marcador de número de diapositiva 5"/>
          <p:cNvSpPr>
            <a:spLocks noGrp="1"/>
          </p:cNvSpPr>
          <p:nvPr>
            <p:ph type="sldNum" sz="quarter" idx="12"/>
          </p:nvPr>
        </p:nvSpPr>
        <p:spPr/>
        <p:txBody>
          <a:bodyPr/>
          <a:lstStyle/>
          <a:p>
            <a:fld id="{4DEFADC1-F790-4C65-A43A-9946135326C8}" type="slidenum">
              <a:rPr lang="es-CO" smtClean="0"/>
              <a:t>‹Nº›</a:t>
            </a:fld>
            <a:endParaRPr lang="es-CO"/>
          </a:p>
        </p:txBody>
      </p:sp>
    </p:spTree>
    <p:extLst>
      <p:ext uri="{BB962C8B-B14F-4D97-AF65-F5344CB8AC3E}">
        <p14:creationId xmlns:p14="http://schemas.microsoft.com/office/powerpoint/2010/main" val="19781292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el estilo de texto del patrón</a:t>
            </a:r>
          </a:p>
        </p:txBody>
      </p:sp>
      <p:sp>
        <p:nvSpPr>
          <p:cNvPr id="4" name="Marcador de fecha 3"/>
          <p:cNvSpPr>
            <a:spLocks noGrp="1"/>
          </p:cNvSpPr>
          <p:nvPr>
            <p:ph type="dt" sz="half" idx="10"/>
          </p:nvPr>
        </p:nvSpPr>
        <p:spPr/>
        <p:txBody>
          <a:bodyPr/>
          <a:lstStyle/>
          <a:p>
            <a:fld id="{E956585F-79E6-4EEA-9F46-3F42785F0E40}" type="datetimeFigureOut">
              <a:rPr lang="es-CO" smtClean="0"/>
              <a:t>12/02/2025</a:t>
            </a:fld>
            <a:endParaRPr lang="es-CO"/>
          </a:p>
        </p:txBody>
      </p:sp>
      <p:sp>
        <p:nvSpPr>
          <p:cNvPr id="5" name="Marcador de pie de página 4"/>
          <p:cNvSpPr>
            <a:spLocks noGrp="1"/>
          </p:cNvSpPr>
          <p:nvPr>
            <p:ph type="ftr" sz="quarter" idx="11"/>
          </p:nvPr>
        </p:nvSpPr>
        <p:spPr/>
        <p:txBody>
          <a:bodyPr/>
          <a:lstStyle/>
          <a:p>
            <a:endParaRPr lang="es-CO"/>
          </a:p>
        </p:txBody>
      </p:sp>
      <p:sp>
        <p:nvSpPr>
          <p:cNvPr id="6" name="Marcador de número de diapositiva 5"/>
          <p:cNvSpPr>
            <a:spLocks noGrp="1"/>
          </p:cNvSpPr>
          <p:nvPr>
            <p:ph type="sldNum" sz="quarter" idx="12"/>
          </p:nvPr>
        </p:nvSpPr>
        <p:spPr/>
        <p:txBody>
          <a:bodyPr/>
          <a:lstStyle/>
          <a:p>
            <a:fld id="{4DEFADC1-F790-4C65-A43A-9946135326C8}" type="slidenum">
              <a:rPr lang="es-CO" smtClean="0"/>
              <a:t>‹Nº›</a:t>
            </a:fld>
            <a:endParaRPr lang="es-CO"/>
          </a:p>
        </p:txBody>
      </p:sp>
    </p:spTree>
    <p:extLst>
      <p:ext uri="{BB962C8B-B14F-4D97-AF65-F5344CB8AC3E}">
        <p14:creationId xmlns:p14="http://schemas.microsoft.com/office/powerpoint/2010/main" val="6900580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CO"/>
          </a:p>
        </p:txBody>
      </p:sp>
      <p:sp>
        <p:nvSpPr>
          <p:cNvPr id="3" name="Marcador de contenido 2"/>
          <p:cNvSpPr>
            <a:spLocks noGrp="1"/>
          </p:cNvSpPr>
          <p:nvPr>
            <p:ph sz="half" idx="1"/>
          </p:nvPr>
        </p:nvSpPr>
        <p:spPr>
          <a:xfrm>
            <a:off x="838200" y="1825625"/>
            <a:ext cx="5181600" cy="435133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p:cNvSpPr>
            <a:spLocks noGrp="1"/>
          </p:cNvSpPr>
          <p:nvPr>
            <p:ph sz="half" idx="2"/>
          </p:nvPr>
        </p:nvSpPr>
        <p:spPr>
          <a:xfrm>
            <a:off x="6172200" y="1825625"/>
            <a:ext cx="5181600" cy="435133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p:cNvSpPr>
            <a:spLocks noGrp="1"/>
          </p:cNvSpPr>
          <p:nvPr>
            <p:ph type="dt" sz="half" idx="10"/>
          </p:nvPr>
        </p:nvSpPr>
        <p:spPr/>
        <p:txBody>
          <a:bodyPr/>
          <a:lstStyle/>
          <a:p>
            <a:fld id="{E956585F-79E6-4EEA-9F46-3F42785F0E40}" type="datetimeFigureOut">
              <a:rPr lang="es-CO" smtClean="0"/>
              <a:t>12/02/2025</a:t>
            </a:fld>
            <a:endParaRPr lang="es-CO"/>
          </a:p>
        </p:txBody>
      </p:sp>
      <p:sp>
        <p:nvSpPr>
          <p:cNvPr id="6" name="Marcador de pie de página 5"/>
          <p:cNvSpPr>
            <a:spLocks noGrp="1"/>
          </p:cNvSpPr>
          <p:nvPr>
            <p:ph type="ftr" sz="quarter" idx="11"/>
          </p:nvPr>
        </p:nvSpPr>
        <p:spPr/>
        <p:txBody>
          <a:bodyPr/>
          <a:lstStyle/>
          <a:p>
            <a:endParaRPr lang="es-CO"/>
          </a:p>
        </p:txBody>
      </p:sp>
      <p:sp>
        <p:nvSpPr>
          <p:cNvPr id="7" name="Marcador de número de diapositiva 6"/>
          <p:cNvSpPr>
            <a:spLocks noGrp="1"/>
          </p:cNvSpPr>
          <p:nvPr>
            <p:ph type="sldNum" sz="quarter" idx="12"/>
          </p:nvPr>
        </p:nvSpPr>
        <p:spPr/>
        <p:txBody>
          <a:bodyPr/>
          <a:lstStyle/>
          <a:p>
            <a:fld id="{4DEFADC1-F790-4C65-A43A-9946135326C8}" type="slidenum">
              <a:rPr lang="es-CO" smtClean="0"/>
              <a:t>‹Nº›</a:t>
            </a:fld>
            <a:endParaRPr lang="es-CO"/>
          </a:p>
        </p:txBody>
      </p:sp>
    </p:spTree>
    <p:extLst>
      <p:ext uri="{BB962C8B-B14F-4D97-AF65-F5344CB8AC3E}">
        <p14:creationId xmlns:p14="http://schemas.microsoft.com/office/powerpoint/2010/main" val="11698212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Marcador de contenido 3"/>
          <p:cNvSpPr>
            <a:spLocks noGrp="1"/>
          </p:cNvSpPr>
          <p:nvPr>
            <p:ph sz="half" idx="2"/>
          </p:nvPr>
        </p:nvSpPr>
        <p:spPr>
          <a:xfrm>
            <a:off x="839788" y="2505075"/>
            <a:ext cx="5157787" cy="368458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Marcador de contenido 5"/>
          <p:cNvSpPr>
            <a:spLocks noGrp="1"/>
          </p:cNvSpPr>
          <p:nvPr>
            <p:ph sz="quarter" idx="4"/>
          </p:nvPr>
        </p:nvSpPr>
        <p:spPr>
          <a:xfrm>
            <a:off x="6172200" y="2505075"/>
            <a:ext cx="5183188" cy="368458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p:cNvSpPr>
            <a:spLocks noGrp="1"/>
          </p:cNvSpPr>
          <p:nvPr>
            <p:ph type="dt" sz="half" idx="10"/>
          </p:nvPr>
        </p:nvSpPr>
        <p:spPr/>
        <p:txBody>
          <a:bodyPr/>
          <a:lstStyle/>
          <a:p>
            <a:fld id="{E956585F-79E6-4EEA-9F46-3F42785F0E40}" type="datetimeFigureOut">
              <a:rPr lang="es-CO" smtClean="0"/>
              <a:t>12/02/2025</a:t>
            </a:fld>
            <a:endParaRPr lang="es-CO"/>
          </a:p>
        </p:txBody>
      </p:sp>
      <p:sp>
        <p:nvSpPr>
          <p:cNvPr id="8" name="Marcador de pie de página 7"/>
          <p:cNvSpPr>
            <a:spLocks noGrp="1"/>
          </p:cNvSpPr>
          <p:nvPr>
            <p:ph type="ftr" sz="quarter" idx="11"/>
          </p:nvPr>
        </p:nvSpPr>
        <p:spPr/>
        <p:txBody>
          <a:bodyPr/>
          <a:lstStyle/>
          <a:p>
            <a:endParaRPr lang="es-CO"/>
          </a:p>
        </p:txBody>
      </p:sp>
      <p:sp>
        <p:nvSpPr>
          <p:cNvPr id="9" name="Marcador de número de diapositiva 8"/>
          <p:cNvSpPr>
            <a:spLocks noGrp="1"/>
          </p:cNvSpPr>
          <p:nvPr>
            <p:ph type="sldNum" sz="quarter" idx="12"/>
          </p:nvPr>
        </p:nvSpPr>
        <p:spPr/>
        <p:txBody>
          <a:bodyPr/>
          <a:lstStyle/>
          <a:p>
            <a:fld id="{4DEFADC1-F790-4C65-A43A-9946135326C8}" type="slidenum">
              <a:rPr lang="es-CO" smtClean="0"/>
              <a:t>‹Nº›</a:t>
            </a:fld>
            <a:endParaRPr lang="es-CO"/>
          </a:p>
        </p:txBody>
      </p:sp>
    </p:spTree>
    <p:extLst>
      <p:ext uri="{BB962C8B-B14F-4D97-AF65-F5344CB8AC3E}">
        <p14:creationId xmlns:p14="http://schemas.microsoft.com/office/powerpoint/2010/main" val="24627400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CO"/>
          </a:p>
        </p:txBody>
      </p:sp>
      <p:sp>
        <p:nvSpPr>
          <p:cNvPr id="3" name="Marcador de fecha 2"/>
          <p:cNvSpPr>
            <a:spLocks noGrp="1"/>
          </p:cNvSpPr>
          <p:nvPr>
            <p:ph type="dt" sz="half" idx="10"/>
          </p:nvPr>
        </p:nvSpPr>
        <p:spPr/>
        <p:txBody>
          <a:bodyPr/>
          <a:lstStyle/>
          <a:p>
            <a:fld id="{E956585F-79E6-4EEA-9F46-3F42785F0E40}" type="datetimeFigureOut">
              <a:rPr lang="es-CO" smtClean="0"/>
              <a:t>12/02/2025</a:t>
            </a:fld>
            <a:endParaRPr lang="es-CO"/>
          </a:p>
        </p:txBody>
      </p:sp>
      <p:sp>
        <p:nvSpPr>
          <p:cNvPr id="4" name="Marcador de pie de página 3"/>
          <p:cNvSpPr>
            <a:spLocks noGrp="1"/>
          </p:cNvSpPr>
          <p:nvPr>
            <p:ph type="ftr" sz="quarter" idx="11"/>
          </p:nvPr>
        </p:nvSpPr>
        <p:spPr/>
        <p:txBody>
          <a:bodyPr/>
          <a:lstStyle/>
          <a:p>
            <a:endParaRPr lang="es-CO"/>
          </a:p>
        </p:txBody>
      </p:sp>
      <p:sp>
        <p:nvSpPr>
          <p:cNvPr id="5" name="Marcador de número de diapositiva 4"/>
          <p:cNvSpPr>
            <a:spLocks noGrp="1"/>
          </p:cNvSpPr>
          <p:nvPr>
            <p:ph type="sldNum" sz="quarter" idx="12"/>
          </p:nvPr>
        </p:nvSpPr>
        <p:spPr/>
        <p:txBody>
          <a:bodyPr/>
          <a:lstStyle/>
          <a:p>
            <a:fld id="{4DEFADC1-F790-4C65-A43A-9946135326C8}" type="slidenum">
              <a:rPr lang="es-CO" smtClean="0"/>
              <a:t>‹Nº›</a:t>
            </a:fld>
            <a:endParaRPr lang="es-CO"/>
          </a:p>
        </p:txBody>
      </p:sp>
    </p:spTree>
    <p:extLst>
      <p:ext uri="{BB962C8B-B14F-4D97-AF65-F5344CB8AC3E}">
        <p14:creationId xmlns:p14="http://schemas.microsoft.com/office/powerpoint/2010/main" val="27222649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p:cNvSpPr>
            <a:spLocks noGrp="1"/>
          </p:cNvSpPr>
          <p:nvPr>
            <p:ph type="dt" sz="half" idx="10"/>
          </p:nvPr>
        </p:nvSpPr>
        <p:spPr/>
        <p:txBody>
          <a:bodyPr/>
          <a:lstStyle/>
          <a:p>
            <a:fld id="{E956585F-79E6-4EEA-9F46-3F42785F0E40}" type="datetimeFigureOut">
              <a:rPr lang="es-CO" smtClean="0"/>
              <a:t>12/02/2025</a:t>
            </a:fld>
            <a:endParaRPr lang="es-CO"/>
          </a:p>
        </p:txBody>
      </p:sp>
      <p:sp>
        <p:nvSpPr>
          <p:cNvPr id="3" name="Marcador de pie de página 2"/>
          <p:cNvSpPr>
            <a:spLocks noGrp="1"/>
          </p:cNvSpPr>
          <p:nvPr>
            <p:ph type="ftr" sz="quarter" idx="11"/>
          </p:nvPr>
        </p:nvSpPr>
        <p:spPr/>
        <p:txBody>
          <a:bodyPr/>
          <a:lstStyle/>
          <a:p>
            <a:endParaRPr lang="es-CO"/>
          </a:p>
        </p:txBody>
      </p:sp>
      <p:sp>
        <p:nvSpPr>
          <p:cNvPr id="4" name="Marcador de número de diapositiva 3"/>
          <p:cNvSpPr>
            <a:spLocks noGrp="1"/>
          </p:cNvSpPr>
          <p:nvPr>
            <p:ph type="sldNum" sz="quarter" idx="12"/>
          </p:nvPr>
        </p:nvSpPr>
        <p:spPr/>
        <p:txBody>
          <a:bodyPr/>
          <a:lstStyle/>
          <a:p>
            <a:fld id="{4DEFADC1-F790-4C65-A43A-9946135326C8}" type="slidenum">
              <a:rPr lang="es-CO" smtClean="0"/>
              <a:t>‹Nº›</a:t>
            </a:fld>
            <a:endParaRPr lang="es-CO"/>
          </a:p>
        </p:txBody>
      </p:sp>
    </p:spTree>
    <p:extLst>
      <p:ext uri="{BB962C8B-B14F-4D97-AF65-F5344CB8AC3E}">
        <p14:creationId xmlns:p14="http://schemas.microsoft.com/office/powerpoint/2010/main" val="12562902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el estilo de texto del patrón</a:t>
            </a:r>
          </a:p>
        </p:txBody>
      </p:sp>
      <p:sp>
        <p:nvSpPr>
          <p:cNvPr id="5" name="Marcador de fecha 4"/>
          <p:cNvSpPr>
            <a:spLocks noGrp="1"/>
          </p:cNvSpPr>
          <p:nvPr>
            <p:ph type="dt" sz="half" idx="10"/>
          </p:nvPr>
        </p:nvSpPr>
        <p:spPr/>
        <p:txBody>
          <a:bodyPr/>
          <a:lstStyle/>
          <a:p>
            <a:fld id="{E956585F-79E6-4EEA-9F46-3F42785F0E40}" type="datetimeFigureOut">
              <a:rPr lang="es-CO" smtClean="0"/>
              <a:t>12/02/2025</a:t>
            </a:fld>
            <a:endParaRPr lang="es-CO"/>
          </a:p>
        </p:txBody>
      </p:sp>
      <p:sp>
        <p:nvSpPr>
          <p:cNvPr id="6" name="Marcador de pie de página 5"/>
          <p:cNvSpPr>
            <a:spLocks noGrp="1"/>
          </p:cNvSpPr>
          <p:nvPr>
            <p:ph type="ftr" sz="quarter" idx="11"/>
          </p:nvPr>
        </p:nvSpPr>
        <p:spPr/>
        <p:txBody>
          <a:bodyPr/>
          <a:lstStyle/>
          <a:p>
            <a:endParaRPr lang="es-CO"/>
          </a:p>
        </p:txBody>
      </p:sp>
      <p:sp>
        <p:nvSpPr>
          <p:cNvPr id="7" name="Marcador de número de diapositiva 6"/>
          <p:cNvSpPr>
            <a:spLocks noGrp="1"/>
          </p:cNvSpPr>
          <p:nvPr>
            <p:ph type="sldNum" sz="quarter" idx="12"/>
          </p:nvPr>
        </p:nvSpPr>
        <p:spPr/>
        <p:txBody>
          <a:bodyPr/>
          <a:lstStyle/>
          <a:p>
            <a:fld id="{4DEFADC1-F790-4C65-A43A-9946135326C8}" type="slidenum">
              <a:rPr lang="es-CO" smtClean="0"/>
              <a:t>‹Nº›</a:t>
            </a:fld>
            <a:endParaRPr lang="es-CO"/>
          </a:p>
        </p:txBody>
      </p:sp>
    </p:spTree>
    <p:extLst>
      <p:ext uri="{BB962C8B-B14F-4D97-AF65-F5344CB8AC3E}">
        <p14:creationId xmlns:p14="http://schemas.microsoft.com/office/powerpoint/2010/main" val="42649574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el estilo de texto del patrón</a:t>
            </a:r>
          </a:p>
        </p:txBody>
      </p:sp>
      <p:sp>
        <p:nvSpPr>
          <p:cNvPr id="5" name="Marcador de fecha 4"/>
          <p:cNvSpPr>
            <a:spLocks noGrp="1"/>
          </p:cNvSpPr>
          <p:nvPr>
            <p:ph type="dt" sz="half" idx="10"/>
          </p:nvPr>
        </p:nvSpPr>
        <p:spPr/>
        <p:txBody>
          <a:bodyPr/>
          <a:lstStyle/>
          <a:p>
            <a:fld id="{E956585F-79E6-4EEA-9F46-3F42785F0E40}" type="datetimeFigureOut">
              <a:rPr lang="es-CO" smtClean="0"/>
              <a:t>12/02/2025</a:t>
            </a:fld>
            <a:endParaRPr lang="es-CO"/>
          </a:p>
        </p:txBody>
      </p:sp>
      <p:sp>
        <p:nvSpPr>
          <p:cNvPr id="6" name="Marcador de pie de página 5"/>
          <p:cNvSpPr>
            <a:spLocks noGrp="1"/>
          </p:cNvSpPr>
          <p:nvPr>
            <p:ph type="ftr" sz="quarter" idx="11"/>
          </p:nvPr>
        </p:nvSpPr>
        <p:spPr/>
        <p:txBody>
          <a:bodyPr/>
          <a:lstStyle/>
          <a:p>
            <a:endParaRPr lang="es-CO"/>
          </a:p>
        </p:txBody>
      </p:sp>
      <p:sp>
        <p:nvSpPr>
          <p:cNvPr id="7" name="Marcador de número de diapositiva 6"/>
          <p:cNvSpPr>
            <a:spLocks noGrp="1"/>
          </p:cNvSpPr>
          <p:nvPr>
            <p:ph type="sldNum" sz="quarter" idx="12"/>
          </p:nvPr>
        </p:nvSpPr>
        <p:spPr/>
        <p:txBody>
          <a:bodyPr/>
          <a:lstStyle/>
          <a:p>
            <a:fld id="{4DEFADC1-F790-4C65-A43A-9946135326C8}" type="slidenum">
              <a:rPr lang="es-CO" smtClean="0"/>
              <a:t>‹Nº›</a:t>
            </a:fld>
            <a:endParaRPr lang="es-CO"/>
          </a:p>
        </p:txBody>
      </p:sp>
    </p:spTree>
    <p:extLst>
      <p:ext uri="{BB962C8B-B14F-4D97-AF65-F5344CB8AC3E}">
        <p14:creationId xmlns:p14="http://schemas.microsoft.com/office/powerpoint/2010/main" val="32050297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CO"/>
          </a:p>
        </p:txBody>
      </p:sp>
      <p:sp>
        <p:nvSpPr>
          <p:cNvPr id="3" name="Marcador de texto vertical 2"/>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p:cNvSpPr>
            <a:spLocks noGrp="1"/>
          </p:cNvSpPr>
          <p:nvPr>
            <p:ph type="dt" sz="half" idx="10"/>
          </p:nvPr>
        </p:nvSpPr>
        <p:spPr/>
        <p:txBody>
          <a:bodyPr/>
          <a:lstStyle/>
          <a:p>
            <a:fld id="{E956585F-79E6-4EEA-9F46-3F42785F0E40}" type="datetimeFigureOut">
              <a:rPr lang="es-CO" smtClean="0"/>
              <a:t>12/02/2025</a:t>
            </a:fld>
            <a:endParaRPr lang="es-CO"/>
          </a:p>
        </p:txBody>
      </p:sp>
      <p:sp>
        <p:nvSpPr>
          <p:cNvPr id="5" name="Marcador de pie de página 4"/>
          <p:cNvSpPr>
            <a:spLocks noGrp="1"/>
          </p:cNvSpPr>
          <p:nvPr>
            <p:ph type="ftr" sz="quarter" idx="11"/>
          </p:nvPr>
        </p:nvSpPr>
        <p:spPr/>
        <p:txBody>
          <a:bodyPr/>
          <a:lstStyle/>
          <a:p>
            <a:endParaRPr lang="es-CO"/>
          </a:p>
        </p:txBody>
      </p:sp>
      <p:sp>
        <p:nvSpPr>
          <p:cNvPr id="6" name="Marcador de número de diapositiva 5"/>
          <p:cNvSpPr>
            <a:spLocks noGrp="1"/>
          </p:cNvSpPr>
          <p:nvPr>
            <p:ph type="sldNum" sz="quarter" idx="12"/>
          </p:nvPr>
        </p:nvSpPr>
        <p:spPr/>
        <p:txBody>
          <a:bodyPr/>
          <a:lstStyle/>
          <a:p>
            <a:fld id="{4DEFADC1-F790-4C65-A43A-9946135326C8}" type="slidenum">
              <a:rPr lang="es-CO" smtClean="0"/>
              <a:t>‹Nº›</a:t>
            </a:fld>
            <a:endParaRPr lang="es-CO"/>
          </a:p>
        </p:txBody>
      </p:sp>
    </p:spTree>
    <p:extLst>
      <p:ext uri="{BB962C8B-B14F-4D97-AF65-F5344CB8AC3E}">
        <p14:creationId xmlns:p14="http://schemas.microsoft.com/office/powerpoint/2010/main" val="387332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p:cNvSpPr>
            <a:spLocks noGrp="1"/>
          </p:cNvSpPr>
          <p:nvPr>
            <p:ph type="body" orient="vert" idx="1"/>
          </p:nvPr>
        </p:nvSpPr>
        <p:spPr>
          <a:xfrm>
            <a:off x="838200" y="365125"/>
            <a:ext cx="7734300" cy="5811838"/>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p:cNvSpPr>
            <a:spLocks noGrp="1"/>
          </p:cNvSpPr>
          <p:nvPr>
            <p:ph type="dt" sz="half" idx="10"/>
          </p:nvPr>
        </p:nvSpPr>
        <p:spPr/>
        <p:txBody>
          <a:bodyPr/>
          <a:lstStyle/>
          <a:p>
            <a:fld id="{E956585F-79E6-4EEA-9F46-3F42785F0E40}" type="datetimeFigureOut">
              <a:rPr lang="es-CO" smtClean="0"/>
              <a:t>12/02/2025</a:t>
            </a:fld>
            <a:endParaRPr lang="es-CO"/>
          </a:p>
        </p:txBody>
      </p:sp>
      <p:sp>
        <p:nvSpPr>
          <p:cNvPr id="5" name="Marcador de pie de página 4"/>
          <p:cNvSpPr>
            <a:spLocks noGrp="1"/>
          </p:cNvSpPr>
          <p:nvPr>
            <p:ph type="ftr" sz="quarter" idx="11"/>
          </p:nvPr>
        </p:nvSpPr>
        <p:spPr/>
        <p:txBody>
          <a:bodyPr/>
          <a:lstStyle/>
          <a:p>
            <a:endParaRPr lang="es-CO"/>
          </a:p>
        </p:txBody>
      </p:sp>
      <p:sp>
        <p:nvSpPr>
          <p:cNvPr id="6" name="Marcador de número de diapositiva 5"/>
          <p:cNvSpPr>
            <a:spLocks noGrp="1"/>
          </p:cNvSpPr>
          <p:nvPr>
            <p:ph type="sldNum" sz="quarter" idx="12"/>
          </p:nvPr>
        </p:nvSpPr>
        <p:spPr/>
        <p:txBody>
          <a:bodyPr/>
          <a:lstStyle/>
          <a:p>
            <a:fld id="{4DEFADC1-F790-4C65-A43A-9946135326C8}" type="slidenum">
              <a:rPr lang="es-CO" smtClean="0"/>
              <a:t>‹Nº›</a:t>
            </a:fld>
            <a:endParaRPr lang="es-CO"/>
          </a:p>
        </p:txBody>
      </p:sp>
    </p:spTree>
    <p:extLst>
      <p:ext uri="{BB962C8B-B14F-4D97-AF65-F5344CB8AC3E}">
        <p14:creationId xmlns:p14="http://schemas.microsoft.com/office/powerpoint/2010/main" val="30468869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56585F-79E6-4EEA-9F46-3F42785F0E40}" type="datetimeFigureOut">
              <a:rPr lang="es-CO" smtClean="0"/>
              <a:t>12/02/2025</a:t>
            </a:fld>
            <a:endParaRPr lang="es-CO"/>
          </a:p>
        </p:txBody>
      </p:sp>
      <p:sp>
        <p:nvSpPr>
          <p:cNvPr id="5" name="Marcador de pie de página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EFADC1-F790-4C65-A43A-9946135326C8}" type="slidenum">
              <a:rPr lang="es-CO" smtClean="0"/>
              <a:t>‹Nº›</a:t>
            </a:fld>
            <a:endParaRPr lang="es-CO"/>
          </a:p>
        </p:txBody>
      </p:sp>
    </p:spTree>
    <p:extLst>
      <p:ext uri="{BB962C8B-B14F-4D97-AF65-F5344CB8AC3E}">
        <p14:creationId xmlns:p14="http://schemas.microsoft.com/office/powerpoint/2010/main" val="27980088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hyperlink" Target="https://www.security.org/how-secure-is-my-password/" TargetMode="Externa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ctrTitle"/>
          </p:nvPr>
        </p:nvSpPr>
        <p:spPr>
          <a:xfrm>
            <a:off x="1523999" y="1122363"/>
            <a:ext cx="9144001" cy="2387600"/>
          </a:xfrm>
        </p:spPr>
        <p:txBody>
          <a:bodyPr>
            <a:normAutofit/>
          </a:bodyPr>
          <a:lstStyle/>
          <a:p>
            <a:pPr>
              <a:lnSpc>
                <a:spcPts val="3005"/>
              </a:lnSpc>
              <a:spcBef>
                <a:spcPts val="150"/>
              </a:spcBef>
            </a:pPr>
            <a:r>
              <a:rPr lang="es-CO" sz="3600" spc="0" dirty="0">
                <a:latin typeface="Verdana"/>
                <a:cs typeface="Verdana"/>
              </a:rPr>
              <a:t>Luis Germán Toro Pareja</a:t>
            </a:r>
            <a:br>
              <a:rPr lang="es-CO" sz="3600" dirty="0">
                <a:latin typeface="Verdana"/>
                <a:cs typeface="Verdana"/>
              </a:rPr>
            </a:br>
            <a:r>
              <a:rPr lang="es-CO" sz="2400" spc="0" dirty="0">
                <a:latin typeface="Verdana"/>
                <a:cs typeface="Verdana"/>
              </a:rPr>
              <a:t>Ingeniero de Sistemas</a:t>
            </a:r>
            <a:br>
              <a:rPr lang="es-CO" sz="2400" spc="0" dirty="0">
                <a:latin typeface="Verdana"/>
                <a:cs typeface="Verdana"/>
              </a:rPr>
            </a:br>
            <a:r>
              <a:rPr lang="es-CO" sz="2400" dirty="0">
                <a:latin typeface="Verdana"/>
                <a:cs typeface="Verdana"/>
              </a:rPr>
              <a:t>Magister en Seguridad Informática</a:t>
            </a:r>
            <a:br>
              <a:rPr lang="es-CO" sz="2400" dirty="0">
                <a:latin typeface="Verdana"/>
                <a:cs typeface="Verdana"/>
              </a:rPr>
            </a:br>
            <a:r>
              <a:rPr lang="es-CO" sz="2400" spc="0" dirty="0">
                <a:latin typeface="Verdana"/>
                <a:cs typeface="Verdana"/>
              </a:rPr>
              <a:t>Universidad del</a:t>
            </a:r>
            <a:r>
              <a:rPr lang="es-CO" sz="2400" spc="-29" dirty="0">
                <a:latin typeface="Verdana"/>
                <a:cs typeface="Verdana"/>
              </a:rPr>
              <a:t> </a:t>
            </a:r>
            <a:r>
              <a:rPr lang="es-CO" sz="2400" spc="0" dirty="0">
                <a:latin typeface="Verdana"/>
                <a:cs typeface="Verdana"/>
              </a:rPr>
              <a:t>Valle</a:t>
            </a:r>
            <a:br>
              <a:rPr lang="es-CO" sz="2400" dirty="0">
                <a:latin typeface="Verdana"/>
                <a:cs typeface="Verdana"/>
              </a:rPr>
            </a:br>
            <a:r>
              <a:rPr lang="es-CO" sz="2400" dirty="0">
                <a:latin typeface="Verdana"/>
                <a:cs typeface="Verdana"/>
              </a:rPr>
              <a:t> 	</a:t>
            </a:r>
            <a:endParaRPr lang="es-CO" sz="2400" spc="0" dirty="0">
              <a:latin typeface="Verdana"/>
              <a:cs typeface="Verdana"/>
            </a:endParaRPr>
          </a:p>
        </p:txBody>
      </p:sp>
      <p:sp>
        <p:nvSpPr>
          <p:cNvPr id="3" name="Subtítulo 2"/>
          <p:cNvSpPr>
            <a:spLocks noGrp="1"/>
          </p:cNvSpPr>
          <p:nvPr>
            <p:ph type="subTitle" idx="1"/>
          </p:nvPr>
        </p:nvSpPr>
        <p:spPr>
          <a:xfrm>
            <a:off x="1523999" y="3602038"/>
            <a:ext cx="9144001" cy="1655762"/>
          </a:xfrm>
        </p:spPr>
        <p:txBody>
          <a:bodyPr/>
          <a:lstStyle/>
          <a:p>
            <a:pPr marL="12700">
              <a:lnSpc>
                <a:spcPts val="2590"/>
              </a:lnSpc>
              <a:spcBef>
                <a:spcPts val="129"/>
              </a:spcBef>
            </a:pPr>
            <a:r>
              <a:rPr lang="es-CO" b="1" u="sng" dirty="0">
                <a:latin typeface="Verdana"/>
                <a:cs typeface="Verdana"/>
              </a:rPr>
              <a:t>luis.german.toro@correounivalle.edu.co</a:t>
            </a:r>
            <a:endParaRPr lang="es-CO" u="sng" dirty="0">
              <a:latin typeface="Verdana"/>
              <a:cs typeface="Verdana"/>
            </a:endParaRPr>
          </a:p>
          <a:p>
            <a:endParaRPr lang="es-CO" u="sng" dirty="0"/>
          </a:p>
          <a:p>
            <a:pPr marL="1620755" marR="1634245">
              <a:lnSpc>
                <a:spcPts val="1760"/>
              </a:lnSpc>
              <a:spcBef>
                <a:spcPts val="88"/>
              </a:spcBef>
            </a:pPr>
            <a:r>
              <a:rPr lang="es-CO" sz="1600" b="1" u="sng" spc="4" dirty="0">
                <a:latin typeface="Verdana"/>
                <a:cs typeface="Verdana"/>
              </a:rPr>
              <a:t>U</a:t>
            </a:r>
            <a:r>
              <a:rPr lang="es-CO" sz="1600" b="1" u="sng" spc="0" dirty="0">
                <a:latin typeface="Verdana"/>
                <a:cs typeface="Verdana"/>
              </a:rPr>
              <a:t>ni</a:t>
            </a:r>
            <a:r>
              <a:rPr lang="es-CO" sz="1600" b="1" u="sng" spc="4" dirty="0">
                <a:latin typeface="Verdana"/>
                <a:cs typeface="Verdana"/>
              </a:rPr>
              <a:t>v</a:t>
            </a:r>
            <a:r>
              <a:rPr lang="es-CO" sz="1600" b="1" u="sng" spc="0" dirty="0">
                <a:latin typeface="Verdana"/>
                <a:cs typeface="Verdana"/>
              </a:rPr>
              <a:t>e</a:t>
            </a:r>
            <a:r>
              <a:rPr lang="es-CO" sz="1600" b="1" u="sng" spc="-4" dirty="0">
                <a:latin typeface="Verdana"/>
                <a:cs typeface="Verdana"/>
              </a:rPr>
              <a:t>rs</a:t>
            </a:r>
            <a:r>
              <a:rPr lang="es-CO" sz="1600" b="1" u="sng" spc="4" dirty="0">
                <a:latin typeface="Verdana"/>
                <a:cs typeface="Verdana"/>
              </a:rPr>
              <a:t>id</a:t>
            </a:r>
            <a:r>
              <a:rPr lang="es-CO" sz="1600" b="1" u="sng" spc="0" dirty="0">
                <a:latin typeface="Verdana"/>
                <a:cs typeface="Verdana"/>
              </a:rPr>
              <a:t>ad</a:t>
            </a:r>
            <a:r>
              <a:rPr lang="es-CO" sz="1600" b="1" u="sng" spc="9" dirty="0">
                <a:latin typeface="Verdana"/>
                <a:cs typeface="Verdana"/>
              </a:rPr>
              <a:t> </a:t>
            </a:r>
            <a:r>
              <a:rPr lang="es-CO" sz="1600" b="1" u="sng" spc="4" dirty="0">
                <a:latin typeface="Verdana"/>
                <a:cs typeface="Verdana"/>
              </a:rPr>
              <a:t>d</a:t>
            </a:r>
            <a:r>
              <a:rPr lang="es-CO" sz="1600" b="1" u="sng" spc="0" dirty="0">
                <a:latin typeface="Verdana"/>
                <a:cs typeface="Verdana"/>
              </a:rPr>
              <a:t>el</a:t>
            </a:r>
            <a:r>
              <a:rPr lang="es-CO" sz="1600" b="1" u="sng" spc="9" dirty="0">
                <a:latin typeface="Verdana"/>
                <a:cs typeface="Verdana"/>
              </a:rPr>
              <a:t> </a:t>
            </a:r>
            <a:r>
              <a:rPr lang="es-CO" sz="1600" b="1" u="sng" spc="4" dirty="0">
                <a:latin typeface="Verdana"/>
                <a:cs typeface="Verdana"/>
              </a:rPr>
              <a:t>Val</a:t>
            </a:r>
            <a:r>
              <a:rPr lang="es-CO" sz="1600" b="1" u="sng" spc="0" dirty="0">
                <a:latin typeface="Verdana"/>
                <a:cs typeface="Verdana"/>
              </a:rPr>
              <a:t>le</a:t>
            </a:r>
            <a:endParaRPr lang="es-CO" sz="1600" u="sng" dirty="0">
              <a:latin typeface="Verdana"/>
              <a:cs typeface="Verdana"/>
            </a:endParaRPr>
          </a:p>
          <a:p>
            <a:pPr>
              <a:lnSpc>
                <a:spcPct val="101277"/>
              </a:lnSpc>
              <a:spcBef>
                <a:spcPts val="282"/>
              </a:spcBef>
            </a:pPr>
            <a:r>
              <a:rPr lang="es-CO" sz="1600" b="1" u="sng" spc="0" dirty="0">
                <a:latin typeface="Verdana"/>
                <a:cs typeface="Verdana"/>
              </a:rPr>
              <a:t>Es</a:t>
            </a:r>
            <a:r>
              <a:rPr lang="es-CO" sz="1600" b="1" u="sng" spc="-9" dirty="0">
                <a:latin typeface="Verdana"/>
                <a:cs typeface="Verdana"/>
              </a:rPr>
              <a:t>c</a:t>
            </a:r>
            <a:r>
              <a:rPr lang="es-CO" sz="1600" b="1" u="sng" spc="0" dirty="0">
                <a:latin typeface="Verdana"/>
                <a:cs typeface="Verdana"/>
              </a:rPr>
              <a:t>uela de Ingeniería de Sist</a:t>
            </a:r>
            <a:r>
              <a:rPr lang="es-CO" sz="1600" b="1" u="sng" spc="-9" dirty="0">
                <a:latin typeface="Verdana"/>
                <a:cs typeface="Verdana"/>
              </a:rPr>
              <a:t>e</a:t>
            </a:r>
            <a:r>
              <a:rPr lang="es-CO" sz="1600" b="1" u="sng" spc="-4" dirty="0">
                <a:latin typeface="Verdana"/>
                <a:cs typeface="Verdana"/>
              </a:rPr>
              <a:t>m</a:t>
            </a:r>
            <a:r>
              <a:rPr lang="es-CO" sz="1600" b="1" u="sng" spc="0" dirty="0">
                <a:latin typeface="Verdana"/>
                <a:cs typeface="Verdana"/>
              </a:rPr>
              <a:t>as y Comp</a:t>
            </a:r>
            <a:r>
              <a:rPr lang="es-CO" sz="1600" b="1" u="sng" spc="-4" dirty="0">
                <a:latin typeface="Verdana"/>
                <a:cs typeface="Verdana"/>
              </a:rPr>
              <a:t>ut</a:t>
            </a:r>
            <a:r>
              <a:rPr lang="es-CO" sz="1600" b="1" u="sng" spc="0" dirty="0">
                <a:latin typeface="Verdana"/>
                <a:cs typeface="Verdana"/>
              </a:rPr>
              <a:t>ación</a:t>
            </a:r>
            <a:endParaRPr lang="es-CO" sz="1600" u="sng" dirty="0">
              <a:latin typeface="Verdana"/>
              <a:cs typeface="Verdana"/>
            </a:endParaRPr>
          </a:p>
          <a:p>
            <a:endParaRPr lang="es-CO" u="sng" dirty="0"/>
          </a:p>
        </p:txBody>
      </p:sp>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DOCENTE</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7" name="object 11">
            <a:extLst>
              <a:ext uri="{FF2B5EF4-FFF2-40B4-BE49-F238E27FC236}">
                <a16:creationId xmlns:a16="http://schemas.microsoft.com/office/drawing/2014/main" id="{E5A38F5F-0D28-7A54-6861-BA5F4DC06985}"/>
              </a:ext>
            </a:extLst>
          </p:cNvPr>
          <p:cNvSpPr/>
          <p:nvPr/>
        </p:nvSpPr>
        <p:spPr>
          <a:xfrm flipV="1">
            <a:off x="1524000" y="6020971"/>
            <a:ext cx="9144000" cy="92619"/>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Tree>
    <p:extLst>
      <p:ext uri="{BB962C8B-B14F-4D97-AF65-F5344CB8AC3E}">
        <p14:creationId xmlns:p14="http://schemas.microsoft.com/office/powerpoint/2010/main" val="35249944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ctrTitle"/>
          </p:nvPr>
        </p:nvSpPr>
        <p:spPr>
          <a:xfrm>
            <a:off x="1523999" y="1122363"/>
            <a:ext cx="9247601" cy="2387600"/>
          </a:xfrm>
        </p:spPr>
        <p:txBody>
          <a:bodyPr>
            <a:normAutofit/>
          </a:bodyPr>
          <a:lstStyle/>
          <a:p>
            <a:r>
              <a:rPr lang="es-CO" sz="2400" b="1" dirty="0">
                <a:latin typeface="Verdana" panose="020B0604030504040204" pitchFamily="34" charset="0"/>
                <a:ea typeface="Verdana" panose="020B0604030504040204" pitchFamily="34" charset="0"/>
                <a:cs typeface="Verdana" panose="020B0604030504040204" pitchFamily="34" charset="0"/>
              </a:rPr>
              <a:t>Clase No. 1</a:t>
            </a:r>
          </a:p>
        </p:txBody>
      </p:sp>
      <p:sp>
        <p:nvSpPr>
          <p:cNvPr id="3" name="Subtítulo 2"/>
          <p:cNvSpPr>
            <a:spLocks noGrp="1"/>
          </p:cNvSpPr>
          <p:nvPr>
            <p:ph type="subTitle" idx="1"/>
          </p:nvPr>
        </p:nvSpPr>
        <p:spPr/>
        <p:txBody>
          <a:bodyPr/>
          <a:lstStyle/>
          <a:p>
            <a:r>
              <a:rPr lang="es-CO" b="1" dirty="0">
                <a:latin typeface="Verdana" panose="020B0604030504040204" pitchFamily="34" charset="0"/>
                <a:ea typeface="Verdana" panose="020B0604030504040204" pitchFamily="34" charset="0"/>
                <a:cs typeface="Verdana" panose="020B0604030504040204" pitchFamily="34" charset="0"/>
              </a:rPr>
              <a:t>INTRODUCCIÓN A LA COMBINATORIA</a:t>
            </a:r>
          </a:p>
          <a:p>
            <a:endParaRPr lang="es-CO" dirty="0"/>
          </a:p>
          <a:p>
            <a:pPr marL="1620755" marR="1634245">
              <a:lnSpc>
                <a:spcPts val="1760"/>
              </a:lnSpc>
              <a:spcBef>
                <a:spcPts val="88"/>
              </a:spcBef>
            </a:pPr>
            <a:r>
              <a:rPr lang="es-CO" sz="1600" b="1" spc="4" dirty="0">
                <a:latin typeface="Verdana"/>
                <a:cs typeface="Verdana"/>
              </a:rPr>
              <a:t>U</a:t>
            </a:r>
            <a:r>
              <a:rPr lang="es-CO" sz="1600" b="1" spc="0" dirty="0">
                <a:latin typeface="Verdana"/>
                <a:cs typeface="Verdana"/>
              </a:rPr>
              <a:t>ni</a:t>
            </a:r>
            <a:r>
              <a:rPr lang="es-CO" sz="1600" b="1" spc="4" dirty="0">
                <a:latin typeface="Verdana"/>
                <a:cs typeface="Verdana"/>
              </a:rPr>
              <a:t>v</a:t>
            </a:r>
            <a:r>
              <a:rPr lang="es-CO" sz="1600" b="1" spc="0" dirty="0">
                <a:latin typeface="Verdana"/>
                <a:cs typeface="Verdana"/>
              </a:rPr>
              <a:t>e</a:t>
            </a:r>
            <a:r>
              <a:rPr lang="es-CO" sz="1600" b="1" spc="-4" dirty="0">
                <a:latin typeface="Verdana"/>
                <a:cs typeface="Verdana"/>
              </a:rPr>
              <a:t>rs</a:t>
            </a:r>
            <a:r>
              <a:rPr lang="es-CO" sz="1600" b="1" spc="4" dirty="0">
                <a:latin typeface="Verdana"/>
                <a:cs typeface="Verdana"/>
              </a:rPr>
              <a:t>id</a:t>
            </a:r>
            <a:r>
              <a:rPr lang="es-CO" sz="1600" b="1" spc="0" dirty="0">
                <a:latin typeface="Verdana"/>
                <a:cs typeface="Verdana"/>
              </a:rPr>
              <a:t>ad</a:t>
            </a:r>
            <a:r>
              <a:rPr lang="es-CO" sz="1600" b="1" spc="9" dirty="0">
                <a:latin typeface="Verdana"/>
                <a:cs typeface="Verdana"/>
              </a:rPr>
              <a:t> </a:t>
            </a:r>
            <a:r>
              <a:rPr lang="es-CO" sz="1600" b="1" spc="4" dirty="0">
                <a:latin typeface="Verdana"/>
                <a:cs typeface="Verdana"/>
              </a:rPr>
              <a:t>d</a:t>
            </a:r>
            <a:r>
              <a:rPr lang="es-CO" sz="1600" b="1" spc="0" dirty="0">
                <a:latin typeface="Verdana"/>
                <a:cs typeface="Verdana"/>
              </a:rPr>
              <a:t>el</a:t>
            </a:r>
            <a:r>
              <a:rPr lang="es-CO" sz="1600" b="1" spc="9" dirty="0">
                <a:latin typeface="Verdana"/>
                <a:cs typeface="Verdana"/>
              </a:rPr>
              <a:t> </a:t>
            </a:r>
            <a:r>
              <a:rPr lang="es-CO" sz="1600" b="1" spc="4" dirty="0">
                <a:latin typeface="Verdana"/>
                <a:cs typeface="Verdana"/>
              </a:rPr>
              <a:t>Val</a:t>
            </a:r>
            <a:r>
              <a:rPr lang="es-CO" sz="1600" b="1" spc="0" dirty="0">
                <a:latin typeface="Verdana"/>
                <a:cs typeface="Verdana"/>
              </a:rPr>
              <a:t>le</a:t>
            </a:r>
            <a:endParaRPr lang="es-CO" sz="1600" dirty="0">
              <a:latin typeface="Verdana"/>
              <a:cs typeface="Verdana"/>
            </a:endParaRPr>
          </a:p>
          <a:p>
            <a:pPr>
              <a:lnSpc>
                <a:spcPct val="101277"/>
              </a:lnSpc>
              <a:spcBef>
                <a:spcPts val="282"/>
              </a:spcBef>
            </a:pPr>
            <a:r>
              <a:rPr lang="es-CO" sz="1600" b="1" spc="0" dirty="0">
                <a:latin typeface="Verdana"/>
                <a:cs typeface="Verdana"/>
              </a:rPr>
              <a:t>Es</a:t>
            </a:r>
            <a:r>
              <a:rPr lang="es-CO" sz="1600" b="1" spc="-9" dirty="0">
                <a:latin typeface="Verdana"/>
                <a:cs typeface="Verdana"/>
              </a:rPr>
              <a:t>c</a:t>
            </a:r>
            <a:r>
              <a:rPr lang="es-CO" sz="1600" b="1" spc="0" dirty="0">
                <a:latin typeface="Verdana"/>
                <a:cs typeface="Verdana"/>
              </a:rPr>
              <a:t>uela de Ingeniería de Sist</a:t>
            </a:r>
            <a:r>
              <a:rPr lang="es-CO" sz="1600" b="1" spc="-9" dirty="0">
                <a:latin typeface="Verdana"/>
                <a:cs typeface="Verdana"/>
              </a:rPr>
              <a:t>e</a:t>
            </a:r>
            <a:r>
              <a:rPr lang="es-CO" sz="1600" b="1" spc="-4" dirty="0">
                <a:latin typeface="Verdana"/>
                <a:cs typeface="Verdana"/>
              </a:rPr>
              <a:t>m</a:t>
            </a:r>
            <a:r>
              <a:rPr lang="es-CO" sz="1600" b="1" spc="0" dirty="0">
                <a:latin typeface="Verdana"/>
                <a:cs typeface="Verdana"/>
              </a:rPr>
              <a:t>as y Comp</a:t>
            </a:r>
            <a:r>
              <a:rPr lang="es-CO" sz="1600" b="1" spc="-4" dirty="0">
                <a:latin typeface="Verdana"/>
                <a:cs typeface="Verdana"/>
              </a:rPr>
              <a:t>ut</a:t>
            </a:r>
            <a:r>
              <a:rPr lang="es-CO" sz="1600" b="1" spc="0" dirty="0">
                <a:latin typeface="Verdana"/>
                <a:cs typeface="Verdana"/>
              </a:rPr>
              <a:t>ación</a:t>
            </a:r>
            <a:endParaRPr lang="es-CO" sz="1600" dirty="0">
              <a:latin typeface="Verdana"/>
              <a:cs typeface="Verdana"/>
            </a:endParaRPr>
          </a:p>
          <a:p>
            <a:endParaRPr lang="es-CO" dirty="0"/>
          </a:p>
        </p:txBody>
      </p:sp>
      <p:sp>
        <p:nvSpPr>
          <p:cNvPr id="4" name="object 9"/>
          <p:cNvSpPr/>
          <p:nvPr/>
        </p:nvSpPr>
        <p:spPr>
          <a:xfrm>
            <a:off x="1523999" y="473138"/>
            <a:ext cx="9247601" cy="772565"/>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800" b="1" dirty="0">
                <a:solidFill>
                  <a:schemeClr val="bg1"/>
                </a:solidFill>
                <a:latin typeface="Verdana" panose="020B0604030504040204" pitchFamily="34" charset="0"/>
                <a:ea typeface="Verdana" panose="020B0604030504040204" pitchFamily="34" charset="0"/>
                <a:cs typeface="Verdana" panose="020B0604030504040204" pitchFamily="34" charset="0"/>
              </a:rPr>
              <a:t>MATEMÁTICAS DISCRETAS II</a:t>
            </a:r>
            <a:endParaRPr sz="28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7" name="object 11">
            <a:extLst>
              <a:ext uri="{FF2B5EF4-FFF2-40B4-BE49-F238E27FC236}">
                <a16:creationId xmlns:a16="http://schemas.microsoft.com/office/drawing/2014/main" id="{71792BF6-671C-3803-7EE8-47BDEC847CB8}"/>
              </a:ext>
            </a:extLst>
          </p:cNvPr>
          <p:cNvSpPr/>
          <p:nvPr/>
        </p:nvSpPr>
        <p:spPr>
          <a:xfrm>
            <a:off x="1524000" y="6113590"/>
            <a:ext cx="9144000" cy="45719"/>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Tree>
    <p:extLst>
      <p:ext uri="{BB962C8B-B14F-4D97-AF65-F5344CB8AC3E}">
        <p14:creationId xmlns:p14="http://schemas.microsoft.com/office/powerpoint/2010/main" val="26751598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MX" sz="2400" b="1" dirty="0">
                <a:solidFill>
                  <a:schemeClr val="bg1"/>
                </a:solidFill>
                <a:latin typeface="Verdana" panose="020B0604030504040204" pitchFamily="34" charset="0"/>
                <a:ea typeface="Verdana" panose="020B0604030504040204" pitchFamily="34" charset="0"/>
                <a:cs typeface="Verdana" panose="020B0604030504040204" pitchFamily="34" charset="0"/>
              </a:rPr>
              <a:t>CONTENIDO</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5" name="Título 4">
            <a:extLst>
              <a:ext uri="{FF2B5EF4-FFF2-40B4-BE49-F238E27FC236}">
                <a16:creationId xmlns:a16="http://schemas.microsoft.com/office/drawing/2014/main" id="{CAF3C55F-E543-2B66-452B-76A88C015EB2}"/>
              </a:ext>
            </a:extLst>
          </p:cNvPr>
          <p:cNvSpPr>
            <a:spLocks noGrp="1"/>
          </p:cNvSpPr>
          <p:nvPr>
            <p:ph type="title"/>
          </p:nvPr>
        </p:nvSpPr>
        <p:spPr/>
        <p:txBody>
          <a:bodyPr/>
          <a:lstStyle/>
          <a:p>
            <a:endParaRPr lang="es-CO"/>
          </a:p>
        </p:txBody>
      </p:sp>
      <p:sp>
        <p:nvSpPr>
          <p:cNvPr id="7" name="Marcador de contenido 6">
            <a:extLst>
              <a:ext uri="{FF2B5EF4-FFF2-40B4-BE49-F238E27FC236}">
                <a16:creationId xmlns:a16="http://schemas.microsoft.com/office/drawing/2014/main" id="{99DDB6B1-0D31-69E8-7708-D64A9E3BADC7}"/>
              </a:ext>
            </a:extLst>
          </p:cNvPr>
          <p:cNvSpPr>
            <a:spLocks noGrp="1"/>
          </p:cNvSpPr>
          <p:nvPr>
            <p:ph idx="1"/>
          </p:nvPr>
        </p:nvSpPr>
        <p:spPr/>
        <p:txBody>
          <a:bodyPr/>
          <a:lstStyle/>
          <a:p>
            <a:endParaRPr lang="es-MX" dirty="0"/>
          </a:p>
          <a:p>
            <a:r>
              <a:rPr lang="es-MX" dirty="0"/>
              <a:t>Introducción </a:t>
            </a:r>
          </a:p>
          <a:p>
            <a:r>
              <a:rPr lang="es-MX" dirty="0"/>
              <a:t>Regla de la suma</a:t>
            </a:r>
          </a:p>
          <a:p>
            <a:r>
              <a:rPr lang="es-MX" dirty="0"/>
              <a:t>Regla del producto</a:t>
            </a:r>
          </a:p>
          <a:p>
            <a:r>
              <a:rPr lang="es-MX" dirty="0"/>
              <a:t>Problemas de recuento  más complicados </a:t>
            </a:r>
          </a:p>
          <a:p>
            <a:r>
              <a:rPr lang="es-MX" dirty="0"/>
              <a:t>El principio de inclusión-exclusión</a:t>
            </a:r>
          </a:p>
          <a:p>
            <a:r>
              <a:rPr lang="es-MX" dirty="0"/>
              <a:t>Diagrama en Árbol</a:t>
            </a:r>
          </a:p>
          <a:p>
            <a:r>
              <a:rPr lang="es-MX" dirty="0"/>
              <a:t>Ejemplos </a:t>
            </a:r>
            <a:endParaRPr lang="es-CO" dirty="0"/>
          </a:p>
        </p:txBody>
      </p:sp>
    </p:spTree>
    <p:extLst>
      <p:ext uri="{BB962C8B-B14F-4D97-AF65-F5344CB8AC3E}">
        <p14:creationId xmlns:p14="http://schemas.microsoft.com/office/powerpoint/2010/main" val="5476490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wipe(down)">
                                      <p:cBhvr>
                                        <p:cTn id="7" dur="500"/>
                                        <p:tgtEl>
                                          <p:spTgt spid="7">
                                            <p:txEl>
                                              <p:pRg st="1" end="1"/>
                                            </p:txEl>
                                          </p:spTgt>
                                        </p:tgtEl>
                                      </p:cBhvr>
                                    </p:animEffect>
                                  </p:childTnLst>
                                </p:cTn>
                              </p:par>
                              <p:par>
                                <p:cTn id="8" presetID="22" presetClass="entr" presetSubtype="4" fill="hold" nodeType="withEffect">
                                  <p:stCondLst>
                                    <p:cond delay="0"/>
                                  </p:stCondLst>
                                  <p:childTnLst>
                                    <p:set>
                                      <p:cBhvr>
                                        <p:cTn id="9" dur="1" fill="hold">
                                          <p:stCondLst>
                                            <p:cond delay="0"/>
                                          </p:stCondLst>
                                        </p:cTn>
                                        <p:tgtEl>
                                          <p:spTgt spid="7">
                                            <p:txEl>
                                              <p:pRg st="2" end="2"/>
                                            </p:txEl>
                                          </p:spTgt>
                                        </p:tgtEl>
                                        <p:attrNameLst>
                                          <p:attrName>style.visibility</p:attrName>
                                        </p:attrNameLst>
                                      </p:cBhvr>
                                      <p:to>
                                        <p:strVal val="visible"/>
                                      </p:to>
                                    </p:set>
                                    <p:animEffect transition="in" filter="wipe(down)">
                                      <p:cBhvr>
                                        <p:cTn id="10" dur="500"/>
                                        <p:tgtEl>
                                          <p:spTgt spid="7">
                                            <p:txEl>
                                              <p:pRg st="2" end="2"/>
                                            </p:txEl>
                                          </p:spTgt>
                                        </p:tgtEl>
                                      </p:cBhvr>
                                    </p:animEffect>
                                  </p:childTnLst>
                                </p:cTn>
                              </p:par>
                              <p:par>
                                <p:cTn id="11" presetID="22" presetClass="entr" presetSubtype="4" fill="hold"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animEffect transition="in" filter="wipe(down)">
                                      <p:cBhvr>
                                        <p:cTn id="13" dur="500"/>
                                        <p:tgtEl>
                                          <p:spTgt spid="7">
                                            <p:txEl>
                                              <p:pRg st="3" end="3"/>
                                            </p:txEl>
                                          </p:spTgt>
                                        </p:tgtEl>
                                      </p:cBhvr>
                                    </p:animEffect>
                                  </p:childTnLst>
                                </p:cTn>
                              </p:par>
                              <p:par>
                                <p:cTn id="14" presetID="22" presetClass="entr" presetSubtype="4" fill="hold" nodeType="withEffect">
                                  <p:stCondLst>
                                    <p:cond delay="0"/>
                                  </p:stCondLst>
                                  <p:childTnLst>
                                    <p:set>
                                      <p:cBhvr>
                                        <p:cTn id="15" dur="1" fill="hold">
                                          <p:stCondLst>
                                            <p:cond delay="0"/>
                                          </p:stCondLst>
                                        </p:cTn>
                                        <p:tgtEl>
                                          <p:spTgt spid="7">
                                            <p:txEl>
                                              <p:pRg st="4" end="4"/>
                                            </p:txEl>
                                          </p:spTgt>
                                        </p:tgtEl>
                                        <p:attrNameLst>
                                          <p:attrName>style.visibility</p:attrName>
                                        </p:attrNameLst>
                                      </p:cBhvr>
                                      <p:to>
                                        <p:strVal val="visible"/>
                                      </p:to>
                                    </p:set>
                                    <p:animEffect transition="in" filter="wipe(down)">
                                      <p:cBhvr>
                                        <p:cTn id="16" dur="500"/>
                                        <p:tgtEl>
                                          <p:spTgt spid="7">
                                            <p:txEl>
                                              <p:pRg st="4" end="4"/>
                                            </p:txEl>
                                          </p:spTgt>
                                        </p:tgtEl>
                                      </p:cBhvr>
                                    </p:animEffect>
                                  </p:childTnLst>
                                </p:cTn>
                              </p:par>
                              <p:par>
                                <p:cTn id="17" presetID="22" presetClass="entr" presetSubtype="4" fill="hold" nodeType="with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animEffect transition="in" filter="wipe(down)">
                                      <p:cBhvr>
                                        <p:cTn id="19" dur="500"/>
                                        <p:tgtEl>
                                          <p:spTgt spid="7">
                                            <p:txEl>
                                              <p:pRg st="5" end="5"/>
                                            </p:txEl>
                                          </p:spTgt>
                                        </p:tgtEl>
                                      </p:cBhvr>
                                    </p:animEffect>
                                  </p:childTnLst>
                                </p:cTn>
                              </p:par>
                              <p:par>
                                <p:cTn id="20" presetID="22" presetClass="entr" presetSubtype="4" fill="hold" nodeType="withEffect">
                                  <p:stCondLst>
                                    <p:cond delay="0"/>
                                  </p:stCondLst>
                                  <p:childTnLst>
                                    <p:set>
                                      <p:cBhvr>
                                        <p:cTn id="21" dur="1" fill="hold">
                                          <p:stCondLst>
                                            <p:cond delay="0"/>
                                          </p:stCondLst>
                                        </p:cTn>
                                        <p:tgtEl>
                                          <p:spTgt spid="7">
                                            <p:txEl>
                                              <p:pRg st="6" end="6"/>
                                            </p:txEl>
                                          </p:spTgt>
                                        </p:tgtEl>
                                        <p:attrNameLst>
                                          <p:attrName>style.visibility</p:attrName>
                                        </p:attrNameLst>
                                      </p:cBhvr>
                                      <p:to>
                                        <p:strVal val="visible"/>
                                      </p:to>
                                    </p:set>
                                    <p:animEffect transition="in" filter="wipe(down)">
                                      <p:cBhvr>
                                        <p:cTn id="22" dur="500"/>
                                        <p:tgtEl>
                                          <p:spTgt spid="7">
                                            <p:txEl>
                                              <p:pRg st="6" end="6"/>
                                            </p:txEl>
                                          </p:spTgt>
                                        </p:tgtEl>
                                      </p:cBhvr>
                                    </p:animEffect>
                                  </p:childTnLst>
                                </p:cTn>
                              </p:par>
                              <p:par>
                                <p:cTn id="23" presetID="22" presetClass="entr" presetSubtype="4" fill="hold" nodeType="withEffect">
                                  <p:stCondLst>
                                    <p:cond delay="0"/>
                                  </p:stCondLst>
                                  <p:childTnLst>
                                    <p:set>
                                      <p:cBhvr>
                                        <p:cTn id="24" dur="1" fill="hold">
                                          <p:stCondLst>
                                            <p:cond delay="0"/>
                                          </p:stCondLst>
                                        </p:cTn>
                                        <p:tgtEl>
                                          <p:spTgt spid="7">
                                            <p:txEl>
                                              <p:pRg st="7" end="7"/>
                                            </p:txEl>
                                          </p:spTgt>
                                        </p:tgtEl>
                                        <p:attrNameLst>
                                          <p:attrName>style.visibility</p:attrName>
                                        </p:attrNameLst>
                                      </p:cBhvr>
                                      <p:to>
                                        <p:strVal val="visible"/>
                                      </p:to>
                                    </p:set>
                                    <p:animEffect transition="in" filter="wipe(down)">
                                      <p:cBhvr>
                                        <p:cTn id="25" dur="500"/>
                                        <p:tgtEl>
                                          <p:spTgt spid="7">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MX" sz="2400" b="1" dirty="0">
                <a:solidFill>
                  <a:schemeClr val="bg1"/>
                </a:solidFill>
                <a:latin typeface="Verdana" panose="020B0604030504040204" pitchFamily="34" charset="0"/>
                <a:ea typeface="Verdana" panose="020B0604030504040204" pitchFamily="34" charset="0"/>
                <a:cs typeface="Verdana" panose="020B0604030504040204" pitchFamily="34" charset="0"/>
              </a:rPr>
              <a:t>COMBINATORIA</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2" name="CuadroTexto 1">
            <a:extLst>
              <a:ext uri="{FF2B5EF4-FFF2-40B4-BE49-F238E27FC236}">
                <a16:creationId xmlns:a16="http://schemas.microsoft.com/office/drawing/2014/main" id="{4233ED77-700B-3070-AB13-45C8EA6C7C3A}"/>
              </a:ext>
            </a:extLst>
          </p:cNvPr>
          <p:cNvSpPr txBox="1"/>
          <p:nvPr/>
        </p:nvSpPr>
        <p:spPr>
          <a:xfrm>
            <a:off x="1524001" y="1443841"/>
            <a:ext cx="9143999" cy="3970318"/>
          </a:xfrm>
          <a:prstGeom prst="rect">
            <a:avLst/>
          </a:prstGeom>
          <a:noFill/>
        </p:spPr>
        <p:txBody>
          <a:bodyPr wrap="square" rtlCol="0">
            <a:spAutoFit/>
          </a:bodyPr>
          <a:lstStyle/>
          <a:p>
            <a:pPr algn="just"/>
            <a:r>
              <a:rPr lang="es-ES" dirty="0">
                <a:latin typeface="Verdana" panose="020B0604030504040204" pitchFamily="34" charset="0"/>
                <a:ea typeface="Verdana" panose="020B0604030504040204" pitchFamily="34" charset="0"/>
                <a:cs typeface="Verdana" panose="020B0604030504040204" pitchFamily="34" charset="0"/>
              </a:rPr>
              <a:t>La Combinatoria es el estudio de las posibles distribuciones y del recuento de objetos. Inicialmente, se presentan los principios básicos de recuento, es decir el conteo del número de elementos de un conjunto (del producto, de la unión, de inclusión-exclusión).</a:t>
            </a:r>
          </a:p>
          <a:p>
            <a:pPr algn="just"/>
            <a:endParaRPr lang="es-ES" dirty="0">
              <a:latin typeface="Verdana" panose="020B0604030504040204" pitchFamily="34" charset="0"/>
              <a:ea typeface="Verdana" panose="020B0604030504040204" pitchFamily="34" charset="0"/>
              <a:cs typeface="Verdana" panose="020B0604030504040204" pitchFamily="34" charset="0"/>
            </a:endParaRPr>
          </a:p>
          <a:p>
            <a:pPr algn="just"/>
            <a:r>
              <a:rPr lang="es-ES" dirty="0">
                <a:latin typeface="Verdana" panose="020B0604030504040204" pitchFamily="34" charset="0"/>
                <a:ea typeface="Verdana" panose="020B0604030504040204" pitchFamily="34" charset="0"/>
                <a:cs typeface="Verdana" panose="020B0604030504040204" pitchFamily="34" charset="0"/>
              </a:rPr>
              <a:t>Después, se muestran las diferentes maneras de seleccionar objetos en un conjunto: permutaciones y combinaciones, con o sin repetición.</a:t>
            </a:r>
          </a:p>
          <a:p>
            <a:pPr algn="just"/>
            <a:endParaRPr lang="es-ES" dirty="0">
              <a:latin typeface="Verdana" panose="020B0604030504040204" pitchFamily="34" charset="0"/>
              <a:ea typeface="Verdana" panose="020B0604030504040204" pitchFamily="34" charset="0"/>
              <a:cs typeface="Verdana" panose="020B0604030504040204" pitchFamily="34" charset="0"/>
            </a:endParaRPr>
          </a:p>
          <a:p>
            <a:pPr algn="just"/>
            <a:r>
              <a:rPr lang="es-ES" dirty="0">
                <a:latin typeface="Verdana" panose="020B0604030504040204" pitchFamily="34" charset="0"/>
                <a:ea typeface="Verdana" panose="020B0604030504040204" pitchFamily="34" charset="0"/>
                <a:cs typeface="Verdana" panose="020B0604030504040204" pitchFamily="34" charset="0"/>
              </a:rPr>
              <a:t>Los requerimientos para tener en cuenta en los principios básicos de conteo son:</a:t>
            </a:r>
          </a:p>
          <a:p>
            <a:pPr algn="just"/>
            <a:endParaRPr lang="es-ES" dirty="0">
              <a:latin typeface="Verdana" panose="020B0604030504040204" pitchFamily="34" charset="0"/>
              <a:ea typeface="Verdana" panose="020B0604030504040204" pitchFamily="34" charset="0"/>
              <a:cs typeface="Verdana" panose="020B0604030504040204" pitchFamily="34" charset="0"/>
            </a:endParaRPr>
          </a:p>
          <a:p>
            <a:pPr marL="285750" indent="-285750" algn="just">
              <a:buFont typeface="Arial" panose="020B0604020202020204" pitchFamily="34" charset="0"/>
              <a:buChar char="•"/>
            </a:pPr>
            <a:r>
              <a:rPr lang="es-ES" dirty="0">
                <a:latin typeface="Verdana" panose="020B0604030504040204" pitchFamily="34" charset="0"/>
                <a:ea typeface="Verdana" panose="020B0604030504040204" pitchFamily="34" charset="0"/>
                <a:cs typeface="Verdana" panose="020B0604030504040204" pitchFamily="34" charset="0"/>
              </a:rPr>
              <a:t>Analizar problemas.</a:t>
            </a:r>
          </a:p>
          <a:p>
            <a:pPr marL="285750" indent="-285750" algn="just">
              <a:buFont typeface="Arial" panose="020B0604020202020204" pitchFamily="34" charset="0"/>
              <a:buChar char="•"/>
            </a:pPr>
            <a:r>
              <a:rPr lang="es-ES" dirty="0">
                <a:latin typeface="Verdana" panose="020B0604030504040204" pitchFamily="34" charset="0"/>
                <a:ea typeface="Verdana" panose="020B0604030504040204" pitchFamily="34" charset="0"/>
                <a:cs typeface="Verdana" panose="020B0604030504040204" pitchFamily="34" charset="0"/>
              </a:rPr>
              <a:t>Aprender y comprender las fórmulas básicas.</a:t>
            </a:r>
            <a:endParaRPr lang="es-CO" dirty="0">
              <a:latin typeface="Verdana" panose="020B0604030504040204" pitchFamily="34" charset="0"/>
              <a:ea typeface="Verdana" panose="020B0604030504040204" pitchFamily="34" charset="0"/>
              <a:cs typeface="Verdana" panose="020B0604030504040204" pitchFamily="34" charset="0"/>
            </a:endParaRPr>
          </a:p>
          <a:p>
            <a:pPr algn="just"/>
            <a:endParaRPr lang="es-CO"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12538513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MX" sz="2400" b="1" dirty="0">
                <a:solidFill>
                  <a:schemeClr val="bg1"/>
                </a:solidFill>
                <a:latin typeface="Verdana" panose="020B0604030504040204" pitchFamily="34" charset="0"/>
                <a:ea typeface="Verdana" panose="020B0604030504040204" pitchFamily="34" charset="0"/>
                <a:cs typeface="Verdana" panose="020B0604030504040204" pitchFamily="34" charset="0"/>
              </a:rPr>
              <a:t>COMBINATORIA</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2" name="CuadroTexto 1">
            <a:extLst>
              <a:ext uri="{FF2B5EF4-FFF2-40B4-BE49-F238E27FC236}">
                <a16:creationId xmlns:a16="http://schemas.microsoft.com/office/drawing/2014/main" id="{4233ED77-700B-3070-AB13-45C8EA6C7C3A}"/>
              </a:ext>
            </a:extLst>
          </p:cNvPr>
          <p:cNvSpPr txBox="1"/>
          <p:nvPr/>
        </p:nvSpPr>
        <p:spPr>
          <a:xfrm>
            <a:off x="1524000" y="1973928"/>
            <a:ext cx="9143999" cy="2031325"/>
          </a:xfrm>
          <a:prstGeom prst="rect">
            <a:avLst/>
          </a:prstGeom>
          <a:noFill/>
        </p:spPr>
        <p:txBody>
          <a:bodyPr wrap="square" rtlCol="0">
            <a:spAutoFit/>
          </a:bodyPr>
          <a:lstStyle/>
          <a:p>
            <a:pPr marL="285750" indent="-285750" algn="just">
              <a:buFont typeface="Arial" panose="020B0604020202020204" pitchFamily="34" charset="0"/>
              <a:buChar char="•"/>
            </a:pPr>
            <a:r>
              <a:rPr lang="es-MX" sz="1800" kern="100" dirty="0">
                <a:effectLst/>
                <a:latin typeface="Verdana" panose="020B0604030504040204" pitchFamily="34" charset="0"/>
                <a:ea typeface="Verdana" panose="020B0604030504040204" pitchFamily="34" charset="0"/>
                <a:cs typeface="Times New Roman" panose="02020603050405020304" pitchFamily="18" charset="0"/>
              </a:rPr>
              <a:t>Esto nos ayuda a estudiar la complejidad de ciertos algoritmos y de algunos juegos</a:t>
            </a:r>
            <a:r>
              <a:rPr lang="es-MX" sz="1800" kern="100" dirty="0">
                <a:solidFill>
                  <a:srgbClr val="FF0000"/>
                </a:solidFill>
                <a:effectLst/>
                <a:latin typeface="Verdana" panose="020B0604030504040204" pitchFamily="34" charset="0"/>
                <a:ea typeface="Verdana" panose="020B0604030504040204" pitchFamily="34" charset="0"/>
                <a:cs typeface="Times New Roman" panose="02020603050405020304" pitchFamily="18" charset="0"/>
              </a:rPr>
              <a:t>.  ¿Cuál es la complejidad computacional de ordenar un arreglo de tamaña n probando todas las posibilidades (solución ingenua)? </a:t>
            </a:r>
            <a:r>
              <a:rPr lang="es-MX" sz="1800" kern="100" dirty="0">
                <a:solidFill>
                  <a:srgbClr val="000000"/>
                </a:solidFill>
                <a:effectLst/>
                <a:latin typeface="Verdana" panose="020B0604030504040204" pitchFamily="34" charset="0"/>
                <a:ea typeface="Verdana" panose="020B0604030504040204" pitchFamily="34" charset="0"/>
                <a:cs typeface="Times New Roman" panose="02020603050405020304" pitchFamily="18" charset="0"/>
              </a:rPr>
              <a:t>Pensar en ADA.</a:t>
            </a:r>
            <a:endParaRPr lang="es-CO" sz="1800" kern="100" dirty="0">
              <a:effectLst/>
              <a:latin typeface="Verdana" panose="020B0604030504040204" pitchFamily="34" charset="0"/>
              <a:ea typeface="Verdana" panose="020B0604030504040204" pitchFamily="34" charset="0"/>
              <a:cs typeface="Times New Roman" panose="02020603050405020304" pitchFamily="18" charset="0"/>
            </a:endParaRPr>
          </a:p>
          <a:p>
            <a:pPr marL="285750" indent="-285750" algn="just">
              <a:buFont typeface="Arial" panose="020B0604020202020204" pitchFamily="34" charset="0"/>
              <a:buChar char="•"/>
            </a:pPr>
            <a:endParaRPr lang="es-MX" kern="100" dirty="0">
              <a:latin typeface="Verdana" panose="020B0604030504040204" pitchFamily="34" charset="0"/>
              <a:ea typeface="Verdana" panose="020B0604030504040204" pitchFamily="34" charset="0"/>
              <a:cs typeface="Times New Roman" panose="02020603050405020304" pitchFamily="18" charset="0"/>
            </a:endParaRPr>
          </a:p>
          <a:p>
            <a:pPr marL="285750" indent="-285750" algn="just">
              <a:buFont typeface="Arial" panose="020B0604020202020204" pitchFamily="34" charset="0"/>
              <a:buChar char="•"/>
            </a:pPr>
            <a:r>
              <a:rPr lang="es-MX" sz="1800" kern="100" dirty="0">
                <a:effectLst/>
                <a:latin typeface="Verdana" panose="020B0604030504040204" pitchFamily="34" charset="0"/>
                <a:ea typeface="Verdana" panose="020B0604030504040204" pitchFamily="34" charset="0"/>
                <a:cs typeface="Times New Roman" panose="02020603050405020304" pitchFamily="18" charset="0"/>
              </a:rPr>
              <a:t>Esto ha adquirido importancia en estudios como la secuencia del </a:t>
            </a:r>
            <a:r>
              <a:rPr lang="es-MX" kern="100" dirty="0">
                <a:latin typeface="Verdana" panose="020B0604030504040204" pitchFamily="34" charset="0"/>
                <a:ea typeface="Verdana" panose="020B0604030504040204" pitchFamily="34" charset="0"/>
                <a:cs typeface="Times New Roman" panose="02020603050405020304" pitchFamily="18" charset="0"/>
              </a:rPr>
              <a:t>ADN</a:t>
            </a:r>
            <a:endParaRPr lang="es-CO" sz="1800" kern="100" dirty="0">
              <a:effectLst/>
              <a:latin typeface="Verdana" panose="020B0604030504040204" pitchFamily="34" charset="0"/>
              <a:ea typeface="Verdana" panose="020B0604030504040204" pitchFamily="34" charset="0"/>
              <a:cs typeface="Times New Roman" panose="02020603050405020304" pitchFamily="18" charset="0"/>
            </a:endParaRPr>
          </a:p>
          <a:p>
            <a:pPr algn="just"/>
            <a:endParaRPr lang="es-CO"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18305204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MX" sz="2400" b="1" dirty="0">
                <a:solidFill>
                  <a:schemeClr val="bg1"/>
                </a:solidFill>
                <a:latin typeface="Verdana" panose="020B0604030504040204" pitchFamily="34" charset="0"/>
                <a:ea typeface="Verdana" panose="020B0604030504040204" pitchFamily="34" charset="0"/>
                <a:cs typeface="Verdana" panose="020B0604030504040204" pitchFamily="34" charset="0"/>
              </a:rPr>
              <a:t>COMBINATORIA</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pic>
        <p:nvPicPr>
          <p:cNvPr id="5" name="Imagen 4">
            <a:extLst>
              <a:ext uri="{FF2B5EF4-FFF2-40B4-BE49-F238E27FC236}">
                <a16:creationId xmlns:a16="http://schemas.microsoft.com/office/drawing/2014/main" id="{55FC9B86-6EFA-3949-202F-98FF22EE744B}"/>
              </a:ext>
            </a:extLst>
          </p:cNvPr>
          <p:cNvPicPr>
            <a:picLocks noChangeAspect="1"/>
          </p:cNvPicPr>
          <p:nvPr/>
        </p:nvPicPr>
        <p:blipFill rotWithShape="1">
          <a:blip r:embed="rId3"/>
          <a:srcRect l="11237" t="45462" r="46504" b="40003"/>
          <a:stretch/>
        </p:blipFill>
        <p:spPr bwMode="auto">
          <a:xfrm>
            <a:off x="1524000" y="1837417"/>
            <a:ext cx="9250017" cy="2323766"/>
          </a:xfrm>
          <a:prstGeom prst="rect">
            <a:avLst/>
          </a:prstGeom>
          <a:ln>
            <a:noFill/>
          </a:ln>
          <a:extLst>
            <a:ext uri="{53640926-AAD7-44D8-BBD7-CCE9431645EC}">
              <a14:shadowObscured xmlns:a14="http://schemas.microsoft.com/office/drawing/2010/main"/>
            </a:ext>
          </a:extLst>
        </p:spPr>
      </p:pic>
      <p:sp>
        <p:nvSpPr>
          <p:cNvPr id="7" name="Título 6">
            <a:extLst>
              <a:ext uri="{FF2B5EF4-FFF2-40B4-BE49-F238E27FC236}">
                <a16:creationId xmlns:a16="http://schemas.microsoft.com/office/drawing/2014/main" id="{BFF6F683-A2BB-808B-EEFD-5B5201F1D469}"/>
              </a:ext>
            </a:extLst>
          </p:cNvPr>
          <p:cNvSpPr>
            <a:spLocks noGrp="1"/>
          </p:cNvSpPr>
          <p:nvPr>
            <p:ph type="title"/>
          </p:nvPr>
        </p:nvSpPr>
        <p:spPr/>
        <p:txBody>
          <a:bodyPr/>
          <a:lstStyle/>
          <a:p>
            <a:endParaRPr lang="es-CO"/>
          </a:p>
        </p:txBody>
      </p:sp>
      <p:sp>
        <p:nvSpPr>
          <p:cNvPr id="8" name="Marcador de contenido 7">
            <a:extLst>
              <a:ext uri="{FF2B5EF4-FFF2-40B4-BE49-F238E27FC236}">
                <a16:creationId xmlns:a16="http://schemas.microsoft.com/office/drawing/2014/main" id="{F7196831-18D6-2B2D-85FC-BDBEED2AC751}"/>
              </a:ext>
            </a:extLst>
          </p:cNvPr>
          <p:cNvSpPr>
            <a:spLocks noGrp="1"/>
          </p:cNvSpPr>
          <p:nvPr>
            <p:ph idx="1"/>
          </p:nvPr>
        </p:nvSpPr>
        <p:spPr>
          <a:xfrm>
            <a:off x="838200" y="1825624"/>
            <a:ext cx="10515600" cy="5398135"/>
          </a:xfrm>
        </p:spPr>
        <p:txBody>
          <a:bodyPr>
            <a:normAutofit/>
          </a:bodyPr>
          <a:lstStyle/>
          <a:p>
            <a:endParaRPr lang="es-MX" dirty="0"/>
          </a:p>
          <a:p>
            <a:endParaRPr lang="es-CO" dirty="0"/>
          </a:p>
          <a:p>
            <a:endParaRPr lang="es-CO" dirty="0"/>
          </a:p>
          <a:p>
            <a:endParaRPr lang="es-CO" dirty="0"/>
          </a:p>
          <a:p>
            <a:pPr marL="0" indent="0" algn="ctr">
              <a:buNone/>
            </a:pPr>
            <a:endParaRPr lang="es-CO" dirty="0"/>
          </a:p>
          <a:p>
            <a:pPr marL="0" indent="0" algn="ctr">
              <a:buNone/>
            </a:pPr>
            <a:endParaRPr lang="es-CO" sz="1800" b="1" dirty="0">
              <a:latin typeface="Verdana" panose="020B0604030504040204" pitchFamily="34" charset="0"/>
              <a:ea typeface="Verdana" panose="020B0604030504040204" pitchFamily="34" charset="0"/>
            </a:endParaRPr>
          </a:p>
          <a:p>
            <a:pPr algn="just"/>
            <a:endParaRPr lang="es-CO" sz="1800" b="1" u="sng" kern="100" dirty="0">
              <a:solidFill>
                <a:srgbClr val="0563C1"/>
              </a:solidFill>
              <a:effectLst/>
              <a:latin typeface="Verdana" panose="020B0604030504040204" pitchFamily="34" charset="0"/>
              <a:ea typeface="Verdana" panose="020B0604030504040204" pitchFamily="34" charset="0"/>
              <a:cs typeface="Times New Roman" panose="02020603050405020304" pitchFamily="18" charset="0"/>
              <a:hlinkClick r:id="rId4"/>
            </a:endParaRPr>
          </a:p>
          <a:p>
            <a:pPr algn="just"/>
            <a:r>
              <a:rPr lang="es-CO" sz="1800" b="1" kern="100" dirty="0">
                <a:effectLst/>
                <a:latin typeface="Verdana" panose="020B0604030504040204" pitchFamily="34" charset="0"/>
                <a:ea typeface="Verdana" panose="020B0604030504040204" pitchFamily="34" charset="0"/>
                <a:cs typeface="Times New Roman" panose="02020603050405020304" pitchFamily="18" charset="0"/>
              </a:rPr>
              <a:t>https://www.safetydetectives.com/blog/the-most-hacked-passwords-in-the-world/</a:t>
            </a:r>
            <a:endParaRPr lang="es-CO" sz="1800" kern="100" dirty="0">
              <a:effectLst/>
              <a:latin typeface="Verdana" panose="020B0604030504040204" pitchFamily="34" charset="0"/>
              <a:ea typeface="Verdana" panose="020B0604030504040204" pitchFamily="34" charset="0"/>
              <a:cs typeface="Times New Roman" panose="02020603050405020304" pitchFamily="18" charset="0"/>
            </a:endParaRPr>
          </a:p>
          <a:p>
            <a:endParaRPr lang="es-CO" dirty="0"/>
          </a:p>
        </p:txBody>
      </p:sp>
      <p:sp>
        <p:nvSpPr>
          <p:cNvPr id="9" name="CuadroTexto 8">
            <a:extLst>
              <a:ext uri="{FF2B5EF4-FFF2-40B4-BE49-F238E27FC236}">
                <a16:creationId xmlns:a16="http://schemas.microsoft.com/office/drawing/2014/main" id="{3C5C3294-A51D-B8D0-65D2-2C81490FCEE6}"/>
              </a:ext>
            </a:extLst>
          </p:cNvPr>
          <p:cNvSpPr txBox="1"/>
          <p:nvPr/>
        </p:nvSpPr>
        <p:spPr>
          <a:xfrm>
            <a:off x="1524000" y="4754273"/>
            <a:ext cx="9143999" cy="369332"/>
          </a:xfrm>
          <a:prstGeom prst="rect">
            <a:avLst/>
          </a:prstGeom>
          <a:noFill/>
        </p:spPr>
        <p:txBody>
          <a:bodyPr wrap="square" rtlCol="0">
            <a:spAutoFit/>
          </a:bodyPr>
          <a:lstStyle/>
          <a:p>
            <a:pPr algn="ctr"/>
            <a:r>
              <a:rPr lang="es-CO" b="1" dirty="0">
                <a:latin typeface="Verdana" panose="020B0604030504040204" pitchFamily="34" charset="0"/>
                <a:ea typeface="Verdana" panose="020B0604030504040204" pitchFamily="34" charset="0"/>
              </a:rPr>
              <a:t>Ciberdelincuente vs </a:t>
            </a:r>
            <a:r>
              <a:rPr lang="es-CO" b="1" dirty="0" err="1">
                <a:latin typeface="Verdana" panose="020B0604030504040204" pitchFamily="34" charset="0"/>
                <a:ea typeface="Verdana" panose="020B0604030504040204" pitchFamily="34" charset="0"/>
              </a:rPr>
              <a:t>Ethical</a:t>
            </a:r>
            <a:r>
              <a:rPr lang="es-CO" b="1" dirty="0">
                <a:latin typeface="Verdana" panose="020B0604030504040204" pitchFamily="34" charset="0"/>
                <a:ea typeface="Verdana" panose="020B0604030504040204" pitchFamily="34" charset="0"/>
              </a:rPr>
              <a:t> Hacking</a:t>
            </a:r>
          </a:p>
        </p:txBody>
      </p:sp>
      <p:sp>
        <p:nvSpPr>
          <p:cNvPr id="10" name="CuadroTexto 9">
            <a:extLst>
              <a:ext uri="{FF2B5EF4-FFF2-40B4-BE49-F238E27FC236}">
                <a16:creationId xmlns:a16="http://schemas.microsoft.com/office/drawing/2014/main" id="{6930484C-4345-9167-7C4C-8AC5B8ED8803}"/>
              </a:ext>
            </a:extLst>
          </p:cNvPr>
          <p:cNvSpPr txBox="1"/>
          <p:nvPr/>
        </p:nvSpPr>
        <p:spPr>
          <a:xfrm>
            <a:off x="1755913" y="4296119"/>
            <a:ext cx="9143999" cy="369332"/>
          </a:xfrm>
          <a:prstGeom prst="rect">
            <a:avLst/>
          </a:prstGeom>
          <a:noFill/>
        </p:spPr>
        <p:txBody>
          <a:bodyPr wrap="square" rtlCol="0">
            <a:spAutoFit/>
          </a:bodyPr>
          <a:lstStyle/>
          <a:p>
            <a:pPr algn="ctr"/>
            <a:r>
              <a:rPr lang="es-CO" b="1" dirty="0">
                <a:latin typeface="Verdana" panose="020B0604030504040204" pitchFamily="34" charset="0"/>
                <a:ea typeface="Verdana" panose="020B0604030504040204" pitchFamily="34" charset="0"/>
              </a:rPr>
              <a:t>¿Son realmente seguros los accesos a los sistemas informáticos?</a:t>
            </a:r>
          </a:p>
        </p:txBody>
      </p:sp>
    </p:spTree>
    <p:extLst>
      <p:ext uri="{BB962C8B-B14F-4D97-AF65-F5344CB8AC3E}">
        <p14:creationId xmlns:p14="http://schemas.microsoft.com/office/powerpoint/2010/main" val="1581287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fill="hold"/>
                                        <p:tgtEl>
                                          <p:spTgt spid="10"/>
                                        </p:tgtEl>
                                        <p:attrNameLst>
                                          <p:attrName>ppt_x</p:attrName>
                                        </p:attrNameLst>
                                      </p:cBhvr>
                                      <p:tavLst>
                                        <p:tav tm="0">
                                          <p:val>
                                            <p:strVal val="#ppt_x"/>
                                          </p:val>
                                        </p:tav>
                                        <p:tav tm="100000">
                                          <p:val>
                                            <p:strVal val="#ppt_x"/>
                                          </p:val>
                                        </p:tav>
                                      </p:tavLst>
                                    </p:anim>
                                    <p:anim calcmode="lin" valueType="num">
                                      <p:cBhvr additive="base">
                                        <p:cTn id="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500" fill="hold"/>
                                        <p:tgtEl>
                                          <p:spTgt spid="9"/>
                                        </p:tgtEl>
                                        <p:attrNameLst>
                                          <p:attrName>ppt_x</p:attrName>
                                        </p:attrNameLst>
                                      </p:cBhvr>
                                      <p:tavLst>
                                        <p:tav tm="0">
                                          <p:val>
                                            <p:strVal val="#ppt_x"/>
                                          </p:val>
                                        </p:tav>
                                        <p:tav tm="100000">
                                          <p:val>
                                            <p:strVal val="#ppt_x"/>
                                          </p:val>
                                        </p:tav>
                                      </p:tavLst>
                                    </p:anim>
                                    <p:anim calcmode="lin" valueType="num">
                                      <p:cBhvr additive="base">
                                        <p:cTn id="14"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MX" sz="2400" b="1" dirty="0">
                <a:solidFill>
                  <a:schemeClr val="bg1"/>
                </a:solidFill>
                <a:latin typeface="Verdana" panose="020B0604030504040204" pitchFamily="34" charset="0"/>
                <a:ea typeface="Verdana" panose="020B0604030504040204" pitchFamily="34" charset="0"/>
                <a:cs typeface="Verdana" panose="020B0604030504040204" pitchFamily="34" charset="0"/>
              </a:rPr>
              <a:t>REGLAS DE LA SUMA Y EL PRODUCTO</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2" name="CuadroTexto 1">
            <a:extLst>
              <a:ext uri="{FF2B5EF4-FFF2-40B4-BE49-F238E27FC236}">
                <a16:creationId xmlns:a16="http://schemas.microsoft.com/office/drawing/2014/main" id="{4233ED77-700B-3070-AB13-45C8EA6C7C3A}"/>
              </a:ext>
            </a:extLst>
          </p:cNvPr>
          <p:cNvSpPr txBox="1"/>
          <p:nvPr/>
        </p:nvSpPr>
        <p:spPr>
          <a:xfrm>
            <a:off x="1524001" y="1896869"/>
            <a:ext cx="9143999" cy="646331"/>
          </a:xfrm>
          <a:prstGeom prst="rect">
            <a:avLst/>
          </a:prstGeom>
          <a:noFill/>
        </p:spPr>
        <p:txBody>
          <a:bodyPr wrap="square" rtlCol="0">
            <a:spAutoFit/>
          </a:bodyPr>
          <a:lstStyle/>
          <a:p>
            <a:pPr algn="just"/>
            <a:r>
              <a:rPr lang="es-ES" dirty="0">
                <a:latin typeface="Verdana" panose="020B0604030504040204" pitchFamily="34" charset="0"/>
                <a:ea typeface="Verdana" panose="020B0604030504040204" pitchFamily="34" charset="0"/>
                <a:cs typeface="Verdana" panose="020B0604030504040204" pitchFamily="34" charset="0"/>
              </a:rPr>
              <a:t>Existen 2 principios básicos de conteo que son la suma y el producto estas son algunas características generales para ambas:</a:t>
            </a:r>
          </a:p>
        </p:txBody>
      </p:sp>
      <p:sp>
        <p:nvSpPr>
          <p:cNvPr id="5" name="CuadroTexto 4">
            <a:extLst>
              <a:ext uri="{FF2B5EF4-FFF2-40B4-BE49-F238E27FC236}">
                <a16:creationId xmlns:a16="http://schemas.microsoft.com/office/drawing/2014/main" id="{E00DC304-AE09-8E94-4141-2211BDC7989F}"/>
              </a:ext>
            </a:extLst>
          </p:cNvPr>
          <p:cNvSpPr txBox="1"/>
          <p:nvPr/>
        </p:nvSpPr>
        <p:spPr>
          <a:xfrm>
            <a:off x="1524003" y="2649091"/>
            <a:ext cx="9143999" cy="1477328"/>
          </a:xfrm>
          <a:prstGeom prst="rect">
            <a:avLst/>
          </a:prstGeom>
          <a:noFill/>
        </p:spPr>
        <p:txBody>
          <a:bodyPr wrap="square" rtlCol="0">
            <a:spAutoFit/>
          </a:bodyPr>
          <a:lstStyle/>
          <a:p>
            <a:pPr marL="342900" indent="-342900" algn="just">
              <a:buFont typeface="+mj-lt"/>
              <a:buAutoNum type="arabicPeriod"/>
            </a:pPr>
            <a:r>
              <a:rPr lang="es-ES" dirty="0">
                <a:latin typeface="Verdana" panose="020B0604030504040204" pitchFamily="34" charset="0"/>
                <a:ea typeface="Verdana" panose="020B0604030504040204" pitchFamily="34" charset="0"/>
                <a:cs typeface="Verdana" panose="020B0604030504040204" pitchFamily="34" charset="0"/>
              </a:rPr>
              <a:t>Ambas son utilizadas para analizar problemas más complejos, que a menudo se pueden descomponer en partes que pueden resolverse mediante estos dos principios.</a:t>
            </a:r>
          </a:p>
          <a:p>
            <a:pPr marL="342900" indent="-342900" algn="just">
              <a:buFont typeface="+mj-lt"/>
              <a:buAutoNum type="arabicPeriod"/>
            </a:pPr>
            <a:endParaRPr lang="es-ES" dirty="0">
              <a:latin typeface="Verdana" panose="020B0604030504040204" pitchFamily="34" charset="0"/>
              <a:ea typeface="Verdana" panose="020B0604030504040204" pitchFamily="34" charset="0"/>
              <a:cs typeface="Verdana" panose="020B0604030504040204" pitchFamily="34" charset="0"/>
            </a:endParaRPr>
          </a:p>
          <a:p>
            <a:pPr marL="342900" indent="-342900" algn="just">
              <a:buFont typeface="+mj-lt"/>
              <a:buAutoNum type="arabicPeriod"/>
            </a:pPr>
            <a:endParaRPr lang="es-ES" dirty="0">
              <a:latin typeface="Verdana" panose="020B0604030504040204" pitchFamily="34" charset="0"/>
              <a:ea typeface="Verdana" panose="020B0604030504040204" pitchFamily="34" charset="0"/>
              <a:cs typeface="Verdana" panose="020B0604030504040204" pitchFamily="34" charset="0"/>
            </a:endParaRPr>
          </a:p>
        </p:txBody>
      </p:sp>
      <p:sp>
        <p:nvSpPr>
          <p:cNvPr id="7" name="CuadroTexto 6">
            <a:extLst>
              <a:ext uri="{FF2B5EF4-FFF2-40B4-BE49-F238E27FC236}">
                <a16:creationId xmlns:a16="http://schemas.microsoft.com/office/drawing/2014/main" id="{AA983FFE-E324-3406-0529-87FA3EEE92AF}"/>
              </a:ext>
            </a:extLst>
          </p:cNvPr>
          <p:cNvSpPr txBox="1"/>
          <p:nvPr/>
        </p:nvSpPr>
        <p:spPr>
          <a:xfrm>
            <a:off x="1524001" y="3718192"/>
            <a:ext cx="9143999" cy="646331"/>
          </a:xfrm>
          <a:prstGeom prst="rect">
            <a:avLst/>
          </a:prstGeom>
          <a:noFill/>
        </p:spPr>
        <p:txBody>
          <a:bodyPr wrap="square" rtlCol="0">
            <a:spAutoFit/>
          </a:bodyPr>
          <a:lstStyle/>
          <a:p>
            <a:pPr algn="just"/>
            <a:r>
              <a:rPr lang="es-ES" dirty="0">
                <a:latin typeface="Verdana" panose="020B0604030504040204" pitchFamily="34" charset="0"/>
                <a:ea typeface="Verdana" panose="020B0604030504040204" pitchFamily="34" charset="0"/>
                <a:cs typeface="Verdana" panose="020B0604030504040204" pitchFamily="34" charset="0"/>
              </a:rPr>
              <a:t>2. Permiten desarrollar la capacidad de “descomponer” dichos problemas y acomodar las soluciones parciales para llegar a una respuesta final.</a:t>
            </a:r>
          </a:p>
        </p:txBody>
      </p:sp>
      <p:sp>
        <p:nvSpPr>
          <p:cNvPr id="8" name="CuadroTexto 7">
            <a:extLst>
              <a:ext uri="{FF2B5EF4-FFF2-40B4-BE49-F238E27FC236}">
                <a16:creationId xmlns:a16="http://schemas.microsoft.com/office/drawing/2014/main" id="{E65BFF13-A7B8-7042-DB4E-D1CCE33E2C5D}"/>
              </a:ext>
            </a:extLst>
          </p:cNvPr>
          <p:cNvSpPr txBox="1"/>
          <p:nvPr/>
        </p:nvSpPr>
        <p:spPr>
          <a:xfrm>
            <a:off x="1524001" y="4351271"/>
            <a:ext cx="9143999" cy="1200329"/>
          </a:xfrm>
          <a:prstGeom prst="rect">
            <a:avLst/>
          </a:prstGeom>
          <a:noFill/>
        </p:spPr>
        <p:txBody>
          <a:bodyPr wrap="square" rtlCol="0">
            <a:spAutoFit/>
          </a:bodyPr>
          <a:lstStyle/>
          <a:p>
            <a:pPr algn="just"/>
            <a:endParaRPr lang="es-ES" dirty="0">
              <a:latin typeface="Verdana" panose="020B0604030504040204" pitchFamily="34" charset="0"/>
              <a:ea typeface="Verdana" panose="020B0604030504040204" pitchFamily="34" charset="0"/>
              <a:cs typeface="Verdana" panose="020B0604030504040204" pitchFamily="34" charset="0"/>
            </a:endParaRPr>
          </a:p>
          <a:p>
            <a:pPr algn="just"/>
            <a:r>
              <a:rPr lang="es-ES" dirty="0">
                <a:latin typeface="Verdana" panose="020B0604030504040204" pitchFamily="34" charset="0"/>
                <a:ea typeface="Verdana" panose="020B0604030504040204" pitchFamily="34" charset="0"/>
                <a:cs typeface="Verdana" panose="020B0604030504040204" pitchFamily="34" charset="0"/>
              </a:rPr>
              <a:t>3. Todo lo anterior se realiza analizando y resolviendo muchos problemas de enumeración teniendo en cuenta todos y cada uno de los principios utilizados en la solución.</a:t>
            </a:r>
            <a:endParaRPr lang="es-CO"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25583794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269A2515-6534-9DF8-FD92-257B45E64BB0}"/>
              </a:ext>
            </a:extLst>
          </p:cNvPr>
          <p:cNvSpPr txBox="1"/>
          <p:nvPr/>
        </p:nvSpPr>
        <p:spPr>
          <a:xfrm>
            <a:off x="1523998" y="1681557"/>
            <a:ext cx="9144001" cy="1200329"/>
          </a:xfrm>
          <a:prstGeom prst="rect">
            <a:avLst/>
          </a:prstGeom>
          <a:noFill/>
        </p:spPr>
        <p:txBody>
          <a:bodyPr wrap="square" rtlCol="0">
            <a:spAutoFit/>
          </a:bodyPr>
          <a:lstStyle/>
          <a:p>
            <a:pPr algn="just"/>
            <a:r>
              <a:rPr lang="es-ES" dirty="0">
                <a:latin typeface="Verdana" panose="020B0604030504040204" pitchFamily="34" charset="0"/>
                <a:ea typeface="Verdana" panose="020B0604030504040204" pitchFamily="34" charset="0"/>
                <a:cs typeface="Verdana" panose="020B0604030504040204" pitchFamily="34" charset="0"/>
              </a:rPr>
              <a:t>Si una primera tarea se puede resolver de n</a:t>
            </a:r>
            <a:r>
              <a:rPr lang="es-ES" baseline="-25000" dirty="0">
                <a:latin typeface="Verdana" panose="020B0604030504040204" pitchFamily="34" charset="0"/>
                <a:ea typeface="Verdana" panose="020B0604030504040204" pitchFamily="34" charset="0"/>
                <a:cs typeface="Verdana" panose="020B0604030504040204" pitchFamily="34" charset="0"/>
              </a:rPr>
              <a:t>1</a:t>
            </a:r>
            <a:r>
              <a:rPr lang="es-ES" dirty="0">
                <a:latin typeface="Verdana" panose="020B0604030504040204" pitchFamily="34" charset="0"/>
                <a:ea typeface="Verdana" panose="020B0604030504040204" pitchFamily="34" charset="0"/>
                <a:cs typeface="Verdana" panose="020B0604030504040204" pitchFamily="34" charset="0"/>
              </a:rPr>
              <a:t> formas y una segunda tarea se puede resolver de n</a:t>
            </a:r>
            <a:r>
              <a:rPr lang="es-ES" baseline="-25000" dirty="0">
                <a:latin typeface="Verdana" panose="020B0604030504040204" pitchFamily="34" charset="0"/>
                <a:ea typeface="Verdana" panose="020B0604030504040204" pitchFamily="34" charset="0"/>
                <a:cs typeface="Verdana" panose="020B0604030504040204" pitchFamily="34" charset="0"/>
              </a:rPr>
              <a:t>2</a:t>
            </a:r>
            <a:r>
              <a:rPr lang="es-ES" dirty="0">
                <a:latin typeface="Verdana" panose="020B0604030504040204" pitchFamily="34" charset="0"/>
                <a:ea typeface="Verdana" panose="020B0604030504040204" pitchFamily="34" charset="0"/>
                <a:cs typeface="Verdana" panose="020B0604030504040204" pitchFamily="34" charset="0"/>
              </a:rPr>
              <a:t> formas y, además, no pueden ser resueltas simultáneamente (incompatibles); entonces esas tareas se pueden resolver de n</a:t>
            </a:r>
            <a:r>
              <a:rPr lang="es-ES" baseline="-25000" dirty="0">
                <a:latin typeface="Verdana" panose="020B0604030504040204" pitchFamily="34" charset="0"/>
                <a:ea typeface="Verdana" panose="020B0604030504040204" pitchFamily="34" charset="0"/>
                <a:cs typeface="Verdana" panose="020B0604030504040204" pitchFamily="34" charset="0"/>
              </a:rPr>
              <a:t>1</a:t>
            </a:r>
            <a:r>
              <a:rPr lang="es-ES" dirty="0">
                <a:latin typeface="Verdana" panose="020B0604030504040204" pitchFamily="34" charset="0"/>
                <a:ea typeface="Verdana" panose="020B0604030504040204" pitchFamily="34" charset="0"/>
                <a:cs typeface="Verdana" panose="020B0604030504040204" pitchFamily="34" charset="0"/>
              </a:rPr>
              <a:t> + n</a:t>
            </a:r>
            <a:r>
              <a:rPr lang="es-ES" baseline="-25000" dirty="0">
                <a:latin typeface="Verdana" panose="020B0604030504040204" pitchFamily="34" charset="0"/>
                <a:ea typeface="Verdana" panose="020B0604030504040204" pitchFamily="34" charset="0"/>
                <a:cs typeface="Verdana" panose="020B0604030504040204" pitchFamily="34" charset="0"/>
              </a:rPr>
              <a:t>2</a:t>
            </a:r>
            <a:r>
              <a:rPr lang="es-ES" dirty="0">
                <a:latin typeface="Verdana" panose="020B0604030504040204" pitchFamily="34" charset="0"/>
                <a:ea typeface="Verdana" panose="020B0604030504040204" pitchFamily="34" charset="0"/>
                <a:cs typeface="Verdana" panose="020B0604030504040204" pitchFamily="34" charset="0"/>
              </a:rPr>
              <a:t> formas de realizar una de las dos tareas.</a:t>
            </a:r>
          </a:p>
        </p:txBody>
      </p:sp>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REGLA DE LA SUMA</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7" name="CuadroTexto 6">
            <a:extLst>
              <a:ext uri="{FF2B5EF4-FFF2-40B4-BE49-F238E27FC236}">
                <a16:creationId xmlns:a16="http://schemas.microsoft.com/office/drawing/2014/main" id="{81FD0DD9-AFFA-A5CD-EEE2-9F0FDD48B2CF}"/>
              </a:ext>
            </a:extLst>
          </p:cNvPr>
          <p:cNvSpPr txBox="1"/>
          <p:nvPr/>
        </p:nvSpPr>
        <p:spPr>
          <a:xfrm>
            <a:off x="1523997" y="3441080"/>
            <a:ext cx="9143999" cy="646331"/>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Ejemplo:</a:t>
            </a:r>
            <a:r>
              <a:rPr lang="es-ES" dirty="0">
                <a:latin typeface="Verdana" panose="020B0604030504040204" pitchFamily="34" charset="0"/>
                <a:ea typeface="Verdana" panose="020B0604030504040204" pitchFamily="34" charset="0"/>
                <a:cs typeface="Verdana" panose="020B0604030504040204" pitchFamily="34" charset="0"/>
              </a:rPr>
              <a:t> La biblioteca de una universidad tiene 40 libros de texto de psicología y 50 de antropología.</a:t>
            </a:r>
            <a:endParaRPr lang="es-CO" dirty="0">
              <a:latin typeface="Verdana" panose="020B0604030504040204" pitchFamily="34" charset="0"/>
              <a:ea typeface="Verdana" panose="020B0604030504040204" pitchFamily="34" charset="0"/>
              <a:cs typeface="Verdana" panose="020B0604030504040204" pitchFamily="34" charset="0"/>
            </a:endParaRPr>
          </a:p>
        </p:txBody>
      </p:sp>
      <p:sp>
        <p:nvSpPr>
          <p:cNvPr id="8" name="CuadroTexto 7">
            <a:extLst>
              <a:ext uri="{FF2B5EF4-FFF2-40B4-BE49-F238E27FC236}">
                <a16:creationId xmlns:a16="http://schemas.microsoft.com/office/drawing/2014/main" id="{5408180F-0052-400D-A237-747216F792E2}"/>
              </a:ext>
            </a:extLst>
          </p:cNvPr>
          <p:cNvSpPr txBox="1"/>
          <p:nvPr/>
        </p:nvSpPr>
        <p:spPr>
          <a:xfrm>
            <a:off x="1523998" y="4714778"/>
            <a:ext cx="9143998" cy="923330"/>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Solución: </a:t>
            </a:r>
            <a:r>
              <a:rPr lang="es-ES" dirty="0">
                <a:latin typeface="Verdana" panose="020B0604030504040204" pitchFamily="34" charset="0"/>
                <a:ea typeface="Verdana" panose="020B0604030504040204" pitchFamily="34" charset="0"/>
                <a:cs typeface="Verdana" panose="020B0604030504040204" pitchFamily="34" charset="0"/>
              </a:rPr>
              <a:t>por la regla de la suma, un estudiante de esta universidad puede elegir entre 40 + 50 = 90 libros de texto para aprender acerca de alguno de estos dos temas.</a:t>
            </a:r>
            <a:endParaRPr lang="es-CO"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203780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500" fill="hold"/>
                                        <p:tgtEl>
                                          <p:spTgt spid="8"/>
                                        </p:tgtEl>
                                        <p:attrNameLst>
                                          <p:attrName>ppt_x</p:attrName>
                                        </p:attrNameLst>
                                      </p:cBhvr>
                                      <p:tavLst>
                                        <p:tav tm="0">
                                          <p:val>
                                            <p:strVal val="#ppt_x"/>
                                          </p:val>
                                        </p:tav>
                                        <p:tav tm="100000">
                                          <p:val>
                                            <p:strVal val="#ppt_x"/>
                                          </p:val>
                                        </p:tav>
                                      </p:tavLst>
                                    </p:anim>
                                    <p:anim calcmode="lin" valueType="num">
                                      <p:cBhvr additive="base">
                                        <p:cTn id="14"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REGLA DE LA SUMA</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9" name="CuadroTexto 8">
            <a:extLst>
              <a:ext uri="{FF2B5EF4-FFF2-40B4-BE49-F238E27FC236}">
                <a16:creationId xmlns:a16="http://schemas.microsoft.com/office/drawing/2014/main" id="{31F2CC57-E991-4CCB-C0C0-BB1737706EC6}"/>
              </a:ext>
            </a:extLst>
          </p:cNvPr>
          <p:cNvSpPr txBox="1"/>
          <p:nvPr/>
        </p:nvSpPr>
        <p:spPr>
          <a:xfrm>
            <a:off x="1523999" y="1590516"/>
            <a:ext cx="9143999" cy="1477328"/>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Ejemplo: </a:t>
            </a:r>
            <a:r>
              <a:rPr lang="es-ES" dirty="0">
                <a:latin typeface="Verdana" panose="020B0604030504040204" pitchFamily="34" charset="0"/>
                <a:ea typeface="Verdana" panose="020B0604030504040204" pitchFamily="34" charset="0"/>
                <a:cs typeface="Verdana" panose="020B0604030504040204" pitchFamily="34" charset="0"/>
              </a:rPr>
              <a:t>Suponga que un miembro de la facultad de matemáticas puede ser escogido como un representante a un comité universitario. ¿Cuántas formas diferentes de asignar este representante hay, conociendo que hay 37 miembros de la facultad de matemáticas y 83 estudiantes de doctorado de ciencias de la computación?</a:t>
            </a:r>
          </a:p>
        </p:txBody>
      </p:sp>
      <p:sp>
        <p:nvSpPr>
          <p:cNvPr id="10" name="CuadroTexto 9">
            <a:extLst>
              <a:ext uri="{FF2B5EF4-FFF2-40B4-BE49-F238E27FC236}">
                <a16:creationId xmlns:a16="http://schemas.microsoft.com/office/drawing/2014/main" id="{66D82E5B-F9EE-E35E-3BC5-8EC0CD336005}"/>
              </a:ext>
            </a:extLst>
          </p:cNvPr>
          <p:cNvSpPr txBox="1"/>
          <p:nvPr/>
        </p:nvSpPr>
        <p:spPr>
          <a:xfrm>
            <a:off x="1523995" y="5191557"/>
            <a:ext cx="9144001" cy="1200329"/>
          </a:xfrm>
          <a:prstGeom prst="rect">
            <a:avLst/>
          </a:prstGeom>
          <a:noFill/>
        </p:spPr>
        <p:txBody>
          <a:bodyPr wrap="square" rtlCol="0">
            <a:spAutoFit/>
          </a:bodyPr>
          <a:lstStyle/>
          <a:p>
            <a:pPr algn="just"/>
            <a:r>
              <a:rPr lang="es-ES" dirty="0">
                <a:latin typeface="Verdana" panose="020B0604030504040204" pitchFamily="34" charset="0"/>
                <a:ea typeface="Verdana" panose="020B0604030504040204" pitchFamily="34" charset="0"/>
                <a:cs typeface="Verdana" panose="020B0604030504040204" pitchFamily="34" charset="0"/>
              </a:rPr>
              <a:t>La regla de la suma puede ampliarse a más de dos tareas siempre que ninguna pareja de tareas pueda ocurrir en forma simultánea (mutuamente excluyente). </a:t>
            </a:r>
            <a:endParaRPr lang="es-CO" dirty="0">
              <a:latin typeface="Verdana" panose="020B0604030504040204" pitchFamily="34" charset="0"/>
              <a:ea typeface="Verdana" panose="020B0604030504040204" pitchFamily="34" charset="0"/>
              <a:cs typeface="Verdana" panose="020B0604030504040204" pitchFamily="34" charset="0"/>
            </a:endParaRPr>
          </a:p>
          <a:p>
            <a:pPr algn="just"/>
            <a:endParaRPr lang="es-CO" dirty="0"/>
          </a:p>
        </p:txBody>
      </p:sp>
      <p:sp>
        <p:nvSpPr>
          <p:cNvPr id="2" name="CuadroTexto 1">
            <a:extLst>
              <a:ext uri="{FF2B5EF4-FFF2-40B4-BE49-F238E27FC236}">
                <a16:creationId xmlns:a16="http://schemas.microsoft.com/office/drawing/2014/main" id="{2A6F0F10-4C53-E3ED-5C7B-F5B8DC945CF8}"/>
              </a:ext>
            </a:extLst>
          </p:cNvPr>
          <p:cNvSpPr txBox="1"/>
          <p:nvPr/>
        </p:nvSpPr>
        <p:spPr>
          <a:xfrm>
            <a:off x="1523996" y="3063694"/>
            <a:ext cx="9144001" cy="2308324"/>
          </a:xfrm>
          <a:prstGeom prst="rect">
            <a:avLst/>
          </a:prstGeom>
          <a:noFill/>
        </p:spPr>
        <p:txBody>
          <a:bodyPr wrap="square" rtlCol="0">
            <a:spAutoFit/>
          </a:bodyPr>
          <a:lstStyle/>
          <a:p>
            <a:pPr algn="just"/>
            <a:r>
              <a:rPr lang="es-MX" b="1" dirty="0">
                <a:latin typeface="Verdana" panose="020B0604030504040204" pitchFamily="34" charset="0"/>
                <a:ea typeface="Verdana" panose="020B0604030504040204" pitchFamily="34" charset="0"/>
                <a:cs typeface="Verdana" panose="020B0604030504040204" pitchFamily="34" charset="0"/>
              </a:rPr>
              <a:t>Solución. </a:t>
            </a:r>
            <a:r>
              <a:rPr lang="es-MX" dirty="0">
                <a:latin typeface="Verdana" panose="020B0604030504040204" pitchFamily="34" charset="0"/>
                <a:ea typeface="Verdana" panose="020B0604030504040204" pitchFamily="34" charset="0"/>
                <a:cs typeface="Verdana" panose="020B0604030504040204" pitchFamily="34" charset="0"/>
              </a:rPr>
              <a:t>Podemos dividir esta tarea en dos:</a:t>
            </a:r>
          </a:p>
          <a:p>
            <a:pPr marL="342900" indent="-342900" algn="just">
              <a:buFont typeface="+mj-lt"/>
              <a:buAutoNum type="arabicPeriod"/>
            </a:pPr>
            <a:r>
              <a:rPr lang="es-MX" dirty="0">
                <a:latin typeface="Verdana" panose="020B0604030504040204" pitchFamily="34" charset="0"/>
                <a:ea typeface="Verdana" panose="020B0604030504040204" pitchFamily="34" charset="0"/>
                <a:cs typeface="Verdana" panose="020B0604030504040204" pitchFamily="34" charset="0"/>
              </a:rPr>
              <a:t>Se puede elegir un miembro de la facultad  de matemáticas, lo que puede hacer de 37 formas distintas.</a:t>
            </a:r>
          </a:p>
          <a:p>
            <a:pPr marL="342900" indent="-342900" algn="just">
              <a:buFont typeface="+mj-lt"/>
              <a:buAutoNum type="arabicPeriod"/>
            </a:pPr>
            <a:r>
              <a:rPr lang="es-MX" dirty="0">
                <a:latin typeface="Verdana" panose="020B0604030504040204" pitchFamily="34" charset="0"/>
                <a:ea typeface="Verdana" panose="020B0604030504040204" pitchFamily="34" charset="0"/>
                <a:cs typeface="Verdana" panose="020B0604030504040204" pitchFamily="34" charset="0"/>
              </a:rPr>
              <a:t>Se puede elegir un estudiante de doctorado, lo que se puede hacer de 83 formas distintas.</a:t>
            </a:r>
          </a:p>
          <a:p>
            <a:pPr algn="just"/>
            <a:r>
              <a:rPr lang="es-MX" dirty="0">
                <a:latin typeface="Verdana" panose="020B0604030504040204" pitchFamily="34" charset="0"/>
                <a:ea typeface="Verdana" panose="020B0604030504040204" pitchFamily="34" charset="0"/>
                <a:cs typeface="Verdana" panose="020B0604030504040204" pitchFamily="34" charset="0"/>
              </a:rPr>
              <a:t>Aplicando la regla de la suma se puede elegir un miembro de comité Univalle  de 37 + 83 formas posibles </a:t>
            </a:r>
            <a:endParaRPr lang="es-CO" dirty="0">
              <a:latin typeface="Verdana" panose="020B0604030504040204" pitchFamily="34" charset="0"/>
              <a:ea typeface="Verdana" panose="020B0604030504040204" pitchFamily="34" charset="0"/>
              <a:cs typeface="Verdana" panose="020B0604030504040204" pitchFamily="34" charset="0"/>
            </a:endParaRPr>
          </a:p>
          <a:p>
            <a:pPr algn="just"/>
            <a:endParaRPr lang="es-CO" dirty="0"/>
          </a:p>
        </p:txBody>
      </p:sp>
    </p:spTree>
    <p:extLst>
      <p:ext uri="{BB962C8B-B14F-4D97-AF65-F5344CB8AC3E}">
        <p14:creationId xmlns:p14="http://schemas.microsoft.com/office/powerpoint/2010/main" val="17500334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 calcmode="lin" valueType="num">
                                      <p:cBhvr additive="base">
                                        <p:cTn id="19" dur="500" fill="hold"/>
                                        <p:tgtEl>
                                          <p:spTgt spid="10"/>
                                        </p:tgtEl>
                                        <p:attrNameLst>
                                          <p:attrName>ppt_x</p:attrName>
                                        </p:attrNameLst>
                                      </p:cBhvr>
                                      <p:tavLst>
                                        <p:tav tm="0">
                                          <p:val>
                                            <p:strVal val="#ppt_x"/>
                                          </p:val>
                                        </p:tav>
                                        <p:tav tm="100000">
                                          <p:val>
                                            <p:strVal val="#ppt_x"/>
                                          </p:val>
                                        </p:tav>
                                      </p:tavLst>
                                    </p:anim>
                                    <p:anim calcmode="lin" valueType="num">
                                      <p:cBhvr additive="base">
                                        <p:cTn id="20"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269A2515-6534-9DF8-FD92-257B45E64BB0}"/>
              </a:ext>
            </a:extLst>
          </p:cNvPr>
          <p:cNvSpPr txBox="1"/>
          <p:nvPr/>
        </p:nvSpPr>
        <p:spPr>
          <a:xfrm>
            <a:off x="1643277" y="1607216"/>
            <a:ext cx="9144001" cy="646331"/>
          </a:xfrm>
          <a:prstGeom prst="rect">
            <a:avLst/>
          </a:prstGeom>
          <a:noFill/>
        </p:spPr>
        <p:txBody>
          <a:bodyPr wrap="square" rtlCol="0">
            <a:spAutoFit/>
          </a:bodyPr>
          <a:lstStyle/>
          <a:p>
            <a:pPr algn="just"/>
            <a:r>
              <a:rPr lang="es-ES" dirty="0">
                <a:latin typeface="Verdana" panose="020B0604030504040204" pitchFamily="34" charset="0"/>
                <a:ea typeface="Verdana" panose="020B0604030504040204" pitchFamily="34" charset="0"/>
                <a:cs typeface="Verdana" panose="020B0604030504040204" pitchFamily="34" charset="0"/>
              </a:rPr>
              <a:t>Si A</a:t>
            </a:r>
            <a:r>
              <a:rPr lang="es-ES" baseline="-25000" dirty="0">
                <a:latin typeface="Verdana" panose="020B0604030504040204" pitchFamily="34" charset="0"/>
                <a:ea typeface="Verdana" panose="020B0604030504040204" pitchFamily="34" charset="0"/>
                <a:cs typeface="Verdana" panose="020B0604030504040204" pitchFamily="34" charset="0"/>
              </a:rPr>
              <a:t>1</a:t>
            </a:r>
            <a:r>
              <a:rPr lang="es-ES" dirty="0">
                <a:latin typeface="Verdana" panose="020B0604030504040204" pitchFamily="34" charset="0"/>
                <a:ea typeface="Verdana" panose="020B0604030504040204" pitchFamily="34" charset="0"/>
                <a:cs typeface="Verdana" panose="020B0604030504040204" pitchFamily="34" charset="0"/>
              </a:rPr>
              <a:t>, A</a:t>
            </a:r>
            <a:r>
              <a:rPr lang="es-ES" baseline="-25000" dirty="0">
                <a:latin typeface="Verdana" panose="020B0604030504040204" pitchFamily="34" charset="0"/>
                <a:ea typeface="Verdana" panose="020B0604030504040204" pitchFamily="34" charset="0"/>
                <a:cs typeface="Verdana" panose="020B0604030504040204" pitchFamily="34" charset="0"/>
              </a:rPr>
              <a:t>2</a:t>
            </a:r>
            <a:r>
              <a:rPr lang="es-ES" dirty="0">
                <a:latin typeface="Verdana" panose="020B0604030504040204" pitchFamily="34" charset="0"/>
                <a:ea typeface="Verdana" panose="020B0604030504040204" pitchFamily="34" charset="0"/>
                <a:cs typeface="Verdana" panose="020B0604030504040204" pitchFamily="34" charset="0"/>
              </a:rPr>
              <a:t>,..., A</a:t>
            </a:r>
            <a:r>
              <a:rPr lang="es-ES" baseline="-25000" dirty="0">
                <a:latin typeface="Verdana" panose="020B0604030504040204" pitchFamily="34" charset="0"/>
                <a:ea typeface="Verdana" panose="020B0604030504040204" pitchFamily="34" charset="0"/>
                <a:cs typeface="Verdana" panose="020B0604030504040204" pitchFamily="34" charset="0"/>
              </a:rPr>
              <a:t>m</a:t>
            </a:r>
            <a:r>
              <a:rPr lang="es-ES" dirty="0">
                <a:latin typeface="Verdana" panose="020B0604030504040204" pitchFamily="34" charset="0"/>
                <a:ea typeface="Verdana" panose="020B0604030504040204" pitchFamily="34" charset="0"/>
                <a:cs typeface="Verdana" panose="020B0604030504040204" pitchFamily="34" charset="0"/>
              </a:rPr>
              <a:t> son conjuntos disjuntos, entonces el número de elementos en la unión de esos conjuntos es la suma del número de elementos en ellos.</a:t>
            </a:r>
          </a:p>
        </p:txBody>
      </p:sp>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EXTENSIÓN DE LA SUMA</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pic>
        <p:nvPicPr>
          <p:cNvPr id="8" name="Imagen 7">
            <a:extLst>
              <a:ext uri="{FF2B5EF4-FFF2-40B4-BE49-F238E27FC236}">
                <a16:creationId xmlns:a16="http://schemas.microsoft.com/office/drawing/2014/main" id="{B13C1CEA-348E-01F0-EDDD-562367A0A64F}"/>
              </a:ext>
            </a:extLst>
          </p:cNvPr>
          <p:cNvPicPr>
            <a:picLocks noChangeAspect="1"/>
          </p:cNvPicPr>
          <p:nvPr/>
        </p:nvPicPr>
        <p:blipFill rotWithShape="1">
          <a:blip r:embed="rId3"/>
          <a:srcRect l="6848" t="36322" r="32500" b="39486"/>
          <a:stretch/>
        </p:blipFill>
        <p:spPr>
          <a:xfrm>
            <a:off x="1805608" y="2823863"/>
            <a:ext cx="8580783" cy="1971768"/>
          </a:xfrm>
          <a:prstGeom prst="rect">
            <a:avLst/>
          </a:prstGeom>
        </p:spPr>
      </p:pic>
    </p:spTree>
    <p:extLst>
      <p:ext uri="{BB962C8B-B14F-4D97-AF65-F5344CB8AC3E}">
        <p14:creationId xmlns:p14="http://schemas.microsoft.com/office/powerpoint/2010/main" val="41089980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EXTENSIÓN DE LA SUMA</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7" name="CuadroTexto 6">
            <a:extLst>
              <a:ext uri="{FF2B5EF4-FFF2-40B4-BE49-F238E27FC236}">
                <a16:creationId xmlns:a16="http://schemas.microsoft.com/office/drawing/2014/main" id="{81FD0DD9-AFFA-A5CD-EEE2-9F0FDD48B2CF}"/>
              </a:ext>
            </a:extLst>
          </p:cNvPr>
          <p:cNvSpPr txBox="1"/>
          <p:nvPr/>
        </p:nvSpPr>
        <p:spPr>
          <a:xfrm>
            <a:off x="1311387" y="1785241"/>
            <a:ext cx="9143999" cy="1200329"/>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Ejemplo: </a:t>
            </a:r>
            <a:r>
              <a:rPr lang="es-ES" dirty="0">
                <a:latin typeface="Verdana" panose="020B0604030504040204" pitchFamily="34" charset="0"/>
                <a:ea typeface="Verdana" panose="020B0604030504040204" pitchFamily="34" charset="0"/>
                <a:cs typeface="Verdana" panose="020B0604030504040204" pitchFamily="34" charset="0"/>
              </a:rPr>
              <a:t>Un instructor de ciencias de la computación que tiene 5 libros de nivel introductorio acerca de ASP, BASIC, FORTRAN y PASCAL, puede recomendar cualquiera de estos 20 libros a un estudiante interesado en aprender un primer lenguaje de programación. </a:t>
            </a:r>
          </a:p>
        </p:txBody>
      </p:sp>
      <p:sp>
        <p:nvSpPr>
          <p:cNvPr id="2" name="CuadroTexto 1">
            <a:extLst>
              <a:ext uri="{FF2B5EF4-FFF2-40B4-BE49-F238E27FC236}">
                <a16:creationId xmlns:a16="http://schemas.microsoft.com/office/drawing/2014/main" id="{CAE59B57-BA10-8DE8-B48B-55618896CF6D}"/>
              </a:ext>
            </a:extLst>
          </p:cNvPr>
          <p:cNvSpPr txBox="1"/>
          <p:nvPr/>
        </p:nvSpPr>
        <p:spPr>
          <a:xfrm>
            <a:off x="1311387" y="3501918"/>
            <a:ext cx="9143999" cy="646331"/>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Solución. </a:t>
            </a:r>
          </a:p>
          <a:p>
            <a:pPr algn="just"/>
            <a:r>
              <a:rPr lang="es-ES" dirty="0">
                <a:latin typeface="Verdana" panose="020B0604030504040204" pitchFamily="34" charset="0"/>
                <a:ea typeface="Verdana" panose="020B0604030504040204" pitchFamily="34" charset="0"/>
                <a:cs typeface="Verdana" panose="020B0604030504040204" pitchFamily="34" charset="0"/>
              </a:rPr>
              <a:t>Por la regla de la suma 5 + 5 + 5 + 5 = 20 </a:t>
            </a:r>
            <a:endParaRPr lang="es-CO"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8113235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EXTENSIÓN DE LA SUMA</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9" name="CuadroTexto 8">
            <a:extLst>
              <a:ext uri="{FF2B5EF4-FFF2-40B4-BE49-F238E27FC236}">
                <a16:creationId xmlns:a16="http://schemas.microsoft.com/office/drawing/2014/main" id="{31F2CC57-E991-4CCB-C0C0-BB1737706EC6}"/>
              </a:ext>
            </a:extLst>
          </p:cNvPr>
          <p:cNvSpPr txBox="1"/>
          <p:nvPr/>
        </p:nvSpPr>
        <p:spPr>
          <a:xfrm>
            <a:off x="1404731" y="1826818"/>
            <a:ext cx="9143999" cy="923330"/>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Ejemplo: </a:t>
            </a:r>
            <a:r>
              <a:rPr lang="es-ES" dirty="0">
                <a:latin typeface="Verdana" panose="020B0604030504040204" pitchFamily="34" charset="0"/>
                <a:ea typeface="Verdana" panose="020B0604030504040204" pitchFamily="34" charset="0"/>
                <a:cs typeface="Verdana" panose="020B0604030504040204" pitchFamily="34" charset="0"/>
              </a:rPr>
              <a:t>Un estudiante puede escoger un proyecto de computación de una de 3 listas donde las 3 listas contienen 23, 15 y 19 proyectos posibles respectivamente. ¿Cuántos posibles proyectos hay para escogerse?</a:t>
            </a:r>
          </a:p>
        </p:txBody>
      </p:sp>
      <p:sp>
        <p:nvSpPr>
          <p:cNvPr id="2" name="CuadroTexto 1">
            <a:extLst>
              <a:ext uri="{FF2B5EF4-FFF2-40B4-BE49-F238E27FC236}">
                <a16:creationId xmlns:a16="http://schemas.microsoft.com/office/drawing/2014/main" id="{BF01EC6D-A824-2475-01CD-EEEDCC29E4FE}"/>
              </a:ext>
            </a:extLst>
          </p:cNvPr>
          <p:cNvSpPr txBox="1"/>
          <p:nvPr/>
        </p:nvSpPr>
        <p:spPr>
          <a:xfrm>
            <a:off x="1404731" y="3356309"/>
            <a:ext cx="9143999" cy="923330"/>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Solución. </a:t>
            </a:r>
            <a:r>
              <a:rPr lang="es-ES" dirty="0">
                <a:latin typeface="Verdana" panose="020B0604030504040204" pitchFamily="34" charset="0"/>
                <a:ea typeface="Verdana" panose="020B0604030504040204" pitchFamily="34" charset="0"/>
                <a:cs typeface="Verdana" panose="020B0604030504040204" pitchFamily="34" charset="0"/>
              </a:rPr>
              <a:t>De la primera lista se puede elegir 23 formas distintas de trabajo. De la segunda lista puede elegir 15 formas de trabajo y de la tercera lista puede elegir 19 formas de trabajo.</a:t>
            </a:r>
          </a:p>
        </p:txBody>
      </p:sp>
      <p:sp>
        <p:nvSpPr>
          <p:cNvPr id="8" name="CuadroTexto 7">
            <a:extLst>
              <a:ext uri="{FF2B5EF4-FFF2-40B4-BE49-F238E27FC236}">
                <a16:creationId xmlns:a16="http://schemas.microsoft.com/office/drawing/2014/main" id="{68D21A5D-CE7E-92D0-604B-BE9B5EB5DD20}"/>
              </a:ext>
            </a:extLst>
          </p:cNvPr>
          <p:cNvSpPr txBox="1"/>
          <p:nvPr/>
        </p:nvSpPr>
        <p:spPr>
          <a:xfrm>
            <a:off x="1404731" y="4551818"/>
            <a:ext cx="9143999" cy="646331"/>
          </a:xfrm>
          <a:prstGeom prst="rect">
            <a:avLst/>
          </a:prstGeom>
          <a:noFill/>
        </p:spPr>
        <p:txBody>
          <a:bodyPr wrap="square" rtlCol="0">
            <a:spAutoFit/>
          </a:bodyPr>
          <a:lstStyle/>
          <a:p>
            <a:pPr algn="just"/>
            <a:r>
              <a:rPr lang="es-ES" dirty="0">
                <a:latin typeface="Verdana" panose="020B0604030504040204" pitchFamily="34" charset="0"/>
                <a:ea typeface="Verdana" panose="020B0604030504040204" pitchFamily="34" charset="0"/>
                <a:cs typeface="Verdana" panose="020B0604030504040204" pitchFamily="34" charset="0"/>
              </a:rPr>
              <a:t>De acuerdo con la regla de la suma existe 23 + 15 + 19 = 57 proyectos posibles a elegir.</a:t>
            </a:r>
          </a:p>
        </p:txBody>
      </p:sp>
    </p:spTree>
    <p:extLst>
      <p:ext uri="{BB962C8B-B14F-4D97-AF65-F5344CB8AC3E}">
        <p14:creationId xmlns:p14="http://schemas.microsoft.com/office/powerpoint/2010/main" val="2842742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2"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269A2515-6534-9DF8-FD92-257B45E64BB0}"/>
              </a:ext>
            </a:extLst>
          </p:cNvPr>
          <p:cNvSpPr txBox="1"/>
          <p:nvPr/>
        </p:nvSpPr>
        <p:spPr>
          <a:xfrm>
            <a:off x="1524000" y="1630194"/>
            <a:ext cx="9144001" cy="1200329"/>
          </a:xfrm>
          <a:prstGeom prst="rect">
            <a:avLst/>
          </a:prstGeom>
          <a:noFill/>
        </p:spPr>
        <p:txBody>
          <a:bodyPr wrap="square" rtlCol="0">
            <a:spAutoFit/>
          </a:bodyPr>
          <a:lstStyle/>
          <a:p>
            <a:pPr algn="just"/>
            <a:r>
              <a:rPr lang="es-ES" dirty="0">
                <a:latin typeface="Verdana" panose="020B0604030504040204" pitchFamily="34" charset="0"/>
                <a:ea typeface="Verdana" panose="020B0604030504040204" pitchFamily="34" charset="0"/>
                <a:cs typeface="Verdana" panose="020B0604030504040204" pitchFamily="34" charset="0"/>
              </a:rPr>
              <a:t>Suponga que un procedimiento puede ser dividido en dos tareas. Si hay n</a:t>
            </a:r>
            <a:r>
              <a:rPr lang="es-ES" baseline="-25000" dirty="0">
                <a:latin typeface="Verdana" panose="020B0604030504040204" pitchFamily="34" charset="0"/>
                <a:ea typeface="Verdana" panose="020B0604030504040204" pitchFamily="34" charset="0"/>
                <a:cs typeface="Verdana" panose="020B0604030504040204" pitchFamily="34" charset="0"/>
              </a:rPr>
              <a:t>1</a:t>
            </a:r>
            <a:r>
              <a:rPr lang="es-ES" dirty="0">
                <a:latin typeface="Verdana" panose="020B0604030504040204" pitchFamily="34" charset="0"/>
                <a:ea typeface="Verdana" panose="020B0604030504040204" pitchFamily="34" charset="0"/>
                <a:cs typeface="Verdana" panose="020B0604030504040204" pitchFamily="34" charset="0"/>
              </a:rPr>
              <a:t> formas de resolver la primera tarea y n</a:t>
            </a:r>
            <a:r>
              <a:rPr lang="es-ES" baseline="-25000" dirty="0">
                <a:latin typeface="Verdana" panose="020B0604030504040204" pitchFamily="34" charset="0"/>
                <a:ea typeface="Verdana" panose="020B0604030504040204" pitchFamily="34" charset="0"/>
                <a:cs typeface="Verdana" panose="020B0604030504040204" pitchFamily="34" charset="0"/>
              </a:rPr>
              <a:t>2</a:t>
            </a:r>
            <a:r>
              <a:rPr lang="es-ES" dirty="0">
                <a:latin typeface="Verdana" panose="020B0604030504040204" pitchFamily="34" charset="0"/>
                <a:ea typeface="Verdana" panose="020B0604030504040204" pitchFamily="34" charset="0"/>
                <a:cs typeface="Verdana" panose="020B0604030504040204" pitchFamily="34" charset="0"/>
              </a:rPr>
              <a:t> formas de resolver la segunda tarea después de que la primera tarea ha sido resuelta, entonces hay n</a:t>
            </a:r>
            <a:r>
              <a:rPr lang="es-ES" baseline="-25000" dirty="0">
                <a:latin typeface="Verdana" panose="020B0604030504040204" pitchFamily="34" charset="0"/>
                <a:ea typeface="Verdana" panose="020B0604030504040204" pitchFamily="34" charset="0"/>
                <a:cs typeface="Verdana" panose="020B0604030504040204" pitchFamily="34" charset="0"/>
              </a:rPr>
              <a:t>1</a:t>
            </a:r>
            <a:r>
              <a:rPr lang="es-ES" dirty="0">
                <a:latin typeface="Verdana" panose="020B0604030504040204" pitchFamily="34" charset="0"/>
                <a:ea typeface="Verdana" panose="020B0604030504040204" pitchFamily="34" charset="0"/>
                <a:cs typeface="Verdana" panose="020B0604030504040204" pitchFamily="34" charset="0"/>
              </a:rPr>
              <a:t>.n</a:t>
            </a:r>
            <a:r>
              <a:rPr lang="es-ES" baseline="-25000" dirty="0">
                <a:latin typeface="Verdana" panose="020B0604030504040204" pitchFamily="34" charset="0"/>
                <a:ea typeface="Verdana" panose="020B0604030504040204" pitchFamily="34" charset="0"/>
                <a:cs typeface="Verdana" panose="020B0604030504040204" pitchFamily="34" charset="0"/>
              </a:rPr>
              <a:t>2</a:t>
            </a:r>
            <a:r>
              <a:rPr lang="es-ES" dirty="0">
                <a:latin typeface="Verdana" panose="020B0604030504040204" pitchFamily="34" charset="0"/>
                <a:ea typeface="Verdana" panose="020B0604030504040204" pitchFamily="34" charset="0"/>
                <a:cs typeface="Verdana" panose="020B0604030504040204" pitchFamily="34" charset="0"/>
              </a:rPr>
              <a:t> formas de resolver el procedimiento. </a:t>
            </a:r>
          </a:p>
        </p:txBody>
      </p:sp>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REGLA DEL PRODUCTO</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pic>
        <p:nvPicPr>
          <p:cNvPr id="2" name="Imagen 1">
            <a:extLst>
              <a:ext uri="{FF2B5EF4-FFF2-40B4-BE49-F238E27FC236}">
                <a16:creationId xmlns:a16="http://schemas.microsoft.com/office/drawing/2014/main" id="{44E86958-824A-601F-3950-65FC4CE7ED53}"/>
              </a:ext>
            </a:extLst>
          </p:cNvPr>
          <p:cNvPicPr>
            <a:picLocks noChangeAspect="1"/>
          </p:cNvPicPr>
          <p:nvPr/>
        </p:nvPicPr>
        <p:blipFill rotWithShape="1">
          <a:blip r:embed="rId3"/>
          <a:srcRect l="9502" t="43598" r="9530" b="32457"/>
          <a:stretch/>
        </p:blipFill>
        <p:spPr bwMode="auto">
          <a:xfrm>
            <a:off x="1536673" y="3429000"/>
            <a:ext cx="8918713" cy="1676015"/>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6936619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REGLA DEL PRODUCTO</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7" name="CuadroTexto 6">
            <a:extLst>
              <a:ext uri="{FF2B5EF4-FFF2-40B4-BE49-F238E27FC236}">
                <a16:creationId xmlns:a16="http://schemas.microsoft.com/office/drawing/2014/main" id="{81FD0DD9-AFFA-A5CD-EEE2-9F0FDD48B2CF}"/>
              </a:ext>
            </a:extLst>
          </p:cNvPr>
          <p:cNvSpPr txBox="1"/>
          <p:nvPr/>
        </p:nvSpPr>
        <p:spPr>
          <a:xfrm>
            <a:off x="1523999" y="1785241"/>
            <a:ext cx="9143999" cy="1200329"/>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Ejemplo: </a:t>
            </a:r>
            <a:r>
              <a:rPr lang="es-ES" dirty="0">
                <a:latin typeface="Verdana" panose="020B0604030504040204" pitchFamily="34" charset="0"/>
                <a:ea typeface="Verdana" panose="020B0604030504040204" pitchFamily="34" charset="0"/>
                <a:cs typeface="Verdana" panose="020B0604030504040204" pitchFamily="34" charset="0"/>
              </a:rPr>
              <a:t>El club de teatro de la universidad central realiza ensayos para una obra que se montará en primavera. Si 6 hombres y 8 mujeres ensayan para los papeles principales (masculino y femenino), por la regla del producto, el director puede elegir a la pareja principal de 6 x 8 = 48 formas</a:t>
            </a:r>
            <a:endParaRPr lang="es-CO" dirty="0">
              <a:latin typeface="Verdana" panose="020B0604030504040204" pitchFamily="34" charset="0"/>
              <a:ea typeface="Verdana" panose="020B0604030504040204" pitchFamily="34" charset="0"/>
              <a:cs typeface="Verdana" panose="020B0604030504040204" pitchFamily="34" charset="0"/>
            </a:endParaRPr>
          </a:p>
        </p:txBody>
      </p:sp>
      <p:sp>
        <p:nvSpPr>
          <p:cNvPr id="9" name="CuadroTexto 8">
            <a:extLst>
              <a:ext uri="{FF2B5EF4-FFF2-40B4-BE49-F238E27FC236}">
                <a16:creationId xmlns:a16="http://schemas.microsoft.com/office/drawing/2014/main" id="{31F2CC57-E991-4CCB-C0C0-BB1737706EC6}"/>
              </a:ext>
            </a:extLst>
          </p:cNvPr>
          <p:cNvSpPr txBox="1"/>
          <p:nvPr/>
        </p:nvSpPr>
        <p:spPr>
          <a:xfrm>
            <a:off x="1523998" y="3724235"/>
            <a:ext cx="9143999" cy="923330"/>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Ejemplo:</a:t>
            </a:r>
            <a:r>
              <a:rPr lang="es-ES" dirty="0">
                <a:latin typeface="Verdana" panose="020B0604030504040204" pitchFamily="34" charset="0"/>
                <a:ea typeface="Verdana" panose="020B0604030504040204" pitchFamily="34" charset="0"/>
                <a:cs typeface="Verdana" panose="020B0604030504040204" pitchFamily="34" charset="0"/>
              </a:rPr>
              <a:t> Las sillas de un auditorio han sido etiquetadas con una letra y un entero positivo que no excede el 100. ¿Cuál es el mayor número de sillas que pueden ser etiquetadas de forma distinta usando el alfabeto inglés?</a:t>
            </a:r>
          </a:p>
        </p:txBody>
      </p:sp>
      <p:sp>
        <p:nvSpPr>
          <p:cNvPr id="2" name="CuadroTexto 1">
            <a:extLst>
              <a:ext uri="{FF2B5EF4-FFF2-40B4-BE49-F238E27FC236}">
                <a16:creationId xmlns:a16="http://schemas.microsoft.com/office/drawing/2014/main" id="{46C801E0-134D-B3FD-B5D5-55E366B18231}"/>
              </a:ext>
            </a:extLst>
          </p:cNvPr>
          <p:cNvSpPr txBox="1"/>
          <p:nvPr/>
        </p:nvSpPr>
        <p:spPr>
          <a:xfrm>
            <a:off x="1523997" y="4924565"/>
            <a:ext cx="9143999" cy="923330"/>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Solución. Se identifica las dos tareas T1 </a:t>
            </a:r>
            <a:r>
              <a:rPr lang="es-ES" dirty="0">
                <a:latin typeface="Verdana" panose="020B0604030504040204" pitchFamily="34" charset="0"/>
                <a:ea typeface="Verdana" panose="020B0604030504040204" pitchFamily="34" charset="0"/>
                <a:cs typeface="Verdana" panose="020B0604030504040204" pitchFamily="34" charset="0"/>
              </a:rPr>
              <a:t>: etiquetar sillas y T2: un número entero positivo menor o igual que 100.</a:t>
            </a:r>
          </a:p>
          <a:p>
            <a:pPr algn="just"/>
            <a:r>
              <a:rPr lang="es-ES" b="1" dirty="0">
                <a:latin typeface="Verdana" panose="020B0604030504040204" pitchFamily="34" charset="0"/>
                <a:ea typeface="Verdana" panose="020B0604030504040204" pitchFamily="34" charset="0"/>
                <a:cs typeface="Verdana" panose="020B0604030504040204" pitchFamily="34" charset="0"/>
              </a:rPr>
              <a:t>26 * 100 = 2600 etiquetas diferentes</a:t>
            </a:r>
          </a:p>
        </p:txBody>
      </p:sp>
    </p:spTree>
    <p:extLst>
      <p:ext uri="{BB962C8B-B14F-4D97-AF65-F5344CB8AC3E}">
        <p14:creationId xmlns:p14="http://schemas.microsoft.com/office/powerpoint/2010/main" val="4030799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500" fill="hold"/>
                                        <p:tgtEl>
                                          <p:spTgt spid="9"/>
                                        </p:tgtEl>
                                        <p:attrNameLst>
                                          <p:attrName>ppt_x</p:attrName>
                                        </p:attrNameLst>
                                      </p:cBhvr>
                                      <p:tavLst>
                                        <p:tav tm="0">
                                          <p:val>
                                            <p:strVal val="#ppt_x"/>
                                          </p:val>
                                        </p:tav>
                                        <p:tav tm="100000">
                                          <p:val>
                                            <p:strVal val="#ppt_x"/>
                                          </p:val>
                                        </p:tav>
                                      </p:tavLst>
                                    </p:anim>
                                    <p:anim calcmode="lin" valueType="num">
                                      <p:cBhvr additive="base">
                                        <p:cTn id="14"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2"/>
                                        </p:tgtEl>
                                        <p:attrNameLst>
                                          <p:attrName>style.visibility</p:attrName>
                                        </p:attrNameLst>
                                      </p:cBhvr>
                                      <p:to>
                                        <p:strVal val="visible"/>
                                      </p:to>
                                    </p:set>
                                    <p:anim calcmode="lin" valueType="num">
                                      <p:cBhvr additive="base">
                                        <p:cTn id="19" dur="500" fill="hold"/>
                                        <p:tgtEl>
                                          <p:spTgt spid="2"/>
                                        </p:tgtEl>
                                        <p:attrNameLst>
                                          <p:attrName>ppt_x</p:attrName>
                                        </p:attrNameLst>
                                      </p:cBhvr>
                                      <p:tavLst>
                                        <p:tav tm="0">
                                          <p:val>
                                            <p:strVal val="#ppt_x"/>
                                          </p:val>
                                        </p:tav>
                                        <p:tav tm="100000">
                                          <p:val>
                                            <p:strVal val="#ppt_x"/>
                                          </p:val>
                                        </p:tav>
                                      </p:tavLst>
                                    </p:anim>
                                    <p:anim calcmode="lin" valueType="num">
                                      <p:cBhvr additive="base">
                                        <p:cTn id="20"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269A2515-6534-9DF8-FD92-257B45E64BB0}"/>
              </a:ext>
            </a:extLst>
          </p:cNvPr>
          <p:cNvSpPr txBox="1"/>
          <p:nvPr/>
        </p:nvSpPr>
        <p:spPr>
          <a:xfrm>
            <a:off x="1524000" y="1324421"/>
            <a:ext cx="9144001" cy="646331"/>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Ejemplo: </a:t>
            </a:r>
            <a:r>
              <a:rPr lang="es-ES" dirty="0">
                <a:latin typeface="Verdana" panose="020B0604030504040204" pitchFamily="34" charset="0"/>
                <a:ea typeface="Verdana" panose="020B0604030504040204" pitchFamily="34" charset="0"/>
                <a:cs typeface="Verdana" panose="020B0604030504040204" pitchFamily="34" charset="0"/>
              </a:rPr>
              <a:t>En un centro de cómputo hay 32 microcomputadores. Cada uno tiene 24 puertos. ¿Cuántos puertos diferentes hay en el centro de cómputo? </a:t>
            </a:r>
          </a:p>
        </p:txBody>
      </p:sp>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REGLA DEL PRODUCTO</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7" name="CuadroTexto 6">
            <a:extLst>
              <a:ext uri="{FF2B5EF4-FFF2-40B4-BE49-F238E27FC236}">
                <a16:creationId xmlns:a16="http://schemas.microsoft.com/office/drawing/2014/main" id="{81FD0DD9-AFFA-A5CD-EEE2-9F0FDD48B2CF}"/>
              </a:ext>
            </a:extLst>
          </p:cNvPr>
          <p:cNvSpPr txBox="1"/>
          <p:nvPr/>
        </p:nvSpPr>
        <p:spPr>
          <a:xfrm>
            <a:off x="1524000" y="3354902"/>
            <a:ext cx="9143999" cy="646331"/>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Ejemplo: </a:t>
            </a:r>
            <a:r>
              <a:rPr lang="es-ES" dirty="0">
                <a:latin typeface="Verdana" panose="020B0604030504040204" pitchFamily="34" charset="0"/>
                <a:ea typeface="Verdana" panose="020B0604030504040204" pitchFamily="34" charset="0"/>
                <a:cs typeface="Verdana" panose="020B0604030504040204" pitchFamily="34" charset="0"/>
              </a:rPr>
              <a:t>¿Cuántas cadenas de longitud 4 pueden formarse mediante las letras ABCDE si no se permiten repeticiones?</a:t>
            </a:r>
            <a:endParaRPr lang="es-CO" dirty="0">
              <a:latin typeface="Verdana" panose="020B0604030504040204" pitchFamily="34" charset="0"/>
              <a:ea typeface="Verdana" panose="020B0604030504040204" pitchFamily="34" charset="0"/>
              <a:cs typeface="Verdana" panose="020B0604030504040204" pitchFamily="34" charset="0"/>
            </a:endParaRPr>
          </a:p>
        </p:txBody>
      </p:sp>
      <p:sp>
        <p:nvSpPr>
          <p:cNvPr id="9" name="CuadroTexto 8">
            <a:extLst>
              <a:ext uri="{FF2B5EF4-FFF2-40B4-BE49-F238E27FC236}">
                <a16:creationId xmlns:a16="http://schemas.microsoft.com/office/drawing/2014/main" id="{31F2CC57-E991-4CCB-C0C0-BB1737706EC6}"/>
              </a:ext>
            </a:extLst>
          </p:cNvPr>
          <p:cNvSpPr txBox="1"/>
          <p:nvPr/>
        </p:nvSpPr>
        <p:spPr>
          <a:xfrm>
            <a:off x="1524000" y="4923718"/>
            <a:ext cx="9143999" cy="923330"/>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Ejemplo: </a:t>
            </a:r>
            <a:r>
              <a:rPr lang="es-ES" dirty="0">
                <a:latin typeface="Verdana" panose="020B0604030504040204" pitchFamily="34" charset="0"/>
                <a:ea typeface="Verdana" panose="020B0604030504040204" pitchFamily="34" charset="0"/>
                <a:cs typeface="Verdana" panose="020B0604030504040204" pitchFamily="34" charset="0"/>
              </a:rPr>
              <a:t>En una imagen digital queremos codificar la cantidad de luz en cada punto como una cadena de 8 bits. ¿Cuántos valores son posibles en cada punto? </a:t>
            </a:r>
          </a:p>
        </p:txBody>
      </p:sp>
      <p:sp>
        <p:nvSpPr>
          <p:cNvPr id="2" name="CuadroTexto 1">
            <a:extLst>
              <a:ext uri="{FF2B5EF4-FFF2-40B4-BE49-F238E27FC236}">
                <a16:creationId xmlns:a16="http://schemas.microsoft.com/office/drawing/2014/main" id="{A1C5C10C-8419-E5C8-87CD-56109CF30D91}"/>
              </a:ext>
            </a:extLst>
          </p:cNvPr>
          <p:cNvSpPr txBox="1"/>
          <p:nvPr/>
        </p:nvSpPr>
        <p:spPr>
          <a:xfrm>
            <a:off x="5247858" y="4237756"/>
            <a:ext cx="9143999" cy="646331"/>
          </a:xfrm>
          <a:prstGeom prst="rect">
            <a:avLst/>
          </a:prstGeom>
          <a:noFill/>
        </p:spPr>
        <p:txBody>
          <a:bodyPr wrap="square" rtlCol="0">
            <a:spAutoFit/>
          </a:bodyPr>
          <a:lstStyle/>
          <a:p>
            <a:pPr algn="just"/>
            <a:r>
              <a:rPr lang="es-MX" dirty="0">
                <a:latin typeface="Verdana" panose="020B0604030504040204" pitchFamily="34" charset="0"/>
                <a:ea typeface="Verdana" panose="020B0604030504040204" pitchFamily="34" charset="0"/>
                <a:cs typeface="Verdana" panose="020B0604030504040204" pitchFamily="34" charset="0"/>
              </a:rPr>
              <a:t>5*4*3*2 = 120</a:t>
            </a:r>
          </a:p>
          <a:p>
            <a:pPr algn="just"/>
            <a:endParaRPr lang="es-CO" dirty="0">
              <a:latin typeface="Verdana" panose="020B0604030504040204" pitchFamily="34" charset="0"/>
              <a:ea typeface="Verdana" panose="020B0604030504040204" pitchFamily="34" charset="0"/>
              <a:cs typeface="Verdana" panose="020B0604030504040204" pitchFamily="34" charset="0"/>
            </a:endParaRPr>
          </a:p>
        </p:txBody>
      </p:sp>
      <p:sp>
        <p:nvSpPr>
          <p:cNvPr id="8" name="CuadroTexto 7">
            <a:extLst>
              <a:ext uri="{FF2B5EF4-FFF2-40B4-BE49-F238E27FC236}">
                <a16:creationId xmlns:a16="http://schemas.microsoft.com/office/drawing/2014/main" id="{E0401242-91EE-6E6D-4D3A-395C5201B9AA}"/>
              </a:ext>
            </a:extLst>
          </p:cNvPr>
          <p:cNvSpPr txBox="1"/>
          <p:nvPr/>
        </p:nvSpPr>
        <p:spPr>
          <a:xfrm>
            <a:off x="1523999" y="2220555"/>
            <a:ext cx="9143999" cy="1200329"/>
          </a:xfrm>
          <a:prstGeom prst="rect">
            <a:avLst/>
          </a:prstGeom>
          <a:noFill/>
        </p:spPr>
        <p:txBody>
          <a:bodyPr wrap="square" rtlCol="0">
            <a:spAutoFit/>
          </a:bodyPr>
          <a:lstStyle/>
          <a:p>
            <a:pPr algn="just"/>
            <a:r>
              <a:rPr lang="es-MX" dirty="0">
                <a:latin typeface="Verdana" panose="020B0604030504040204" pitchFamily="34" charset="0"/>
                <a:ea typeface="Verdana" panose="020B0604030504040204" pitchFamily="34" charset="0"/>
                <a:cs typeface="Verdana" panose="020B0604030504040204" pitchFamily="34" charset="0"/>
              </a:rPr>
              <a:t>T1= Selecciona un microcomputador</a:t>
            </a:r>
          </a:p>
          <a:p>
            <a:pPr algn="just"/>
            <a:r>
              <a:rPr lang="es-MX" dirty="0">
                <a:latin typeface="Verdana" panose="020B0604030504040204" pitchFamily="34" charset="0"/>
                <a:ea typeface="Verdana" panose="020B0604030504040204" pitchFamily="34" charset="0"/>
                <a:cs typeface="Verdana" panose="020B0604030504040204" pitchFamily="34" charset="0"/>
              </a:rPr>
              <a:t>T2 = selecciona un puerto </a:t>
            </a:r>
          </a:p>
          <a:p>
            <a:pPr algn="just"/>
            <a:r>
              <a:rPr lang="es-MX" dirty="0">
                <a:latin typeface="Verdana" panose="020B0604030504040204" pitchFamily="34" charset="0"/>
                <a:ea typeface="Verdana" panose="020B0604030504040204" pitchFamily="34" charset="0"/>
                <a:cs typeface="Verdana" panose="020B0604030504040204" pitchFamily="34" charset="0"/>
              </a:rPr>
              <a:t>32 * 24 = 768 puertos</a:t>
            </a:r>
          </a:p>
          <a:p>
            <a:pPr algn="just"/>
            <a:endParaRPr lang="es-CO"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36670782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500" fill="hold"/>
                                        <p:tgtEl>
                                          <p:spTgt spid="8"/>
                                        </p:tgtEl>
                                        <p:attrNameLst>
                                          <p:attrName>ppt_x</p:attrName>
                                        </p:attrNameLst>
                                      </p:cBhvr>
                                      <p:tavLst>
                                        <p:tav tm="0">
                                          <p:val>
                                            <p:strVal val="#ppt_x"/>
                                          </p:val>
                                        </p:tav>
                                        <p:tav tm="100000">
                                          <p:val>
                                            <p:strVal val="#ppt_x"/>
                                          </p:val>
                                        </p:tav>
                                      </p:tavLst>
                                    </p:anim>
                                    <p:anim calcmode="lin" valueType="num">
                                      <p:cBhvr additive="base">
                                        <p:cTn id="14"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ppt_x</p:attrName>
                                        </p:attrNameLst>
                                      </p:cBhvr>
                                      <p:tavLst>
                                        <p:tav tm="0">
                                          <p:val>
                                            <p:strVal val="#ppt_x"/>
                                          </p:val>
                                        </p:tav>
                                        <p:tav tm="100000">
                                          <p:val>
                                            <p:strVal val="#ppt_x"/>
                                          </p:val>
                                        </p:tav>
                                      </p:tavLst>
                                    </p:anim>
                                    <p:anim calcmode="lin" valueType="num">
                                      <p:cBhvr additive="base">
                                        <p:cTn id="2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2"/>
                                        </p:tgtEl>
                                        <p:attrNameLst>
                                          <p:attrName>style.visibility</p:attrName>
                                        </p:attrNameLst>
                                      </p:cBhvr>
                                      <p:to>
                                        <p:strVal val="visible"/>
                                      </p:to>
                                    </p:set>
                                    <p:anim calcmode="lin" valueType="num">
                                      <p:cBhvr additive="base">
                                        <p:cTn id="25" dur="500" fill="hold"/>
                                        <p:tgtEl>
                                          <p:spTgt spid="2"/>
                                        </p:tgtEl>
                                        <p:attrNameLst>
                                          <p:attrName>ppt_x</p:attrName>
                                        </p:attrNameLst>
                                      </p:cBhvr>
                                      <p:tavLst>
                                        <p:tav tm="0">
                                          <p:val>
                                            <p:strVal val="#ppt_x"/>
                                          </p:val>
                                        </p:tav>
                                        <p:tav tm="100000">
                                          <p:val>
                                            <p:strVal val="#ppt_x"/>
                                          </p:val>
                                        </p:tav>
                                      </p:tavLst>
                                    </p:anim>
                                    <p:anim calcmode="lin" valueType="num">
                                      <p:cBhvr additive="base">
                                        <p:cTn id="26"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ppt_x</p:attrName>
                                        </p:attrNameLst>
                                      </p:cBhvr>
                                      <p:tavLst>
                                        <p:tav tm="0">
                                          <p:val>
                                            <p:strVal val="#ppt_x"/>
                                          </p:val>
                                        </p:tav>
                                        <p:tav tm="100000">
                                          <p:val>
                                            <p:strVal val="#ppt_x"/>
                                          </p:val>
                                        </p:tav>
                                      </p:tavLst>
                                    </p:anim>
                                    <p:anim calcmode="lin" valueType="num">
                                      <p:cBhvr additive="base">
                                        <p:cTn id="32"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P spid="9" grpId="0"/>
      <p:bldP spid="2"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REGLA DEL PRODUCTO</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9" name="CuadroTexto 8">
            <a:extLst>
              <a:ext uri="{FF2B5EF4-FFF2-40B4-BE49-F238E27FC236}">
                <a16:creationId xmlns:a16="http://schemas.microsoft.com/office/drawing/2014/main" id="{31F2CC57-E991-4CCB-C0C0-BB1737706EC6}"/>
              </a:ext>
            </a:extLst>
          </p:cNvPr>
          <p:cNvSpPr txBox="1"/>
          <p:nvPr/>
        </p:nvSpPr>
        <p:spPr>
          <a:xfrm>
            <a:off x="1524001" y="1696914"/>
            <a:ext cx="9143999" cy="923330"/>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Ejemplo: </a:t>
            </a:r>
            <a:r>
              <a:rPr lang="es-ES" dirty="0">
                <a:latin typeface="Verdana" panose="020B0604030504040204" pitchFamily="34" charset="0"/>
                <a:ea typeface="Verdana" panose="020B0604030504040204" pitchFamily="34" charset="0"/>
                <a:cs typeface="Verdana" panose="020B0604030504040204" pitchFamily="34" charset="0"/>
              </a:rPr>
              <a:t>En una imagen digital queremos codificar la cantidad de luz en cada punto como una cadena de 8 bits. ¿Cuántos valores son posibles en cada punto? </a:t>
            </a:r>
          </a:p>
        </p:txBody>
      </p:sp>
      <p:sp>
        <p:nvSpPr>
          <p:cNvPr id="2" name="CuadroTexto 1">
            <a:extLst>
              <a:ext uri="{FF2B5EF4-FFF2-40B4-BE49-F238E27FC236}">
                <a16:creationId xmlns:a16="http://schemas.microsoft.com/office/drawing/2014/main" id="{A1C5C10C-8419-E5C8-87CD-56109CF30D91}"/>
              </a:ext>
            </a:extLst>
          </p:cNvPr>
          <p:cNvSpPr txBox="1"/>
          <p:nvPr/>
        </p:nvSpPr>
        <p:spPr>
          <a:xfrm>
            <a:off x="1524000" y="3627896"/>
            <a:ext cx="9143999" cy="923330"/>
          </a:xfrm>
          <a:prstGeom prst="rect">
            <a:avLst/>
          </a:prstGeom>
          <a:noFill/>
        </p:spPr>
        <p:txBody>
          <a:bodyPr wrap="square" rtlCol="0">
            <a:spAutoFit/>
          </a:bodyPr>
          <a:lstStyle/>
          <a:p>
            <a:pPr algn="just"/>
            <a:r>
              <a:rPr lang="es-MX" b="1" dirty="0">
                <a:latin typeface="Verdana" panose="020B0604030504040204" pitchFamily="34" charset="0"/>
                <a:ea typeface="Verdana" panose="020B0604030504040204" pitchFamily="34" charset="0"/>
                <a:cs typeface="Verdana" panose="020B0604030504040204" pitchFamily="34" charset="0"/>
              </a:rPr>
              <a:t>Solución. </a:t>
            </a:r>
          </a:p>
          <a:p>
            <a:pPr algn="just"/>
            <a:r>
              <a:rPr lang="es-MX" dirty="0">
                <a:latin typeface="Verdana" panose="020B0604030504040204" pitchFamily="34" charset="0"/>
                <a:ea typeface="Verdana" panose="020B0604030504040204" pitchFamily="34" charset="0"/>
                <a:cs typeface="Verdana" panose="020B0604030504040204" pitchFamily="34" charset="0"/>
              </a:rPr>
              <a:t>	</a:t>
            </a:r>
          </a:p>
          <a:p>
            <a:pPr algn="just"/>
            <a:r>
              <a:rPr lang="es-MX" dirty="0">
                <a:latin typeface="Verdana" panose="020B0604030504040204" pitchFamily="34" charset="0"/>
                <a:ea typeface="Verdana" panose="020B0604030504040204" pitchFamily="34" charset="0"/>
                <a:cs typeface="Verdana" panose="020B0604030504040204" pitchFamily="34" charset="0"/>
              </a:rPr>
              <a:t>2*2*2*2*2*2*2*2 = </a:t>
            </a:r>
            <a:r>
              <a:rPr lang="es-CO" dirty="0">
                <a:latin typeface="Verdana" panose="020B0604030504040204" pitchFamily="34" charset="0"/>
                <a:ea typeface="Verdana" panose="020B0604030504040204" pitchFamily="34" charset="0"/>
              </a:rPr>
              <a:t>2</a:t>
            </a:r>
            <a:r>
              <a:rPr lang="es-CO" baseline="30000" dirty="0">
                <a:latin typeface="Verdana" panose="020B0604030504040204" pitchFamily="34" charset="0"/>
                <a:ea typeface="Verdana" panose="020B0604030504040204" pitchFamily="34" charset="0"/>
              </a:rPr>
              <a:t>8</a:t>
            </a:r>
            <a:endParaRPr lang="es-MX"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2608791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EXTENSIÓN DEL PRODUCTO</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2" name="CuadroTexto 1">
            <a:extLst>
              <a:ext uri="{FF2B5EF4-FFF2-40B4-BE49-F238E27FC236}">
                <a16:creationId xmlns:a16="http://schemas.microsoft.com/office/drawing/2014/main" id="{48841838-5861-63D0-E654-3592BDB26C4F}"/>
              </a:ext>
            </a:extLst>
          </p:cNvPr>
          <p:cNvSpPr txBox="1"/>
          <p:nvPr/>
        </p:nvSpPr>
        <p:spPr>
          <a:xfrm>
            <a:off x="1523999" y="1530537"/>
            <a:ext cx="9144001" cy="1200329"/>
          </a:xfrm>
          <a:prstGeom prst="rect">
            <a:avLst/>
          </a:prstGeom>
          <a:noFill/>
        </p:spPr>
        <p:txBody>
          <a:bodyPr wrap="square" rtlCol="0">
            <a:spAutoFit/>
          </a:bodyPr>
          <a:lstStyle/>
          <a:p>
            <a:pPr algn="just"/>
            <a:r>
              <a:rPr lang="es-ES" dirty="0">
                <a:latin typeface="Verdana" panose="020B0604030504040204" pitchFamily="34" charset="0"/>
                <a:ea typeface="Verdana" panose="020B0604030504040204" pitchFamily="34" charset="0"/>
                <a:cs typeface="Verdana" panose="020B0604030504040204" pitchFamily="34" charset="0"/>
              </a:rPr>
              <a:t>Suponga que un procedimiento se puede resolver dividiéndolo en T</a:t>
            </a:r>
            <a:r>
              <a:rPr lang="es-ES" baseline="-25000" dirty="0">
                <a:latin typeface="Verdana" panose="020B0604030504040204" pitchFamily="34" charset="0"/>
                <a:ea typeface="Verdana" panose="020B0604030504040204" pitchFamily="34" charset="0"/>
                <a:cs typeface="Verdana" panose="020B0604030504040204" pitchFamily="34" charset="0"/>
              </a:rPr>
              <a:t>1</a:t>
            </a:r>
            <a:r>
              <a:rPr lang="es-ES" dirty="0">
                <a:latin typeface="Verdana" panose="020B0604030504040204" pitchFamily="34" charset="0"/>
                <a:ea typeface="Verdana" panose="020B0604030504040204" pitchFamily="34" charset="0"/>
                <a:cs typeface="Verdana" panose="020B0604030504040204" pitchFamily="34" charset="0"/>
              </a:rPr>
              <a:t>, T</a:t>
            </a:r>
            <a:r>
              <a:rPr lang="es-ES" baseline="-25000" dirty="0">
                <a:latin typeface="Verdana" panose="020B0604030504040204" pitchFamily="34" charset="0"/>
                <a:ea typeface="Verdana" panose="020B0604030504040204" pitchFamily="34" charset="0"/>
                <a:cs typeface="Verdana" panose="020B0604030504040204" pitchFamily="34" charset="0"/>
              </a:rPr>
              <a:t>2, </a:t>
            </a:r>
            <a:r>
              <a:rPr lang="es-ES" dirty="0">
                <a:latin typeface="Verdana" panose="020B0604030504040204" pitchFamily="34" charset="0"/>
                <a:ea typeface="Verdana" panose="020B0604030504040204" pitchFamily="34" charset="0"/>
                <a:cs typeface="Verdana" panose="020B0604030504040204" pitchFamily="34" charset="0"/>
              </a:rPr>
              <a:t>..., T</a:t>
            </a:r>
            <a:r>
              <a:rPr lang="es-ES" baseline="-25000" dirty="0">
                <a:latin typeface="Verdana" panose="020B0604030504040204" pitchFamily="34" charset="0"/>
                <a:ea typeface="Verdana" panose="020B0604030504040204" pitchFamily="34" charset="0"/>
                <a:cs typeface="Verdana" panose="020B0604030504040204" pitchFamily="34" charset="0"/>
              </a:rPr>
              <a:t>m</a:t>
            </a:r>
            <a:r>
              <a:rPr lang="es-ES" dirty="0">
                <a:latin typeface="Verdana" panose="020B0604030504040204" pitchFamily="34" charset="0"/>
                <a:ea typeface="Verdana" panose="020B0604030504040204" pitchFamily="34" charset="0"/>
                <a:cs typeface="Verdana" panose="020B0604030504040204" pitchFamily="34" charset="0"/>
              </a:rPr>
              <a:t> tareas. Si la tarea T</a:t>
            </a:r>
            <a:r>
              <a:rPr lang="es-ES" baseline="-25000" dirty="0">
                <a:latin typeface="Verdana" panose="020B0604030504040204" pitchFamily="34" charset="0"/>
                <a:ea typeface="Verdana" panose="020B0604030504040204" pitchFamily="34" charset="0"/>
                <a:cs typeface="Verdana" panose="020B0604030504040204" pitchFamily="34" charset="0"/>
              </a:rPr>
              <a:t>i</a:t>
            </a:r>
            <a:r>
              <a:rPr lang="es-ES" dirty="0">
                <a:latin typeface="Verdana" panose="020B0604030504040204" pitchFamily="34" charset="0"/>
                <a:ea typeface="Verdana" panose="020B0604030504040204" pitchFamily="34" charset="0"/>
                <a:cs typeface="Verdana" panose="020B0604030504040204" pitchFamily="34" charset="0"/>
              </a:rPr>
              <a:t> puede ser resuelta en n</a:t>
            </a:r>
            <a:r>
              <a:rPr lang="es-ES" baseline="-25000" dirty="0">
                <a:latin typeface="Verdana" panose="020B0604030504040204" pitchFamily="34" charset="0"/>
                <a:ea typeface="Verdana" panose="020B0604030504040204" pitchFamily="34" charset="0"/>
                <a:cs typeface="Verdana" panose="020B0604030504040204" pitchFamily="34" charset="0"/>
              </a:rPr>
              <a:t>i</a:t>
            </a:r>
            <a:r>
              <a:rPr lang="es-ES" dirty="0">
                <a:latin typeface="Verdana" panose="020B0604030504040204" pitchFamily="34" charset="0"/>
                <a:ea typeface="Verdana" panose="020B0604030504040204" pitchFamily="34" charset="0"/>
                <a:cs typeface="Verdana" panose="020B0604030504040204" pitchFamily="34" charset="0"/>
              </a:rPr>
              <a:t> formas luego de que las tareas T</a:t>
            </a:r>
            <a:r>
              <a:rPr lang="es-ES" baseline="-25000" dirty="0">
                <a:latin typeface="Verdana" panose="020B0604030504040204" pitchFamily="34" charset="0"/>
                <a:ea typeface="Verdana" panose="020B0604030504040204" pitchFamily="34" charset="0"/>
                <a:cs typeface="Verdana" panose="020B0604030504040204" pitchFamily="34" charset="0"/>
              </a:rPr>
              <a:t>1</a:t>
            </a:r>
            <a:r>
              <a:rPr lang="es-ES" dirty="0">
                <a:latin typeface="Verdana" panose="020B0604030504040204" pitchFamily="34" charset="0"/>
                <a:ea typeface="Verdana" panose="020B0604030504040204" pitchFamily="34" charset="0"/>
                <a:cs typeface="Verdana" panose="020B0604030504040204" pitchFamily="34" charset="0"/>
              </a:rPr>
              <a:t>, T</a:t>
            </a:r>
            <a:r>
              <a:rPr lang="es-ES" baseline="-25000" dirty="0">
                <a:latin typeface="Verdana" panose="020B0604030504040204" pitchFamily="34" charset="0"/>
                <a:ea typeface="Verdana" panose="020B0604030504040204" pitchFamily="34" charset="0"/>
                <a:cs typeface="Verdana" panose="020B0604030504040204" pitchFamily="34" charset="0"/>
              </a:rPr>
              <a:t>2</a:t>
            </a:r>
            <a:r>
              <a:rPr lang="es-ES" dirty="0">
                <a:latin typeface="Verdana" panose="020B0604030504040204" pitchFamily="34" charset="0"/>
                <a:ea typeface="Verdana" panose="020B0604030504040204" pitchFamily="34" charset="0"/>
                <a:cs typeface="Verdana" panose="020B0604030504040204" pitchFamily="34" charset="0"/>
              </a:rPr>
              <a:t>,..., T</a:t>
            </a:r>
            <a:r>
              <a:rPr lang="es-ES" baseline="-25000" dirty="0">
                <a:latin typeface="Verdana" panose="020B0604030504040204" pitchFamily="34" charset="0"/>
                <a:ea typeface="Verdana" panose="020B0604030504040204" pitchFamily="34" charset="0"/>
                <a:cs typeface="Verdana" panose="020B0604030504040204" pitchFamily="34" charset="0"/>
              </a:rPr>
              <a:t>i-1</a:t>
            </a:r>
            <a:r>
              <a:rPr lang="es-ES" dirty="0">
                <a:latin typeface="Verdana" panose="020B0604030504040204" pitchFamily="34" charset="0"/>
                <a:ea typeface="Verdana" panose="020B0604030504040204" pitchFamily="34" charset="0"/>
                <a:cs typeface="Verdana" panose="020B0604030504040204" pitchFamily="34" charset="0"/>
              </a:rPr>
              <a:t> han sido resueltas, entonces hay n</a:t>
            </a:r>
            <a:r>
              <a:rPr lang="es-ES" baseline="-25000" dirty="0">
                <a:latin typeface="Verdana" panose="020B0604030504040204" pitchFamily="34" charset="0"/>
                <a:ea typeface="Verdana" panose="020B0604030504040204" pitchFamily="34" charset="0"/>
                <a:cs typeface="Verdana" panose="020B0604030504040204" pitchFamily="34" charset="0"/>
              </a:rPr>
              <a:t>1</a:t>
            </a:r>
            <a:r>
              <a:rPr lang="es-ES" dirty="0">
                <a:latin typeface="Verdana" panose="020B0604030504040204" pitchFamily="34" charset="0"/>
                <a:ea typeface="Verdana" panose="020B0604030504040204" pitchFamily="34" charset="0"/>
                <a:cs typeface="Verdana" panose="020B0604030504040204" pitchFamily="34" charset="0"/>
              </a:rPr>
              <a:t>.n</a:t>
            </a:r>
            <a:r>
              <a:rPr lang="es-ES" baseline="-25000" dirty="0">
                <a:latin typeface="Verdana" panose="020B0604030504040204" pitchFamily="34" charset="0"/>
                <a:ea typeface="Verdana" panose="020B0604030504040204" pitchFamily="34" charset="0"/>
                <a:cs typeface="Verdana" panose="020B0604030504040204" pitchFamily="34" charset="0"/>
              </a:rPr>
              <a:t>2</a:t>
            </a:r>
            <a:r>
              <a:rPr lang="es-ES" dirty="0">
                <a:latin typeface="Verdana" panose="020B0604030504040204" pitchFamily="34" charset="0"/>
                <a:ea typeface="Verdana" panose="020B0604030504040204" pitchFamily="34" charset="0"/>
                <a:cs typeface="Verdana" panose="020B0604030504040204" pitchFamily="34" charset="0"/>
              </a:rPr>
              <a:t>.....n</a:t>
            </a:r>
            <a:r>
              <a:rPr lang="es-ES" baseline="-25000" dirty="0">
                <a:latin typeface="Verdana" panose="020B0604030504040204" pitchFamily="34" charset="0"/>
                <a:ea typeface="Verdana" panose="020B0604030504040204" pitchFamily="34" charset="0"/>
                <a:cs typeface="Verdana" panose="020B0604030504040204" pitchFamily="34" charset="0"/>
              </a:rPr>
              <a:t>m</a:t>
            </a:r>
            <a:r>
              <a:rPr lang="es-ES" dirty="0">
                <a:latin typeface="Verdana" panose="020B0604030504040204" pitchFamily="34" charset="0"/>
                <a:ea typeface="Verdana" panose="020B0604030504040204" pitchFamily="34" charset="0"/>
                <a:cs typeface="Verdana" panose="020B0604030504040204" pitchFamily="34" charset="0"/>
              </a:rPr>
              <a:t> formas de resolver el procedimiento.</a:t>
            </a:r>
            <a:endParaRPr lang="es-CO" dirty="0">
              <a:latin typeface="Verdana" panose="020B0604030504040204" pitchFamily="34" charset="0"/>
              <a:ea typeface="Verdana" panose="020B0604030504040204" pitchFamily="34" charset="0"/>
              <a:cs typeface="Verdana" panose="020B0604030504040204" pitchFamily="34" charset="0"/>
            </a:endParaRPr>
          </a:p>
        </p:txBody>
      </p:sp>
      <p:sp>
        <p:nvSpPr>
          <p:cNvPr id="8" name="CuadroTexto 7">
            <a:extLst>
              <a:ext uri="{FF2B5EF4-FFF2-40B4-BE49-F238E27FC236}">
                <a16:creationId xmlns:a16="http://schemas.microsoft.com/office/drawing/2014/main" id="{932481B4-8543-947D-05DB-233EB2D975E5}"/>
              </a:ext>
            </a:extLst>
          </p:cNvPr>
          <p:cNvSpPr txBox="1"/>
          <p:nvPr/>
        </p:nvSpPr>
        <p:spPr>
          <a:xfrm>
            <a:off x="1523999" y="3233582"/>
            <a:ext cx="9144000" cy="646331"/>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Ejemplo:</a:t>
            </a:r>
            <a:r>
              <a:rPr lang="es-ES" dirty="0">
                <a:latin typeface="Verdana" panose="020B0604030504040204" pitchFamily="34" charset="0"/>
                <a:ea typeface="Verdana" panose="020B0604030504040204" pitchFamily="34" charset="0"/>
                <a:cs typeface="Verdana" panose="020B0604030504040204" pitchFamily="34" charset="0"/>
              </a:rPr>
              <a:t> ¿Cuántas cadenas diferentes de bits de longitud 7 se pueden encontrar?</a:t>
            </a:r>
            <a:endParaRPr lang="es-CO" dirty="0">
              <a:latin typeface="Verdana" panose="020B0604030504040204" pitchFamily="34" charset="0"/>
              <a:ea typeface="Verdana" panose="020B0604030504040204" pitchFamily="34" charset="0"/>
              <a:cs typeface="Verdana" panose="020B0604030504040204" pitchFamily="34" charset="0"/>
            </a:endParaRPr>
          </a:p>
        </p:txBody>
      </p:sp>
      <p:sp>
        <p:nvSpPr>
          <p:cNvPr id="10" name="CuadroTexto 9">
            <a:extLst>
              <a:ext uri="{FF2B5EF4-FFF2-40B4-BE49-F238E27FC236}">
                <a16:creationId xmlns:a16="http://schemas.microsoft.com/office/drawing/2014/main" id="{16D9C4FC-1CEA-3A24-3261-17D8E2A6B428}"/>
              </a:ext>
            </a:extLst>
          </p:cNvPr>
          <p:cNvSpPr txBox="1"/>
          <p:nvPr/>
        </p:nvSpPr>
        <p:spPr>
          <a:xfrm>
            <a:off x="1523999" y="4089904"/>
            <a:ext cx="9144000" cy="923330"/>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Ejemplo: </a:t>
            </a:r>
            <a:r>
              <a:rPr lang="es-ES" dirty="0">
                <a:latin typeface="Verdana" panose="020B0604030504040204" pitchFamily="34" charset="0"/>
                <a:ea typeface="Verdana" panose="020B0604030504040204" pitchFamily="34" charset="0"/>
                <a:cs typeface="Verdana" panose="020B0604030504040204" pitchFamily="34" charset="0"/>
              </a:rPr>
              <a:t>Si las placas de los automóviles se identifican con una secuencia de tres letras y a continuación una secuencia de tres dígitos. ¿Cuántas posibles placas pueden ser asignadas? </a:t>
            </a:r>
            <a:endParaRPr lang="es-CO" dirty="0">
              <a:latin typeface="Verdana" panose="020B0604030504040204" pitchFamily="34" charset="0"/>
              <a:ea typeface="Verdana" panose="020B0604030504040204" pitchFamily="34" charset="0"/>
              <a:cs typeface="Verdana" panose="020B0604030504040204" pitchFamily="34" charset="0"/>
            </a:endParaRPr>
          </a:p>
        </p:txBody>
      </p:sp>
      <p:sp>
        <p:nvSpPr>
          <p:cNvPr id="11" name="CuadroTexto 10">
            <a:extLst>
              <a:ext uri="{FF2B5EF4-FFF2-40B4-BE49-F238E27FC236}">
                <a16:creationId xmlns:a16="http://schemas.microsoft.com/office/drawing/2014/main" id="{8F816975-A86E-D9C7-92BD-0D3171339D96}"/>
              </a:ext>
            </a:extLst>
          </p:cNvPr>
          <p:cNvSpPr txBox="1"/>
          <p:nvPr/>
        </p:nvSpPr>
        <p:spPr>
          <a:xfrm>
            <a:off x="1523999" y="5223225"/>
            <a:ext cx="9144000" cy="646331"/>
          </a:xfrm>
          <a:prstGeom prst="rect">
            <a:avLst/>
          </a:prstGeom>
          <a:noFill/>
        </p:spPr>
        <p:txBody>
          <a:bodyPr wrap="square" rtlCol="0">
            <a:spAutoFit/>
          </a:bodyPr>
          <a:lstStyle/>
          <a:p>
            <a:pPr algn="just"/>
            <a:r>
              <a:rPr lang="es-ES" dirty="0">
                <a:latin typeface="Verdana" panose="020B0604030504040204" pitchFamily="34" charset="0"/>
                <a:ea typeface="Verdana" panose="020B0604030504040204" pitchFamily="34" charset="0"/>
                <a:cs typeface="Verdana" panose="020B0604030504040204" pitchFamily="34" charset="0"/>
              </a:rPr>
              <a:t>A veces es necesario combinar varios tipos diferentes de principios de conteo en la solución de un problema.</a:t>
            </a:r>
            <a:endParaRPr lang="es-CO"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5864815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500" fill="hold"/>
                                        <p:tgtEl>
                                          <p:spTgt spid="10"/>
                                        </p:tgtEl>
                                        <p:attrNameLst>
                                          <p:attrName>ppt_x</p:attrName>
                                        </p:attrNameLst>
                                      </p:cBhvr>
                                      <p:tavLst>
                                        <p:tav tm="0">
                                          <p:val>
                                            <p:strVal val="#ppt_x"/>
                                          </p:val>
                                        </p:tav>
                                        <p:tav tm="100000">
                                          <p:val>
                                            <p:strVal val="#ppt_x"/>
                                          </p:val>
                                        </p:tav>
                                      </p:tavLst>
                                    </p:anim>
                                    <p:anim calcmode="lin" valueType="num">
                                      <p:cBhvr additive="base">
                                        <p:cTn id="1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 calcmode="lin" valueType="num">
                                      <p:cBhvr additive="base">
                                        <p:cTn id="19" dur="500" fill="hold"/>
                                        <p:tgtEl>
                                          <p:spTgt spid="11"/>
                                        </p:tgtEl>
                                        <p:attrNameLst>
                                          <p:attrName>ppt_x</p:attrName>
                                        </p:attrNameLst>
                                      </p:cBhvr>
                                      <p:tavLst>
                                        <p:tav tm="0">
                                          <p:val>
                                            <p:strVal val="#ppt_x"/>
                                          </p:val>
                                        </p:tav>
                                        <p:tav tm="100000">
                                          <p:val>
                                            <p:strVal val="#ppt_x"/>
                                          </p:val>
                                        </p:tav>
                                      </p:tavLst>
                                    </p:anim>
                                    <p:anim calcmode="lin" valueType="num">
                                      <p:cBhvr additive="base">
                                        <p:cTn id="20"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P spid="11"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EXTENSIÓN DEL PRODUCTO</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2" name="CuadroTexto 1">
            <a:extLst>
              <a:ext uri="{FF2B5EF4-FFF2-40B4-BE49-F238E27FC236}">
                <a16:creationId xmlns:a16="http://schemas.microsoft.com/office/drawing/2014/main" id="{48841838-5861-63D0-E654-3592BDB26C4F}"/>
              </a:ext>
            </a:extLst>
          </p:cNvPr>
          <p:cNvSpPr txBox="1"/>
          <p:nvPr/>
        </p:nvSpPr>
        <p:spPr>
          <a:xfrm>
            <a:off x="1523999" y="1530537"/>
            <a:ext cx="9144001" cy="1200329"/>
          </a:xfrm>
          <a:prstGeom prst="rect">
            <a:avLst/>
          </a:prstGeom>
          <a:noFill/>
        </p:spPr>
        <p:txBody>
          <a:bodyPr wrap="square" rtlCol="0">
            <a:spAutoFit/>
          </a:bodyPr>
          <a:lstStyle/>
          <a:p>
            <a:pPr algn="just"/>
            <a:r>
              <a:rPr lang="es-ES" dirty="0">
                <a:latin typeface="Verdana" panose="020B0604030504040204" pitchFamily="34" charset="0"/>
                <a:ea typeface="Verdana" panose="020B0604030504040204" pitchFamily="34" charset="0"/>
                <a:cs typeface="Verdana" panose="020B0604030504040204" pitchFamily="34" charset="0"/>
              </a:rPr>
              <a:t>Suponga que un procedimiento se puede resolver dividiéndolo en T</a:t>
            </a:r>
            <a:r>
              <a:rPr lang="es-ES" baseline="-25000" dirty="0">
                <a:latin typeface="Verdana" panose="020B0604030504040204" pitchFamily="34" charset="0"/>
                <a:ea typeface="Verdana" panose="020B0604030504040204" pitchFamily="34" charset="0"/>
                <a:cs typeface="Verdana" panose="020B0604030504040204" pitchFamily="34" charset="0"/>
              </a:rPr>
              <a:t>1</a:t>
            </a:r>
            <a:r>
              <a:rPr lang="es-ES" dirty="0">
                <a:latin typeface="Verdana" panose="020B0604030504040204" pitchFamily="34" charset="0"/>
                <a:ea typeface="Verdana" panose="020B0604030504040204" pitchFamily="34" charset="0"/>
                <a:cs typeface="Verdana" panose="020B0604030504040204" pitchFamily="34" charset="0"/>
              </a:rPr>
              <a:t>, T</a:t>
            </a:r>
            <a:r>
              <a:rPr lang="es-ES" baseline="-25000" dirty="0">
                <a:latin typeface="Verdana" panose="020B0604030504040204" pitchFamily="34" charset="0"/>
                <a:ea typeface="Verdana" panose="020B0604030504040204" pitchFamily="34" charset="0"/>
                <a:cs typeface="Verdana" panose="020B0604030504040204" pitchFamily="34" charset="0"/>
              </a:rPr>
              <a:t>2, </a:t>
            </a:r>
            <a:r>
              <a:rPr lang="es-ES" dirty="0">
                <a:latin typeface="Verdana" panose="020B0604030504040204" pitchFamily="34" charset="0"/>
                <a:ea typeface="Verdana" panose="020B0604030504040204" pitchFamily="34" charset="0"/>
                <a:cs typeface="Verdana" panose="020B0604030504040204" pitchFamily="34" charset="0"/>
              </a:rPr>
              <a:t>..., T</a:t>
            </a:r>
            <a:r>
              <a:rPr lang="es-ES" baseline="-25000" dirty="0">
                <a:latin typeface="Verdana" panose="020B0604030504040204" pitchFamily="34" charset="0"/>
                <a:ea typeface="Verdana" panose="020B0604030504040204" pitchFamily="34" charset="0"/>
                <a:cs typeface="Verdana" panose="020B0604030504040204" pitchFamily="34" charset="0"/>
              </a:rPr>
              <a:t>m</a:t>
            </a:r>
            <a:r>
              <a:rPr lang="es-ES" dirty="0">
                <a:latin typeface="Verdana" panose="020B0604030504040204" pitchFamily="34" charset="0"/>
                <a:ea typeface="Verdana" panose="020B0604030504040204" pitchFamily="34" charset="0"/>
                <a:cs typeface="Verdana" panose="020B0604030504040204" pitchFamily="34" charset="0"/>
              </a:rPr>
              <a:t> tareas. Si la tarea T</a:t>
            </a:r>
            <a:r>
              <a:rPr lang="es-ES" baseline="-25000" dirty="0">
                <a:latin typeface="Verdana" panose="020B0604030504040204" pitchFamily="34" charset="0"/>
                <a:ea typeface="Verdana" panose="020B0604030504040204" pitchFamily="34" charset="0"/>
                <a:cs typeface="Verdana" panose="020B0604030504040204" pitchFamily="34" charset="0"/>
              </a:rPr>
              <a:t>i</a:t>
            </a:r>
            <a:r>
              <a:rPr lang="es-ES" dirty="0">
                <a:latin typeface="Verdana" panose="020B0604030504040204" pitchFamily="34" charset="0"/>
                <a:ea typeface="Verdana" panose="020B0604030504040204" pitchFamily="34" charset="0"/>
                <a:cs typeface="Verdana" panose="020B0604030504040204" pitchFamily="34" charset="0"/>
              </a:rPr>
              <a:t> puede ser resuelta en n</a:t>
            </a:r>
            <a:r>
              <a:rPr lang="es-ES" baseline="-25000" dirty="0">
                <a:latin typeface="Verdana" panose="020B0604030504040204" pitchFamily="34" charset="0"/>
                <a:ea typeface="Verdana" panose="020B0604030504040204" pitchFamily="34" charset="0"/>
                <a:cs typeface="Verdana" panose="020B0604030504040204" pitchFamily="34" charset="0"/>
              </a:rPr>
              <a:t>i</a:t>
            </a:r>
            <a:r>
              <a:rPr lang="es-ES" dirty="0">
                <a:latin typeface="Verdana" panose="020B0604030504040204" pitchFamily="34" charset="0"/>
                <a:ea typeface="Verdana" panose="020B0604030504040204" pitchFamily="34" charset="0"/>
                <a:cs typeface="Verdana" panose="020B0604030504040204" pitchFamily="34" charset="0"/>
              </a:rPr>
              <a:t> formas luego de que las tareas T</a:t>
            </a:r>
            <a:r>
              <a:rPr lang="es-ES" baseline="-25000" dirty="0">
                <a:latin typeface="Verdana" panose="020B0604030504040204" pitchFamily="34" charset="0"/>
                <a:ea typeface="Verdana" panose="020B0604030504040204" pitchFamily="34" charset="0"/>
                <a:cs typeface="Verdana" panose="020B0604030504040204" pitchFamily="34" charset="0"/>
              </a:rPr>
              <a:t>1</a:t>
            </a:r>
            <a:r>
              <a:rPr lang="es-ES" dirty="0">
                <a:latin typeface="Verdana" panose="020B0604030504040204" pitchFamily="34" charset="0"/>
                <a:ea typeface="Verdana" panose="020B0604030504040204" pitchFamily="34" charset="0"/>
                <a:cs typeface="Verdana" panose="020B0604030504040204" pitchFamily="34" charset="0"/>
              </a:rPr>
              <a:t>, T</a:t>
            </a:r>
            <a:r>
              <a:rPr lang="es-ES" baseline="-25000" dirty="0">
                <a:latin typeface="Verdana" panose="020B0604030504040204" pitchFamily="34" charset="0"/>
                <a:ea typeface="Verdana" panose="020B0604030504040204" pitchFamily="34" charset="0"/>
                <a:cs typeface="Verdana" panose="020B0604030504040204" pitchFamily="34" charset="0"/>
              </a:rPr>
              <a:t>2</a:t>
            </a:r>
            <a:r>
              <a:rPr lang="es-ES" dirty="0">
                <a:latin typeface="Verdana" panose="020B0604030504040204" pitchFamily="34" charset="0"/>
                <a:ea typeface="Verdana" panose="020B0604030504040204" pitchFamily="34" charset="0"/>
                <a:cs typeface="Verdana" panose="020B0604030504040204" pitchFamily="34" charset="0"/>
              </a:rPr>
              <a:t>,..., T</a:t>
            </a:r>
            <a:r>
              <a:rPr lang="es-ES" baseline="-25000" dirty="0">
                <a:latin typeface="Verdana" panose="020B0604030504040204" pitchFamily="34" charset="0"/>
                <a:ea typeface="Verdana" panose="020B0604030504040204" pitchFamily="34" charset="0"/>
                <a:cs typeface="Verdana" panose="020B0604030504040204" pitchFamily="34" charset="0"/>
              </a:rPr>
              <a:t>i-1</a:t>
            </a:r>
            <a:r>
              <a:rPr lang="es-ES" dirty="0">
                <a:latin typeface="Verdana" panose="020B0604030504040204" pitchFamily="34" charset="0"/>
                <a:ea typeface="Verdana" panose="020B0604030504040204" pitchFamily="34" charset="0"/>
                <a:cs typeface="Verdana" panose="020B0604030504040204" pitchFamily="34" charset="0"/>
              </a:rPr>
              <a:t> han sido resueltas, entonces hay n</a:t>
            </a:r>
            <a:r>
              <a:rPr lang="es-ES" baseline="-25000" dirty="0">
                <a:latin typeface="Verdana" panose="020B0604030504040204" pitchFamily="34" charset="0"/>
                <a:ea typeface="Verdana" panose="020B0604030504040204" pitchFamily="34" charset="0"/>
                <a:cs typeface="Verdana" panose="020B0604030504040204" pitchFamily="34" charset="0"/>
              </a:rPr>
              <a:t>1</a:t>
            </a:r>
            <a:r>
              <a:rPr lang="es-ES" dirty="0">
                <a:latin typeface="Verdana" panose="020B0604030504040204" pitchFamily="34" charset="0"/>
                <a:ea typeface="Verdana" panose="020B0604030504040204" pitchFamily="34" charset="0"/>
                <a:cs typeface="Verdana" panose="020B0604030504040204" pitchFamily="34" charset="0"/>
              </a:rPr>
              <a:t>.n</a:t>
            </a:r>
            <a:r>
              <a:rPr lang="es-ES" baseline="-25000" dirty="0">
                <a:latin typeface="Verdana" panose="020B0604030504040204" pitchFamily="34" charset="0"/>
                <a:ea typeface="Verdana" panose="020B0604030504040204" pitchFamily="34" charset="0"/>
                <a:cs typeface="Verdana" panose="020B0604030504040204" pitchFamily="34" charset="0"/>
              </a:rPr>
              <a:t>2</a:t>
            </a:r>
            <a:r>
              <a:rPr lang="es-ES" dirty="0">
                <a:latin typeface="Verdana" panose="020B0604030504040204" pitchFamily="34" charset="0"/>
                <a:ea typeface="Verdana" panose="020B0604030504040204" pitchFamily="34" charset="0"/>
                <a:cs typeface="Verdana" panose="020B0604030504040204" pitchFamily="34" charset="0"/>
              </a:rPr>
              <a:t>.....n</a:t>
            </a:r>
            <a:r>
              <a:rPr lang="es-ES" baseline="-25000" dirty="0">
                <a:latin typeface="Verdana" panose="020B0604030504040204" pitchFamily="34" charset="0"/>
                <a:ea typeface="Verdana" panose="020B0604030504040204" pitchFamily="34" charset="0"/>
                <a:cs typeface="Verdana" panose="020B0604030504040204" pitchFamily="34" charset="0"/>
              </a:rPr>
              <a:t>m</a:t>
            </a:r>
            <a:r>
              <a:rPr lang="es-ES" dirty="0">
                <a:latin typeface="Verdana" panose="020B0604030504040204" pitchFamily="34" charset="0"/>
                <a:ea typeface="Verdana" panose="020B0604030504040204" pitchFamily="34" charset="0"/>
                <a:cs typeface="Verdana" panose="020B0604030504040204" pitchFamily="34" charset="0"/>
              </a:rPr>
              <a:t> formas de resolver el procedimiento.</a:t>
            </a:r>
            <a:endParaRPr lang="es-CO" dirty="0">
              <a:latin typeface="Verdana" panose="020B0604030504040204" pitchFamily="34" charset="0"/>
              <a:ea typeface="Verdana" panose="020B0604030504040204" pitchFamily="34" charset="0"/>
              <a:cs typeface="Verdana" panose="020B0604030504040204" pitchFamily="34" charset="0"/>
            </a:endParaRPr>
          </a:p>
        </p:txBody>
      </p:sp>
      <p:sp>
        <p:nvSpPr>
          <p:cNvPr id="8" name="CuadroTexto 7">
            <a:extLst>
              <a:ext uri="{FF2B5EF4-FFF2-40B4-BE49-F238E27FC236}">
                <a16:creationId xmlns:a16="http://schemas.microsoft.com/office/drawing/2014/main" id="{932481B4-8543-947D-05DB-233EB2D975E5}"/>
              </a:ext>
            </a:extLst>
          </p:cNvPr>
          <p:cNvSpPr txBox="1"/>
          <p:nvPr/>
        </p:nvSpPr>
        <p:spPr>
          <a:xfrm>
            <a:off x="1523999" y="3233582"/>
            <a:ext cx="9144000" cy="646331"/>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Ejemplo:</a:t>
            </a:r>
            <a:r>
              <a:rPr lang="es-ES" dirty="0">
                <a:latin typeface="Verdana" panose="020B0604030504040204" pitchFamily="34" charset="0"/>
                <a:ea typeface="Verdana" panose="020B0604030504040204" pitchFamily="34" charset="0"/>
                <a:cs typeface="Verdana" panose="020B0604030504040204" pitchFamily="34" charset="0"/>
              </a:rPr>
              <a:t> ¿Cuántas cadenas diferentes de bits de longitud 7 se pueden encontrar?</a:t>
            </a:r>
            <a:endParaRPr lang="es-CO" dirty="0">
              <a:latin typeface="Verdana" panose="020B0604030504040204" pitchFamily="34" charset="0"/>
              <a:ea typeface="Verdana" panose="020B0604030504040204" pitchFamily="34" charset="0"/>
              <a:cs typeface="Verdana" panose="020B0604030504040204" pitchFamily="34" charset="0"/>
            </a:endParaRPr>
          </a:p>
        </p:txBody>
      </p:sp>
      <p:sp>
        <p:nvSpPr>
          <p:cNvPr id="5" name="CuadroTexto 4">
            <a:extLst>
              <a:ext uri="{FF2B5EF4-FFF2-40B4-BE49-F238E27FC236}">
                <a16:creationId xmlns:a16="http://schemas.microsoft.com/office/drawing/2014/main" id="{C3F214E9-3DA0-A41D-1629-1A30720EFE04}"/>
              </a:ext>
            </a:extLst>
          </p:cNvPr>
          <p:cNvSpPr txBox="1"/>
          <p:nvPr/>
        </p:nvSpPr>
        <p:spPr>
          <a:xfrm>
            <a:off x="1523999" y="4681132"/>
            <a:ext cx="9144000" cy="923330"/>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Solución. </a:t>
            </a:r>
            <a:r>
              <a:rPr lang="es-ES" dirty="0">
                <a:latin typeface="Verdana" panose="020B0604030504040204" pitchFamily="34" charset="0"/>
                <a:ea typeface="Verdana" panose="020B0604030504040204" pitchFamily="34" charset="0"/>
                <a:cs typeface="Verdana" panose="020B0604030504040204" pitchFamily="34" charset="0"/>
              </a:rPr>
              <a:t>Cada bit en la cadena puede tener un valor de 0 o 1, es decir que existen 2 formas de elegir cada bit en la cadena. Total </a:t>
            </a:r>
            <a:r>
              <a:rPr lang="es-CO" dirty="0">
                <a:latin typeface="Verdana" panose="020B0604030504040204" pitchFamily="34" charset="0"/>
                <a:ea typeface="Verdana" panose="020B0604030504040204" pitchFamily="34" charset="0"/>
              </a:rPr>
              <a:t>2</a:t>
            </a:r>
            <a:r>
              <a:rPr lang="es-CO" baseline="30000" dirty="0">
                <a:latin typeface="Verdana" panose="020B0604030504040204" pitchFamily="34" charset="0"/>
                <a:ea typeface="Verdana" panose="020B0604030504040204" pitchFamily="34" charset="0"/>
              </a:rPr>
              <a:t>7 </a:t>
            </a:r>
            <a:r>
              <a:rPr lang="es-CO" dirty="0">
                <a:latin typeface="Verdana" panose="020B0604030504040204" pitchFamily="34" charset="0"/>
                <a:ea typeface="Verdana" panose="020B0604030504040204" pitchFamily="34" charset="0"/>
              </a:rPr>
              <a:t> = 128 cadenas de bits diferentes  con longitud 7.</a:t>
            </a:r>
            <a:endParaRPr lang="es-CO"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1659755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5"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EXTENSIÓN DEL PRODUCTO</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10" name="CuadroTexto 9">
            <a:extLst>
              <a:ext uri="{FF2B5EF4-FFF2-40B4-BE49-F238E27FC236}">
                <a16:creationId xmlns:a16="http://schemas.microsoft.com/office/drawing/2014/main" id="{16D9C4FC-1CEA-3A24-3261-17D8E2A6B428}"/>
              </a:ext>
            </a:extLst>
          </p:cNvPr>
          <p:cNvSpPr txBox="1"/>
          <p:nvPr/>
        </p:nvSpPr>
        <p:spPr>
          <a:xfrm>
            <a:off x="1523999" y="1836523"/>
            <a:ext cx="9144000" cy="923330"/>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Ejemplo: </a:t>
            </a:r>
            <a:r>
              <a:rPr lang="es-ES" dirty="0">
                <a:latin typeface="Verdana" panose="020B0604030504040204" pitchFamily="34" charset="0"/>
                <a:ea typeface="Verdana" panose="020B0604030504040204" pitchFamily="34" charset="0"/>
                <a:cs typeface="Verdana" panose="020B0604030504040204" pitchFamily="34" charset="0"/>
              </a:rPr>
              <a:t>Si las placas de los automóviles se identifican con una secuencia de tres letras y a continuación una secuencia de tres dígitos. ¿Cuántas posibles placas pueden ser asignadas? </a:t>
            </a:r>
            <a:endParaRPr lang="es-CO" dirty="0">
              <a:latin typeface="Verdana" panose="020B0604030504040204" pitchFamily="34" charset="0"/>
              <a:ea typeface="Verdana" panose="020B0604030504040204" pitchFamily="34" charset="0"/>
              <a:cs typeface="Verdana" panose="020B0604030504040204" pitchFamily="34" charset="0"/>
            </a:endParaRPr>
          </a:p>
        </p:txBody>
      </p:sp>
      <p:sp>
        <p:nvSpPr>
          <p:cNvPr id="5" name="CuadroTexto 4">
            <a:extLst>
              <a:ext uri="{FF2B5EF4-FFF2-40B4-BE49-F238E27FC236}">
                <a16:creationId xmlns:a16="http://schemas.microsoft.com/office/drawing/2014/main" id="{03CE198A-A064-8A29-60D5-0495668431FC}"/>
              </a:ext>
            </a:extLst>
          </p:cNvPr>
          <p:cNvSpPr txBox="1"/>
          <p:nvPr/>
        </p:nvSpPr>
        <p:spPr>
          <a:xfrm>
            <a:off x="1523999" y="3636483"/>
            <a:ext cx="9144000" cy="923330"/>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Solución. </a:t>
            </a:r>
            <a:r>
              <a:rPr lang="es-ES" dirty="0">
                <a:latin typeface="Verdana" panose="020B0604030504040204" pitchFamily="34" charset="0"/>
                <a:ea typeface="Verdana" panose="020B0604030504040204" pitchFamily="34" charset="0"/>
                <a:cs typeface="Verdana" panose="020B0604030504040204" pitchFamily="34" charset="0"/>
              </a:rPr>
              <a:t>Aplicando la regla del producto sucesivamente se obtiene la siguiente relación : 26 * 26 * 26 * 10 * 10 * 10 para un total de 17.576.000 placas posibles</a:t>
            </a:r>
            <a:endParaRPr lang="es-CO"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2535341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fill="hold"/>
                                        <p:tgtEl>
                                          <p:spTgt spid="10"/>
                                        </p:tgtEl>
                                        <p:attrNameLst>
                                          <p:attrName>ppt_x</p:attrName>
                                        </p:attrNameLst>
                                      </p:cBhvr>
                                      <p:tavLst>
                                        <p:tav tm="0">
                                          <p:val>
                                            <p:strVal val="#ppt_x"/>
                                          </p:val>
                                        </p:tav>
                                        <p:tav tm="100000">
                                          <p:val>
                                            <p:strVal val="#ppt_x"/>
                                          </p:val>
                                        </p:tav>
                                      </p:tavLst>
                                    </p:anim>
                                    <p:anim calcmode="lin" valueType="num">
                                      <p:cBhvr additive="base">
                                        <p:cTn id="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5"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EXTENSIÓN DEL PRODUCTO</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2" name="CuadroTexto 1">
            <a:extLst>
              <a:ext uri="{FF2B5EF4-FFF2-40B4-BE49-F238E27FC236}">
                <a16:creationId xmlns:a16="http://schemas.microsoft.com/office/drawing/2014/main" id="{48841838-5861-63D0-E654-3592BDB26C4F}"/>
              </a:ext>
            </a:extLst>
          </p:cNvPr>
          <p:cNvSpPr txBox="1"/>
          <p:nvPr/>
        </p:nvSpPr>
        <p:spPr>
          <a:xfrm>
            <a:off x="1523999" y="2445686"/>
            <a:ext cx="9144001" cy="1477328"/>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Ejemplo: </a:t>
            </a:r>
            <a:r>
              <a:rPr lang="es-ES" dirty="0">
                <a:latin typeface="Verdana" panose="020B0604030504040204" pitchFamily="34" charset="0"/>
                <a:ea typeface="Verdana" panose="020B0604030504040204" pitchFamily="34" charset="0"/>
                <a:cs typeface="Verdana" panose="020B0604030504040204" pitchFamily="34" charset="0"/>
              </a:rPr>
              <a:t>En algunas de las primeras versiones del lenguaje de programación BASIC, el nombre de una variable consta de una sola letra (A, B, C,...) o una sola letra seguida de un solo dígito. Como el computador no distingue entre las letras mayúsculas y minúsculas, a y A se consideran como el mismo nombre de variable, así como también E7 y e7.</a:t>
            </a:r>
            <a:endParaRPr lang="es-CO" dirty="0">
              <a:latin typeface="Verdana" panose="020B0604030504040204" pitchFamily="34" charset="0"/>
              <a:ea typeface="Verdana" panose="020B0604030504040204" pitchFamily="34" charset="0"/>
              <a:cs typeface="Verdana" panose="020B0604030504040204" pitchFamily="34" charset="0"/>
            </a:endParaRPr>
          </a:p>
        </p:txBody>
      </p:sp>
      <p:sp>
        <p:nvSpPr>
          <p:cNvPr id="8" name="CuadroTexto 7">
            <a:extLst>
              <a:ext uri="{FF2B5EF4-FFF2-40B4-BE49-F238E27FC236}">
                <a16:creationId xmlns:a16="http://schemas.microsoft.com/office/drawing/2014/main" id="{932481B4-8543-947D-05DB-233EB2D975E5}"/>
              </a:ext>
            </a:extLst>
          </p:cNvPr>
          <p:cNvSpPr txBox="1"/>
          <p:nvPr/>
        </p:nvSpPr>
        <p:spPr>
          <a:xfrm>
            <a:off x="1524000" y="4412314"/>
            <a:ext cx="9144000" cy="1200329"/>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Solución: </a:t>
            </a:r>
            <a:r>
              <a:rPr lang="es-ES" dirty="0">
                <a:latin typeface="Verdana" panose="020B0604030504040204" pitchFamily="34" charset="0"/>
                <a:ea typeface="Verdana" panose="020B0604030504040204" pitchFamily="34" charset="0"/>
                <a:cs typeface="Verdana" panose="020B0604030504040204" pitchFamily="34" charset="0"/>
              </a:rPr>
              <a:t>Por la regla del producto, existen 260 nombres de variables que constan de una letra seguida de un dígito y como hay 26 nombres de variables que constan de una sola letra por la regla de la suma existen 260+26 = 286 nombres de variables en este lenguaje de programación.</a:t>
            </a:r>
            <a:endParaRPr lang="es-CO"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8025328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EXTENSIÓN DEL PRODUCTO</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2" name="CuadroTexto 1">
            <a:extLst>
              <a:ext uri="{FF2B5EF4-FFF2-40B4-BE49-F238E27FC236}">
                <a16:creationId xmlns:a16="http://schemas.microsoft.com/office/drawing/2014/main" id="{48841838-5861-63D0-E654-3592BDB26C4F}"/>
              </a:ext>
            </a:extLst>
          </p:cNvPr>
          <p:cNvSpPr txBox="1"/>
          <p:nvPr/>
        </p:nvSpPr>
        <p:spPr>
          <a:xfrm>
            <a:off x="1524000" y="1872861"/>
            <a:ext cx="9144001" cy="646331"/>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Ejemplo: </a:t>
            </a:r>
            <a:r>
              <a:rPr lang="es-ES" dirty="0">
                <a:latin typeface="Verdana" panose="020B0604030504040204" pitchFamily="34" charset="0"/>
                <a:ea typeface="Verdana" panose="020B0604030504040204" pitchFamily="34" charset="0"/>
                <a:cs typeface="Verdana" panose="020B0604030504040204" pitchFamily="34" charset="0"/>
              </a:rPr>
              <a:t>¿Cuántas funciones se pueden definir de un conjunto de m elementos (dominio) a otro conjunto de n elementos (imagen)?</a:t>
            </a:r>
            <a:endParaRPr lang="es-CO" dirty="0">
              <a:latin typeface="Verdana" panose="020B0604030504040204" pitchFamily="34" charset="0"/>
              <a:ea typeface="Verdana" panose="020B0604030504040204" pitchFamily="34" charset="0"/>
              <a:cs typeface="Verdana" panose="020B0604030504040204" pitchFamily="34" charset="0"/>
            </a:endParaRPr>
          </a:p>
        </p:txBody>
      </p:sp>
      <p:sp>
        <p:nvSpPr>
          <p:cNvPr id="8" name="CuadroTexto 7">
            <a:extLst>
              <a:ext uri="{FF2B5EF4-FFF2-40B4-BE49-F238E27FC236}">
                <a16:creationId xmlns:a16="http://schemas.microsoft.com/office/drawing/2014/main" id="{932481B4-8543-947D-05DB-233EB2D975E5}"/>
              </a:ext>
            </a:extLst>
          </p:cNvPr>
          <p:cNvSpPr txBox="1"/>
          <p:nvPr/>
        </p:nvSpPr>
        <p:spPr>
          <a:xfrm>
            <a:off x="1524000" y="3239699"/>
            <a:ext cx="9144000" cy="1754326"/>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Solución: </a:t>
            </a:r>
            <a:r>
              <a:rPr lang="es-ES" dirty="0">
                <a:latin typeface="Verdana" panose="020B0604030504040204" pitchFamily="34" charset="0"/>
                <a:ea typeface="Verdana" panose="020B0604030504040204" pitchFamily="34" charset="0"/>
                <a:cs typeface="Verdana" panose="020B0604030504040204" pitchFamily="34" charset="0"/>
              </a:rPr>
              <a:t>Una función corresponde con la elección de uno de los m elementos del conjunto imagen para cada uno de los n elementos del dominio</a:t>
            </a:r>
            <a:r>
              <a:rPr lang="es-CO" dirty="0">
                <a:latin typeface="Verdana" panose="020B0604030504040204" pitchFamily="34" charset="0"/>
                <a:ea typeface="Verdana" panose="020B0604030504040204" pitchFamily="34" charset="0"/>
                <a:cs typeface="Verdana" panose="020B0604030504040204" pitchFamily="34" charset="0"/>
              </a:rPr>
              <a:t>. </a:t>
            </a:r>
          </a:p>
          <a:p>
            <a:pPr algn="just"/>
            <a:endParaRPr lang="es-CO" dirty="0">
              <a:latin typeface="Verdana" panose="020B0604030504040204" pitchFamily="34" charset="0"/>
              <a:ea typeface="Verdana" panose="020B0604030504040204" pitchFamily="34" charset="0"/>
              <a:cs typeface="Verdana" panose="020B0604030504040204" pitchFamily="34" charset="0"/>
            </a:endParaRPr>
          </a:p>
          <a:p>
            <a:pPr algn="just"/>
            <a:r>
              <a:rPr lang="es-CO" dirty="0">
                <a:latin typeface="Verdana" panose="020B0604030504040204" pitchFamily="34" charset="0"/>
                <a:ea typeface="Verdana" panose="020B0604030504040204" pitchFamily="34" charset="0"/>
                <a:cs typeface="Verdana" panose="020B0604030504040204" pitchFamily="34" charset="0"/>
              </a:rPr>
              <a:t>Aplicando la regla del producto sucesivamente se obtiene la siguiente relación : n * n * n * … * n * n = </a:t>
            </a:r>
            <a:r>
              <a:rPr lang="es-CO" dirty="0">
                <a:latin typeface="Verdana" panose="020B0604030504040204" pitchFamily="34" charset="0"/>
                <a:ea typeface="Verdana" panose="020B0604030504040204" pitchFamily="34" charset="0"/>
              </a:rPr>
              <a:t>n</a:t>
            </a:r>
            <a:r>
              <a:rPr lang="es-CO" baseline="30000" dirty="0">
                <a:latin typeface="Verdana" panose="020B0604030504040204" pitchFamily="34" charset="0"/>
                <a:ea typeface="Verdana" panose="020B0604030504040204" pitchFamily="34" charset="0"/>
              </a:rPr>
              <a:t>m</a:t>
            </a:r>
            <a:endParaRPr lang="es-ES"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1988586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EXTENSIÓN DEL PRODUCTO</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2" name="CuadroTexto 1">
            <a:extLst>
              <a:ext uri="{FF2B5EF4-FFF2-40B4-BE49-F238E27FC236}">
                <a16:creationId xmlns:a16="http://schemas.microsoft.com/office/drawing/2014/main" id="{48841838-5861-63D0-E654-3592BDB26C4F}"/>
              </a:ext>
            </a:extLst>
          </p:cNvPr>
          <p:cNvSpPr txBox="1"/>
          <p:nvPr/>
        </p:nvSpPr>
        <p:spPr>
          <a:xfrm>
            <a:off x="1524000" y="1872861"/>
            <a:ext cx="9144001" cy="646331"/>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Ejemplo:</a:t>
            </a:r>
            <a:r>
              <a:rPr lang="es-ES" dirty="0">
                <a:latin typeface="Verdana" panose="020B0604030504040204" pitchFamily="34" charset="0"/>
                <a:ea typeface="Verdana" panose="020B0604030504040204" pitchFamily="34" charset="0"/>
                <a:cs typeface="Verdana" panose="020B0604030504040204" pitchFamily="34" charset="0"/>
              </a:rPr>
              <a:t> ¿Según lo visto anteriormente cuantas funciones existen desde un conjunto de 4 en otro de 6 elementos?</a:t>
            </a:r>
            <a:endParaRPr lang="es-CO" dirty="0">
              <a:latin typeface="Verdana" panose="020B0604030504040204" pitchFamily="34" charset="0"/>
              <a:ea typeface="Verdana" panose="020B0604030504040204" pitchFamily="34" charset="0"/>
              <a:cs typeface="Verdana" panose="020B0604030504040204" pitchFamily="34" charset="0"/>
            </a:endParaRPr>
          </a:p>
        </p:txBody>
      </p:sp>
      <p:sp>
        <p:nvSpPr>
          <p:cNvPr id="8" name="CuadroTexto 7">
            <a:extLst>
              <a:ext uri="{FF2B5EF4-FFF2-40B4-BE49-F238E27FC236}">
                <a16:creationId xmlns:a16="http://schemas.microsoft.com/office/drawing/2014/main" id="{932481B4-8543-947D-05DB-233EB2D975E5}"/>
              </a:ext>
            </a:extLst>
          </p:cNvPr>
          <p:cNvSpPr txBox="1"/>
          <p:nvPr/>
        </p:nvSpPr>
        <p:spPr>
          <a:xfrm>
            <a:off x="1524000" y="3239699"/>
            <a:ext cx="9144000" cy="923330"/>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Solución: </a:t>
            </a:r>
            <a:r>
              <a:rPr lang="es-CO" dirty="0">
                <a:latin typeface="Verdana" panose="020B0604030504040204" pitchFamily="34" charset="0"/>
                <a:ea typeface="Verdana" panose="020B0604030504040204" pitchFamily="34" charset="0"/>
                <a:cs typeface="Verdana" panose="020B0604030504040204" pitchFamily="34" charset="0"/>
              </a:rPr>
              <a:t>Aplicando la regla del producto sucesivamente se obtiene la siguiente relación : 6 * 6 * 6 * 6  = </a:t>
            </a:r>
            <a:r>
              <a:rPr lang="es-CO" dirty="0">
                <a:latin typeface="Verdana" panose="020B0604030504040204" pitchFamily="34" charset="0"/>
                <a:ea typeface="Verdana" panose="020B0604030504040204" pitchFamily="34" charset="0"/>
              </a:rPr>
              <a:t>6</a:t>
            </a:r>
            <a:r>
              <a:rPr lang="es-CO" baseline="30000" dirty="0">
                <a:latin typeface="Verdana" panose="020B0604030504040204" pitchFamily="34" charset="0"/>
                <a:ea typeface="Verdana" panose="020B0604030504040204" pitchFamily="34" charset="0"/>
              </a:rPr>
              <a:t>4</a:t>
            </a:r>
            <a:r>
              <a:rPr lang="es-ES" dirty="0">
                <a:latin typeface="Verdana" panose="020B0604030504040204" pitchFamily="34" charset="0"/>
                <a:ea typeface="Verdana" panose="020B0604030504040204" pitchFamily="34" charset="0"/>
              </a:rPr>
              <a:t> posibles funciones</a:t>
            </a:r>
            <a:endParaRPr lang="es-ES" b="1" dirty="0">
              <a:latin typeface="Verdana" panose="020B0604030504040204" pitchFamily="34" charset="0"/>
              <a:ea typeface="Verdana" panose="020B0604030504040204" pitchFamily="34" charset="0"/>
              <a:cs typeface="Verdana" panose="020B0604030504040204" pitchFamily="34" charset="0"/>
            </a:endParaRPr>
          </a:p>
          <a:p>
            <a:pPr algn="just"/>
            <a:endParaRPr lang="es-ES"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3377424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EJEMPLO</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2" name="CuadroTexto 1">
            <a:extLst>
              <a:ext uri="{FF2B5EF4-FFF2-40B4-BE49-F238E27FC236}">
                <a16:creationId xmlns:a16="http://schemas.microsoft.com/office/drawing/2014/main" id="{48841838-5861-63D0-E654-3592BDB26C4F}"/>
              </a:ext>
            </a:extLst>
          </p:cNvPr>
          <p:cNvSpPr txBox="1"/>
          <p:nvPr/>
        </p:nvSpPr>
        <p:spPr>
          <a:xfrm>
            <a:off x="1524000" y="1872861"/>
            <a:ext cx="9144001" cy="646331"/>
          </a:xfrm>
          <a:prstGeom prst="rect">
            <a:avLst/>
          </a:prstGeom>
          <a:noFill/>
        </p:spPr>
        <p:txBody>
          <a:bodyPr wrap="square" rtlCol="0">
            <a:spAutoFit/>
          </a:bodyPr>
          <a:lstStyle/>
          <a:p>
            <a:pPr algn="just"/>
            <a:r>
              <a:rPr lang="es-ES" dirty="0">
                <a:latin typeface="Verdana" panose="020B0604030504040204" pitchFamily="34" charset="0"/>
                <a:ea typeface="Verdana" panose="020B0604030504040204" pitchFamily="34" charset="0"/>
                <a:cs typeface="Verdana" panose="020B0604030504040204" pitchFamily="34" charset="0"/>
              </a:rPr>
              <a:t>¿Cuál es la complejidad computacional de ordenar un arreglo de tamaño n en Python probando todas las posibilidades?</a:t>
            </a:r>
            <a:endParaRPr lang="es-CO" dirty="0">
              <a:latin typeface="Verdana" panose="020B0604030504040204" pitchFamily="34" charset="0"/>
              <a:ea typeface="Verdana" panose="020B0604030504040204" pitchFamily="34" charset="0"/>
              <a:cs typeface="Verdana" panose="020B0604030504040204" pitchFamily="34" charset="0"/>
            </a:endParaRPr>
          </a:p>
        </p:txBody>
      </p:sp>
      <p:sp>
        <p:nvSpPr>
          <p:cNvPr id="5" name="CuadroTexto 4">
            <a:extLst>
              <a:ext uri="{FF2B5EF4-FFF2-40B4-BE49-F238E27FC236}">
                <a16:creationId xmlns:a16="http://schemas.microsoft.com/office/drawing/2014/main" id="{79174ECF-E5FC-1E8C-55BC-F2334B57CE1E}"/>
              </a:ext>
            </a:extLst>
          </p:cNvPr>
          <p:cNvSpPr txBox="1"/>
          <p:nvPr/>
        </p:nvSpPr>
        <p:spPr>
          <a:xfrm>
            <a:off x="1524000" y="3637818"/>
            <a:ext cx="9144001" cy="369332"/>
          </a:xfrm>
          <a:prstGeom prst="rect">
            <a:avLst/>
          </a:prstGeom>
          <a:noFill/>
        </p:spPr>
        <p:txBody>
          <a:bodyPr wrap="square" rtlCol="0">
            <a:spAutoFit/>
          </a:bodyPr>
          <a:lstStyle/>
          <a:p>
            <a:pPr algn="just"/>
            <a:r>
              <a:rPr lang="es-ES" dirty="0">
                <a:latin typeface="Verdana" panose="020B0604030504040204" pitchFamily="34" charset="0"/>
                <a:ea typeface="Verdana" panose="020B0604030504040204" pitchFamily="34" charset="0"/>
                <a:cs typeface="Verdana" panose="020B0604030504040204" pitchFamily="34" charset="0"/>
              </a:rPr>
              <a:t>Solución. </a:t>
            </a:r>
            <a:r>
              <a:rPr lang="es-MX" dirty="0">
                <a:latin typeface="Verdana" panose="020B0604030504040204" pitchFamily="34" charset="0"/>
                <a:ea typeface="Verdana" panose="020B0604030504040204" pitchFamily="34" charset="0"/>
                <a:cs typeface="Verdana" panose="020B0604030504040204" pitchFamily="34" charset="0"/>
              </a:rPr>
              <a:t>¡Aplicando la regla del producto, sería n!</a:t>
            </a:r>
            <a:r>
              <a:rPr lang="es-ES" dirty="0">
                <a:latin typeface="Verdana" panose="020B0604030504040204" pitchFamily="34" charset="0"/>
                <a:ea typeface="Verdana" panose="020B0604030504040204" pitchFamily="34" charset="0"/>
                <a:cs typeface="Verdana" panose="020B0604030504040204" pitchFamily="34" charset="0"/>
              </a:rPr>
              <a:t>.</a:t>
            </a:r>
            <a:r>
              <a:rPr lang="es-CO" dirty="0">
                <a:latin typeface="Verdana" panose="020B0604030504040204" pitchFamily="34" charset="0"/>
                <a:ea typeface="Verdana" panose="020B0604030504040204" pitchFamily="34" charset="0"/>
                <a:cs typeface="Verdana" panose="020B0604030504040204" pitchFamily="34" charset="0"/>
              </a:rPr>
              <a:t> O(n!)</a:t>
            </a:r>
            <a:endParaRPr lang="es-ES"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12997439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PROBLEMAS DE RECUENTO MÁS COMPLICADOS</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2" name="CuadroTexto 1">
            <a:extLst>
              <a:ext uri="{FF2B5EF4-FFF2-40B4-BE49-F238E27FC236}">
                <a16:creationId xmlns:a16="http://schemas.microsoft.com/office/drawing/2014/main" id="{48841838-5861-63D0-E654-3592BDB26C4F}"/>
              </a:ext>
            </a:extLst>
          </p:cNvPr>
          <p:cNvSpPr txBox="1"/>
          <p:nvPr/>
        </p:nvSpPr>
        <p:spPr>
          <a:xfrm>
            <a:off x="1524000" y="2385405"/>
            <a:ext cx="9144001" cy="1200329"/>
          </a:xfrm>
          <a:prstGeom prst="rect">
            <a:avLst/>
          </a:prstGeom>
          <a:noFill/>
        </p:spPr>
        <p:txBody>
          <a:bodyPr wrap="square" rtlCol="0">
            <a:spAutoFit/>
          </a:bodyPr>
          <a:lstStyle/>
          <a:p>
            <a:pPr algn="just"/>
            <a:r>
              <a:rPr lang="es-ES" dirty="0">
                <a:latin typeface="Verdana" panose="020B0604030504040204" pitchFamily="34" charset="0"/>
                <a:ea typeface="Verdana" panose="020B0604030504040204" pitchFamily="34" charset="0"/>
                <a:cs typeface="Verdana" panose="020B0604030504040204" pitchFamily="34" charset="0"/>
              </a:rPr>
              <a:t>Muchos problemas de recuento no se pueden resolver utilizando sólo el principio de la suma o el principio del producto. Sin embargo, la utilización simultánea de ambos principios permite resolver problemas como los siguientes: </a:t>
            </a:r>
            <a:endParaRPr lang="es-CO"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15206371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PROBLEMAS DE RECUENTO MÁS COMPLICADOS</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7" name="CuadroTexto 6">
            <a:extLst>
              <a:ext uri="{FF2B5EF4-FFF2-40B4-BE49-F238E27FC236}">
                <a16:creationId xmlns:a16="http://schemas.microsoft.com/office/drawing/2014/main" id="{FDE5D003-B237-D627-8B39-ECC658237BE6}"/>
              </a:ext>
            </a:extLst>
          </p:cNvPr>
          <p:cNvSpPr txBox="1"/>
          <p:nvPr/>
        </p:nvSpPr>
        <p:spPr>
          <a:xfrm>
            <a:off x="1524000" y="1589383"/>
            <a:ext cx="9144001" cy="2585323"/>
          </a:xfrm>
          <a:prstGeom prst="rect">
            <a:avLst/>
          </a:prstGeom>
          <a:noFill/>
        </p:spPr>
        <p:txBody>
          <a:bodyPr wrap="square" rtlCol="0">
            <a:spAutoFit/>
          </a:bodyPr>
          <a:lstStyle/>
          <a:p>
            <a:pPr algn="just"/>
            <a:r>
              <a:rPr lang="es-MX" b="1" dirty="0">
                <a:latin typeface="Verdana" panose="020B0604030504040204" pitchFamily="34" charset="0"/>
                <a:ea typeface="Verdana" panose="020B0604030504040204" pitchFamily="34" charset="0"/>
                <a:cs typeface="Verdana" panose="020B0604030504040204" pitchFamily="34" charset="0"/>
              </a:rPr>
              <a:t>Ejemplo.</a:t>
            </a:r>
          </a:p>
          <a:p>
            <a:pPr algn="just"/>
            <a:endParaRPr lang="es-MX" b="1" dirty="0">
              <a:latin typeface="Verdana" panose="020B0604030504040204" pitchFamily="34" charset="0"/>
              <a:ea typeface="Verdana" panose="020B0604030504040204" pitchFamily="34" charset="0"/>
              <a:cs typeface="Verdana" panose="020B0604030504040204" pitchFamily="34" charset="0"/>
            </a:endParaRPr>
          </a:p>
          <a:p>
            <a:pPr algn="just"/>
            <a:r>
              <a:rPr lang="es-MX" dirty="0">
                <a:latin typeface="Verdana" panose="020B0604030504040204" pitchFamily="34" charset="0"/>
                <a:ea typeface="Verdana" panose="020B0604030504040204" pitchFamily="34" charset="0"/>
                <a:cs typeface="Verdana" panose="020B0604030504040204" pitchFamily="34" charset="0"/>
              </a:rPr>
              <a:t>En la versión 3.0 del lenguaje Python, el nombre de una variable es una cadena de uno o dos caracteres alfanuméricos, y las letras mayúsculas y minúsculas no se distinguen(Un carácter alfanumérico es bien un dígito, bien una de las 26 letras del alfabeto inglés). Además, un nombre de variable debe empezar con una letra y de ser diferente de las cinco cadenas de dos caracteres que están reservadas por el lenguaje. ¿Cuántos nombres de variables distintos hay en dicha versión del lenguaje Python </a:t>
            </a:r>
            <a:endParaRPr lang="es-CO"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34192379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PROBLEMAS DE RECUENTO MÁS COMPLICADOS</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7" name="CuadroTexto 6">
            <a:extLst>
              <a:ext uri="{FF2B5EF4-FFF2-40B4-BE49-F238E27FC236}">
                <a16:creationId xmlns:a16="http://schemas.microsoft.com/office/drawing/2014/main" id="{FDE5D003-B237-D627-8B39-ECC658237BE6}"/>
              </a:ext>
            </a:extLst>
          </p:cNvPr>
          <p:cNvSpPr txBox="1"/>
          <p:nvPr/>
        </p:nvSpPr>
        <p:spPr>
          <a:xfrm>
            <a:off x="1524000" y="1589383"/>
            <a:ext cx="9144001" cy="1477328"/>
          </a:xfrm>
          <a:prstGeom prst="rect">
            <a:avLst/>
          </a:prstGeom>
          <a:noFill/>
        </p:spPr>
        <p:txBody>
          <a:bodyPr wrap="square" rtlCol="0">
            <a:spAutoFit/>
          </a:bodyPr>
          <a:lstStyle/>
          <a:p>
            <a:pPr algn="just"/>
            <a:r>
              <a:rPr lang="es-MX" b="1" dirty="0">
                <a:latin typeface="Verdana" panose="020B0604030504040204" pitchFamily="34" charset="0"/>
                <a:ea typeface="Verdana" panose="020B0604030504040204" pitchFamily="34" charset="0"/>
                <a:cs typeface="Verdana" panose="020B0604030504040204" pitchFamily="34" charset="0"/>
              </a:rPr>
              <a:t>Solución</a:t>
            </a:r>
          </a:p>
          <a:p>
            <a:pPr algn="just"/>
            <a:endParaRPr lang="es-MX" dirty="0">
              <a:latin typeface="Verdana" panose="020B0604030504040204" pitchFamily="34" charset="0"/>
              <a:ea typeface="Verdana" panose="020B0604030504040204" pitchFamily="34" charset="0"/>
              <a:cs typeface="Verdana" panose="020B0604030504040204" pitchFamily="34" charset="0"/>
            </a:endParaRPr>
          </a:p>
          <a:p>
            <a:pPr algn="just"/>
            <a:r>
              <a:rPr lang="es-MX" dirty="0">
                <a:latin typeface="Verdana" panose="020B0604030504040204" pitchFamily="34" charset="0"/>
                <a:ea typeface="Verdana" panose="020B0604030504040204" pitchFamily="34" charset="0"/>
                <a:cs typeface="Verdana" panose="020B0604030504040204" pitchFamily="34" charset="0"/>
              </a:rPr>
              <a:t>Sea V en número de variables disponibles. Sea V1 el número de variables compuestas por sólo un carácter y V2 el número de variables compuestas por dos caracteres.</a:t>
            </a:r>
          </a:p>
        </p:txBody>
      </p:sp>
    </p:spTree>
    <p:extLst>
      <p:ext uri="{BB962C8B-B14F-4D97-AF65-F5344CB8AC3E}">
        <p14:creationId xmlns:p14="http://schemas.microsoft.com/office/powerpoint/2010/main" val="38656975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PROBLEMAS DE RECUENTO MÁS COMPLICADOS</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7" name="CuadroTexto 6">
            <a:extLst>
              <a:ext uri="{FF2B5EF4-FFF2-40B4-BE49-F238E27FC236}">
                <a16:creationId xmlns:a16="http://schemas.microsoft.com/office/drawing/2014/main" id="{FDE5D003-B237-D627-8B39-ECC658237BE6}"/>
              </a:ext>
            </a:extLst>
          </p:cNvPr>
          <p:cNvSpPr txBox="1"/>
          <p:nvPr/>
        </p:nvSpPr>
        <p:spPr>
          <a:xfrm>
            <a:off x="1524000" y="1589383"/>
            <a:ext cx="9144001" cy="2031325"/>
          </a:xfrm>
          <a:prstGeom prst="rect">
            <a:avLst/>
          </a:prstGeom>
          <a:noFill/>
        </p:spPr>
        <p:txBody>
          <a:bodyPr wrap="square" rtlCol="0">
            <a:spAutoFit/>
          </a:bodyPr>
          <a:lstStyle/>
          <a:p>
            <a:pPr algn="just"/>
            <a:r>
              <a:rPr lang="es-MX" b="1" dirty="0">
                <a:latin typeface="Verdana" panose="020B0604030504040204" pitchFamily="34" charset="0"/>
                <a:ea typeface="Verdana" panose="020B0604030504040204" pitchFamily="34" charset="0"/>
                <a:cs typeface="Verdana" panose="020B0604030504040204" pitchFamily="34" charset="0"/>
              </a:rPr>
              <a:t>Solución</a:t>
            </a:r>
          </a:p>
          <a:p>
            <a:pPr algn="just"/>
            <a:endParaRPr lang="es-MX" b="1" dirty="0">
              <a:latin typeface="Verdana" panose="020B0604030504040204" pitchFamily="34" charset="0"/>
              <a:ea typeface="Verdana" panose="020B0604030504040204" pitchFamily="34" charset="0"/>
              <a:cs typeface="Verdana" panose="020B0604030504040204" pitchFamily="34" charset="0"/>
            </a:endParaRPr>
          </a:p>
          <a:p>
            <a:pPr marL="285750" indent="-285750" algn="just">
              <a:buFont typeface="Arial" panose="020B0604020202020204" pitchFamily="34" charset="0"/>
              <a:buChar char="•"/>
            </a:pPr>
            <a:r>
              <a:rPr lang="es-MX" dirty="0">
                <a:latin typeface="Verdana" panose="020B0604030504040204" pitchFamily="34" charset="0"/>
                <a:ea typeface="Verdana" panose="020B0604030504040204" pitchFamily="34" charset="0"/>
                <a:cs typeface="Verdana" panose="020B0604030504040204" pitchFamily="34" charset="0"/>
              </a:rPr>
              <a:t>V1 = es 26 debido a qué solo puede ser una letra</a:t>
            </a:r>
          </a:p>
          <a:p>
            <a:pPr marL="285750" indent="-285750" algn="just">
              <a:buFont typeface="Arial" panose="020B0604020202020204" pitchFamily="34" charset="0"/>
              <a:buChar char="•"/>
            </a:pPr>
            <a:r>
              <a:rPr lang="es-MX" dirty="0">
                <a:latin typeface="Verdana" panose="020B0604030504040204" pitchFamily="34" charset="0"/>
                <a:ea typeface="Verdana" panose="020B0604030504040204" pitchFamily="34" charset="0"/>
                <a:cs typeface="Verdana" panose="020B0604030504040204" pitchFamily="34" charset="0"/>
              </a:rPr>
              <a:t>V2 = debe ser 26 * 36 debido es la forma de generar el nombre de una variable de dos caracteres.</a:t>
            </a:r>
          </a:p>
          <a:p>
            <a:pPr marL="285750" indent="-285750" algn="just">
              <a:buFont typeface="Arial" panose="020B0604020202020204" pitchFamily="34" charset="0"/>
              <a:buChar char="•"/>
            </a:pPr>
            <a:r>
              <a:rPr lang="es-MX" dirty="0">
                <a:latin typeface="Verdana" panose="020B0604030504040204" pitchFamily="34" charset="0"/>
                <a:ea typeface="Verdana" panose="020B0604030504040204" pitchFamily="34" charset="0"/>
                <a:cs typeface="Verdana" panose="020B0604030504040204" pitchFamily="34" charset="0"/>
              </a:rPr>
              <a:t>Por último, cinco (5) de ellas están excluidas por lo que V2 = 26 * 36 - 5 = 931</a:t>
            </a:r>
          </a:p>
        </p:txBody>
      </p:sp>
      <p:sp>
        <p:nvSpPr>
          <p:cNvPr id="2" name="CuadroTexto 1">
            <a:extLst>
              <a:ext uri="{FF2B5EF4-FFF2-40B4-BE49-F238E27FC236}">
                <a16:creationId xmlns:a16="http://schemas.microsoft.com/office/drawing/2014/main" id="{80121453-1121-C7A0-BAD6-832E147D8EE8}"/>
              </a:ext>
            </a:extLst>
          </p:cNvPr>
          <p:cNvSpPr txBox="1"/>
          <p:nvPr/>
        </p:nvSpPr>
        <p:spPr>
          <a:xfrm>
            <a:off x="1523999" y="4018753"/>
            <a:ext cx="9144001" cy="923330"/>
          </a:xfrm>
          <a:prstGeom prst="rect">
            <a:avLst/>
          </a:prstGeom>
          <a:noFill/>
        </p:spPr>
        <p:txBody>
          <a:bodyPr wrap="square" rtlCol="0">
            <a:spAutoFit/>
          </a:bodyPr>
          <a:lstStyle/>
          <a:p>
            <a:pPr algn="just"/>
            <a:r>
              <a:rPr lang="es-MX" b="1" dirty="0">
                <a:latin typeface="Verdana" panose="020B0604030504040204" pitchFamily="34" charset="0"/>
                <a:ea typeface="Verdana" panose="020B0604030504040204" pitchFamily="34" charset="0"/>
                <a:cs typeface="Verdana" panose="020B0604030504040204" pitchFamily="34" charset="0"/>
              </a:rPr>
              <a:t>Solución</a:t>
            </a:r>
          </a:p>
          <a:p>
            <a:pPr algn="just"/>
            <a:r>
              <a:rPr lang="es-MX" dirty="0">
                <a:latin typeface="Verdana" panose="020B0604030504040204" pitchFamily="34" charset="0"/>
                <a:ea typeface="Verdana" panose="020B0604030504040204" pitchFamily="34" charset="0"/>
                <a:cs typeface="Verdana" panose="020B0604030504040204" pitchFamily="34" charset="0"/>
              </a:rPr>
              <a:t>Entonces el número de variables en el lenguaje de Python es:</a:t>
            </a:r>
          </a:p>
          <a:p>
            <a:pPr algn="just"/>
            <a:r>
              <a:rPr lang="es-MX" dirty="0">
                <a:latin typeface="Verdana" panose="020B0604030504040204" pitchFamily="34" charset="0"/>
                <a:ea typeface="Verdana" panose="020B0604030504040204" pitchFamily="34" charset="0"/>
                <a:cs typeface="Verdana" panose="020B0604030504040204" pitchFamily="34" charset="0"/>
              </a:rPr>
              <a:t>V1 + V2 = 26 + 931 = 957 nombres posibles de variables</a:t>
            </a:r>
          </a:p>
        </p:txBody>
      </p:sp>
    </p:spTree>
    <p:extLst>
      <p:ext uri="{BB962C8B-B14F-4D97-AF65-F5344CB8AC3E}">
        <p14:creationId xmlns:p14="http://schemas.microsoft.com/office/powerpoint/2010/main" val="3530374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PROBLEMAS DE RECUENTO MÁS COMPLICADOS</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7" name="CuadroTexto 6">
            <a:extLst>
              <a:ext uri="{FF2B5EF4-FFF2-40B4-BE49-F238E27FC236}">
                <a16:creationId xmlns:a16="http://schemas.microsoft.com/office/drawing/2014/main" id="{FDE5D003-B237-D627-8B39-ECC658237BE6}"/>
              </a:ext>
            </a:extLst>
          </p:cNvPr>
          <p:cNvSpPr txBox="1"/>
          <p:nvPr/>
        </p:nvSpPr>
        <p:spPr>
          <a:xfrm>
            <a:off x="1524000" y="1589383"/>
            <a:ext cx="9144001" cy="369332"/>
          </a:xfrm>
          <a:prstGeom prst="rect">
            <a:avLst/>
          </a:prstGeom>
          <a:noFill/>
        </p:spPr>
        <p:txBody>
          <a:bodyPr wrap="square" rtlCol="0">
            <a:spAutoFit/>
          </a:bodyPr>
          <a:lstStyle/>
          <a:p>
            <a:pPr algn="just"/>
            <a:r>
              <a:rPr lang="es-MX" b="1" dirty="0">
                <a:latin typeface="Verdana" panose="020B0604030504040204" pitchFamily="34" charset="0"/>
                <a:ea typeface="Verdana" panose="020B0604030504040204" pitchFamily="34" charset="0"/>
                <a:cs typeface="Verdana" panose="020B0604030504040204" pitchFamily="34" charset="0"/>
              </a:rPr>
              <a:t>Ejercicio </a:t>
            </a:r>
          </a:p>
        </p:txBody>
      </p:sp>
      <p:sp>
        <p:nvSpPr>
          <p:cNvPr id="2" name="CuadroTexto 1">
            <a:extLst>
              <a:ext uri="{FF2B5EF4-FFF2-40B4-BE49-F238E27FC236}">
                <a16:creationId xmlns:a16="http://schemas.microsoft.com/office/drawing/2014/main" id="{323EDDE4-F9D1-9BE1-B417-022211382773}"/>
              </a:ext>
            </a:extLst>
          </p:cNvPr>
          <p:cNvSpPr txBox="1"/>
          <p:nvPr/>
        </p:nvSpPr>
        <p:spPr>
          <a:xfrm>
            <a:off x="1523999" y="2241069"/>
            <a:ext cx="9144001" cy="1200329"/>
          </a:xfrm>
          <a:prstGeom prst="rect">
            <a:avLst/>
          </a:prstGeom>
          <a:noFill/>
        </p:spPr>
        <p:txBody>
          <a:bodyPr wrap="square" rtlCol="0">
            <a:spAutoFit/>
          </a:bodyPr>
          <a:lstStyle/>
          <a:p>
            <a:pPr algn="just"/>
            <a:r>
              <a:rPr lang="es-MX" dirty="0">
                <a:latin typeface="Verdana" panose="020B0604030504040204" pitchFamily="34" charset="0"/>
                <a:ea typeface="Verdana" panose="020B0604030504040204" pitchFamily="34" charset="0"/>
                <a:cs typeface="Verdana" panose="020B0604030504040204" pitchFamily="34" charset="0"/>
              </a:rPr>
              <a:t>Cada usuario de un ordenador tiene una contraseña, con una longitud entre seis y ocho caracteres, cada uno de los cuales es bien un dígito o bien una letra mayúscula. Cada contraseña debe contener al menos un dígito. ¿Cuántas contraseñas distintas admite el sistema?</a:t>
            </a:r>
          </a:p>
        </p:txBody>
      </p:sp>
    </p:spTree>
    <p:extLst>
      <p:ext uri="{BB962C8B-B14F-4D97-AF65-F5344CB8AC3E}">
        <p14:creationId xmlns:p14="http://schemas.microsoft.com/office/powerpoint/2010/main" val="24926769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PROBLEMAS DE RECUENTO MÁS COMPLICADOS</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7" name="CuadroTexto 6">
            <a:extLst>
              <a:ext uri="{FF2B5EF4-FFF2-40B4-BE49-F238E27FC236}">
                <a16:creationId xmlns:a16="http://schemas.microsoft.com/office/drawing/2014/main" id="{FDE5D003-B237-D627-8B39-ECC658237BE6}"/>
              </a:ext>
            </a:extLst>
          </p:cNvPr>
          <p:cNvSpPr txBox="1"/>
          <p:nvPr/>
        </p:nvSpPr>
        <p:spPr>
          <a:xfrm>
            <a:off x="1523999" y="1589383"/>
            <a:ext cx="9144001" cy="369332"/>
          </a:xfrm>
          <a:prstGeom prst="rect">
            <a:avLst/>
          </a:prstGeom>
          <a:noFill/>
        </p:spPr>
        <p:txBody>
          <a:bodyPr wrap="square" rtlCol="0">
            <a:spAutoFit/>
          </a:bodyPr>
          <a:lstStyle/>
          <a:p>
            <a:pPr algn="just"/>
            <a:r>
              <a:rPr lang="es-MX" b="1" dirty="0">
                <a:latin typeface="Verdana" panose="020B0604030504040204" pitchFamily="34" charset="0"/>
                <a:ea typeface="Verdana" panose="020B0604030504040204" pitchFamily="34" charset="0"/>
                <a:cs typeface="Verdana" panose="020B0604030504040204" pitchFamily="34" charset="0"/>
              </a:rPr>
              <a:t>Solución</a:t>
            </a:r>
          </a:p>
        </p:txBody>
      </p:sp>
      <p:sp>
        <p:nvSpPr>
          <p:cNvPr id="2" name="CuadroTexto 1">
            <a:extLst>
              <a:ext uri="{FF2B5EF4-FFF2-40B4-BE49-F238E27FC236}">
                <a16:creationId xmlns:a16="http://schemas.microsoft.com/office/drawing/2014/main" id="{323EDDE4-F9D1-9BE1-B417-022211382773}"/>
              </a:ext>
            </a:extLst>
          </p:cNvPr>
          <p:cNvSpPr txBox="1"/>
          <p:nvPr/>
        </p:nvSpPr>
        <p:spPr>
          <a:xfrm>
            <a:off x="1523999" y="2241069"/>
            <a:ext cx="9144001" cy="646331"/>
          </a:xfrm>
          <a:prstGeom prst="rect">
            <a:avLst/>
          </a:prstGeom>
          <a:noFill/>
        </p:spPr>
        <p:txBody>
          <a:bodyPr wrap="square" rtlCol="0">
            <a:spAutoFit/>
          </a:bodyPr>
          <a:lstStyle/>
          <a:p>
            <a:pPr algn="just"/>
            <a:r>
              <a:rPr lang="es-MX" dirty="0">
                <a:latin typeface="Verdana" panose="020B0604030504040204" pitchFamily="34" charset="0"/>
                <a:ea typeface="Verdana" panose="020B0604030504040204" pitchFamily="34" charset="0"/>
                <a:cs typeface="Verdana" panose="020B0604030504040204" pitchFamily="34" charset="0"/>
              </a:rPr>
              <a:t>Sea P el número total de contraseñas y sea P6, P7 y P8 respectivamente las contraseñas de longitud 6, 7, 8.</a:t>
            </a:r>
          </a:p>
        </p:txBody>
      </p:sp>
      <p:sp>
        <p:nvSpPr>
          <p:cNvPr id="5" name="CuadroTexto 4">
            <a:extLst>
              <a:ext uri="{FF2B5EF4-FFF2-40B4-BE49-F238E27FC236}">
                <a16:creationId xmlns:a16="http://schemas.microsoft.com/office/drawing/2014/main" id="{D5A9DDF3-6213-D29B-8780-F7D5DACE01F8}"/>
              </a:ext>
            </a:extLst>
          </p:cNvPr>
          <p:cNvSpPr txBox="1"/>
          <p:nvPr/>
        </p:nvSpPr>
        <p:spPr>
          <a:xfrm>
            <a:off x="1523999" y="3429000"/>
            <a:ext cx="9144001" cy="646331"/>
          </a:xfrm>
          <a:prstGeom prst="rect">
            <a:avLst/>
          </a:prstGeom>
          <a:noFill/>
        </p:spPr>
        <p:txBody>
          <a:bodyPr wrap="square" rtlCol="0">
            <a:spAutoFit/>
          </a:bodyPr>
          <a:lstStyle/>
          <a:p>
            <a:pPr algn="just"/>
            <a:r>
              <a:rPr lang="es-MX" dirty="0">
                <a:latin typeface="Verdana" panose="020B0604030504040204" pitchFamily="34" charset="0"/>
                <a:ea typeface="Verdana" panose="020B0604030504040204" pitchFamily="34" charset="0"/>
                <a:cs typeface="Verdana" panose="020B0604030504040204" pitchFamily="34" charset="0"/>
              </a:rPr>
              <a:t>Para calcular P6, P7 y P8, lo mejor es realizar la diferencia entre las cadenas válidas de longitud 6, 7 o 8 y restarlas con las que no son válidas </a:t>
            </a:r>
          </a:p>
        </p:txBody>
      </p:sp>
      <p:sp>
        <p:nvSpPr>
          <p:cNvPr id="8" name="CuadroTexto 7">
            <a:extLst>
              <a:ext uri="{FF2B5EF4-FFF2-40B4-BE49-F238E27FC236}">
                <a16:creationId xmlns:a16="http://schemas.microsoft.com/office/drawing/2014/main" id="{9CF67E7B-B98D-C8A1-997F-C6717FFE5410}"/>
              </a:ext>
            </a:extLst>
          </p:cNvPr>
          <p:cNvSpPr txBox="1"/>
          <p:nvPr/>
        </p:nvSpPr>
        <p:spPr>
          <a:xfrm>
            <a:off x="1523999" y="4294781"/>
            <a:ext cx="9144001" cy="1876283"/>
          </a:xfrm>
          <a:prstGeom prst="rect">
            <a:avLst/>
          </a:prstGeom>
          <a:noFill/>
        </p:spPr>
        <p:txBody>
          <a:bodyPr wrap="square" rtlCol="0">
            <a:spAutoFit/>
          </a:bodyPr>
          <a:lstStyle/>
          <a:p>
            <a:pPr>
              <a:lnSpc>
                <a:spcPct val="107000"/>
              </a:lnSpc>
              <a:spcAft>
                <a:spcPts val="800"/>
              </a:spcAft>
            </a:pPr>
            <a:r>
              <a:rPr lang="es-MX" dirty="0">
                <a:latin typeface="Verdana" panose="020B0604030504040204" pitchFamily="34" charset="0"/>
                <a:ea typeface="Verdana" panose="020B0604030504040204" pitchFamily="34" charset="0"/>
                <a:cs typeface="Verdana" panose="020B0604030504040204" pitchFamily="34" charset="0"/>
              </a:rPr>
              <a:t>P6= </a:t>
            </a:r>
            <a:r>
              <a:rPr lang="es-CO" sz="1800" kern="100" dirty="0">
                <a:effectLst/>
                <a:latin typeface="Calibri" panose="020F0502020204030204" pitchFamily="34" charset="0"/>
                <a:ea typeface="Calibri" panose="020F0502020204030204" pitchFamily="34" charset="0"/>
                <a:cs typeface="Times New Roman" panose="02020603050405020304" pitchFamily="18" charset="0"/>
              </a:rPr>
              <a:t>36</a:t>
            </a:r>
            <a:r>
              <a:rPr lang="es-CO" sz="1800" kern="100" baseline="30000" dirty="0">
                <a:effectLst/>
                <a:latin typeface="Calibri" panose="020F0502020204030204" pitchFamily="34" charset="0"/>
                <a:ea typeface="Calibri" panose="020F0502020204030204" pitchFamily="34" charset="0"/>
                <a:cs typeface="Times New Roman" panose="02020603050405020304" pitchFamily="18" charset="0"/>
              </a:rPr>
              <a:t>6   </a:t>
            </a:r>
            <a:r>
              <a:rPr lang="es-CO" sz="1800" kern="100" dirty="0">
                <a:effectLst/>
                <a:latin typeface="Calibri" panose="020F0502020204030204" pitchFamily="34" charset="0"/>
                <a:ea typeface="Calibri" panose="020F0502020204030204" pitchFamily="34" charset="0"/>
                <a:cs typeface="Times New Roman" panose="02020603050405020304" pitchFamily="18" charset="0"/>
              </a:rPr>
              <a:t>-</a:t>
            </a:r>
            <a:r>
              <a:rPr lang="es-CO" sz="1800" kern="100" baseline="30000" dirty="0">
                <a:effectLst/>
                <a:latin typeface="Calibri" panose="020F0502020204030204" pitchFamily="34" charset="0"/>
                <a:ea typeface="Calibri" panose="020F0502020204030204" pitchFamily="34" charset="0"/>
                <a:cs typeface="Times New Roman" panose="02020603050405020304" pitchFamily="18" charset="0"/>
              </a:rPr>
              <a:t>  </a:t>
            </a:r>
            <a:r>
              <a:rPr lang="es-CO" sz="1800" kern="100" dirty="0">
                <a:effectLst/>
                <a:latin typeface="Calibri" panose="020F0502020204030204" pitchFamily="34" charset="0"/>
                <a:ea typeface="Calibri" panose="020F0502020204030204" pitchFamily="34" charset="0"/>
                <a:cs typeface="Times New Roman" panose="02020603050405020304" pitchFamily="18" charset="0"/>
              </a:rPr>
              <a:t>26</a:t>
            </a:r>
            <a:r>
              <a:rPr lang="es-CO" sz="1800" kern="100" baseline="30000" dirty="0">
                <a:effectLst/>
                <a:latin typeface="Calibri" panose="020F0502020204030204" pitchFamily="34" charset="0"/>
                <a:ea typeface="Calibri" panose="020F0502020204030204" pitchFamily="34" charset="0"/>
                <a:cs typeface="Times New Roman" panose="02020603050405020304" pitchFamily="18" charset="0"/>
              </a:rPr>
              <a:t>6</a:t>
            </a:r>
            <a:r>
              <a:rPr lang="es-CO" kern="100" baseline="30000" dirty="0">
                <a:latin typeface="Calibri" panose="020F0502020204030204" pitchFamily="34" charset="0"/>
                <a:ea typeface="Calibri" panose="020F0502020204030204" pitchFamily="34" charset="0"/>
                <a:cs typeface="Times New Roman" panose="02020603050405020304" pitchFamily="18" charset="0"/>
              </a:rPr>
              <a:t> </a:t>
            </a:r>
            <a:r>
              <a:rPr lang="es-MX" dirty="0">
                <a:latin typeface="Verdana" panose="020B0604030504040204" pitchFamily="34" charset="0"/>
                <a:ea typeface="Verdana" panose="020B0604030504040204" pitchFamily="34" charset="0"/>
                <a:cs typeface="Verdana" panose="020B0604030504040204" pitchFamily="34" charset="0"/>
              </a:rPr>
              <a:t>= 1.867.866.560</a:t>
            </a:r>
          </a:p>
          <a:p>
            <a:pPr algn="just"/>
            <a:r>
              <a:rPr lang="es-MX" dirty="0">
                <a:latin typeface="Verdana" panose="020B0604030504040204" pitchFamily="34" charset="0"/>
                <a:ea typeface="Verdana" panose="020B0604030504040204" pitchFamily="34" charset="0"/>
                <a:cs typeface="Verdana" panose="020B0604030504040204" pitchFamily="34" charset="0"/>
              </a:rPr>
              <a:t>P7 = </a:t>
            </a:r>
            <a:r>
              <a:rPr lang="es-CO" sz="1800" kern="100" dirty="0">
                <a:effectLst/>
                <a:latin typeface="Calibri" panose="020F0502020204030204" pitchFamily="34" charset="0"/>
                <a:ea typeface="Calibri" panose="020F0502020204030204" pitchFamily="34" charset="0"/>
                <a:cs typeface="Times New Roman" panose="02020603050405020304" pitchFamily="18" charset="0"/>
              </a:rPr>
              <a:t>36</a:t>
            </a:r>
            <a:r>
              <a:rPr lang="es-CO" kern="100" baseline="30000" dirty="0">
                <a:latin typeface="Calibri" panose="020F0502020204030204" pitchFamily="34" charset="0"/>
                <a:ea typeface="Calibri" panose="020F0502020204030204" pitchFamily="34" charset="0"/>
                <a:cs typeface="Times New Roman" panose="02020603050405020304" pitchFamily="18" charset="0"/>
              </a:rPr>
              <a:t>7</a:t>
            </a:r>
            <a:r>
              <a:rPr lang="es-CO" sz="1800" kern="100" baseline="30000" dirty="0">
                <a:effectLst/>
                <a:latin typeface="Calibri" panose="020F0502020204030204" pitchFamily="34" charset="0"/>
                <a:ea typeface="Calibri" panose="020F0502020204030204" pitchFamily="34" charset="0"/>
                <a:cs typeface="Times New Roman" panose="02020603050405020304" pitchFamily="18" charset="0"/>
              </a:rPr>
              <a:t>   </a:t>
            </a:r>
            <a:r>
              <a:rPr lang="es-CO" sz="1800" kern="100" dirty="0">
                <a:effectLst/>
                <a:latin typeface="Calibri" panose="020F0502020204030204" pitchFamily="34" charset="0"/>
                <a:ea typeface="Calibri" panose="020F0502020204030204" pitchFamily="34" charset="0"/>
                <a:cs typeface="Times New Roman" panose="02020603050405020304" pitchFamily="18" charset="0"/>
              </a:rPr>
              <a:t>-</a:t>
            </a:r>
            <a:r>
              <a:rPr lang="es-CO" sz="1800" kern="100" baseline="30000" dirty="0">
                <a:effectLst/>
                <a:latin typeface="Calibri" panose="020F0502020204030204" pitchFamily="34" charset="0"/>
                <a:ea typeface="Calibri" panose="020F0502020204030204" pitchFamily="34" charset="0"/>
                <a:cs typeface="Times New Roman" panose="02020603050405020304" pitchFamily="18" charset="0"/>
              </a:rPr>
              <a:t>  </a:t>
            </a:r>
            <a:r>
              <a:rPr lang="es-CO" sz="1800" kern="100" dirty="0">
                <a:effectLst/>
                <a:latin typeface="Calibri" panose="020F0502020204030204" pitchFamily="34" charset="0"/>
                <a:ea typeface="Calibri" panose="020F0502020204030204" pitchFamily="34" charset="0"/>
                <a:cs typeface="Times New Roman" panose="02020603050405020304" pitchFamily="18" charset="0"/>
              </a:rPr>
              <a:t>26</a:t>
            </a:r>
            <a:r>
              <a:rPr lang="es-CO" kern="100" baseline="30000" dirty="0">
                <a:latin typeface="Calibri" panose="020F0502020204030204" pitchFamily="34" charset="0"/>
                <a:ea typeface="Calibri" panose="020F0502020204030204" pitchFamily="34" charset="0"/>
                <a:cs typeface="Times New Roman" panose="02020603050405020304" pitchFamily="18" charset="0"/>
              </a:rPr>
              <a:t>7 </a:t>
            </a:r>
            <a:r>
              <a:rPr lang="es-MX" dirty="0">
                <a:latin typeface="Verdana" panose="020B0604030504040204" pitchFamily="34" charset="0"/>
                <a:ea typeface="Verdana" panose="020B0604030504040204" pitchFamily="34" charset="0"/>
                <a:cs typeface="Verdana" panose="020B0604030504040204" pitchFamily="34" charset="0"/>
              </a:rPr>
              <a:t>= 70. 332.353.920</a:t>
            </a:r>
          </a:p>
          <a:p>
            <a:pPr algn="just"/>
            <a:r>
              <a:rPr lang="es-MX" dirty="0">
                <a:latin typeface="Verdana" panose="020B0604030504040204" pitchFamily="34" charset="0"/>
                <a:ea typeface="Verdana" panose="020B0604030504040204" pitchFamily="34" charset="0"/>
                <a:cs typeface="Verdana" panose="020B0604030504040204" pitchFamily="34" charset="0"/>
              </a:rPr>
              <a:t>P8 = </a:t>
            </a:r>
            <a:r>
              <a:rPr lang="es-CO" sz="1800" kern="100" dirty="0">
                <a:effectLst/>
                <a:latin typeface="Calibri" panose="020F0502020204030204" pitchFamily="34" charset="0"/>
                <a:ea typeface="Calibri" panose="020F0502020204030204" pitchFamily="34" charset="0"/>
                <a:cs typeface="Times New Roman" panose="02020603050405020304" pitchFamily="18" charset="0"/>
              </a:rPr>
              <a:t>36</a:t>
            </a:r>
            <a:r>
              <a:rPr lang="es-CO" kern="100" baseline="30000" dirty="0">
                <a:latin typeface="Calibri" panose="020F0502020204030204" pitchFamily="34" charset="0"/>
                <a:ea typeface="Calibri" panose="020F0502020204030204" pitchFamily="34" charset="0"/>
                <a:cs typeface="Times New Roman" panose="02020603050405020304" pitchFamily="18" charset="0"/>
              </a:rPr>
              <a:t>8</a:t>
            </a:r>
            <a:r>
              <a:rPr lang="es-CO" sz="1800" kern="100" baseline="30000" dirty="0">
                <a:effectLst/>
                <a:latin typeface="Calibri" panose="020F0502020204030204" pitchFamily="34" charset="0"/>
                <a:ea typeface="Calibri" panose="020F0502020204030204" pitchFamily="34" charset="0"/>
                <a:cs typeface="Times New Roman" panose="02020603050405020304" pitchFamily="18" charset="0"/>
              </a:rPr>
              <a:t>   </a:t>
            </a:r>
            <a:r>
              <a:rPr lang="es-CO" sz="1800" kern="100" dirty="0">
                <a:effectLst/>
                <a:latin typeface="Calibri" panose="020F0502020204030204" pitchFamily="34" charset="0"/>
                <a:ea typeface="Calibri" panose="020F0502020204030204" pitchFamily="34" charset="0"/>
                <a:cs typeface="Times New Roman" panose="02020603050405020304" pitchFamily="18" charset="0"/>
              </a:rPr>
              <a:t>-</a:t>
            </a:r>
            <a:r>
              <a:rPr lang="es-CO" sz="1800" kern="100" baseline="30000" dirty="0">
                <a:effectLst/>
                <a:latin typeface="Calibri" panose="020F0502020204030204" pitchFamily="34" charset="0"/>
                <a:ea typeface="Calibri" panose="020F0502020204030204" pitchFamily="34" charset="0"/>
                <a:cs typeface="Times New Roman" panose="02020603050405020304" pitchFamily="18" charset="0"/>
              </a:rPr>
              <a:t>  </a:t>
            </a:r>
            <a:r>
              <a:rPr lang="es-CO" sz="1800" kern="100" dirty="0">
                <a:effectLst/>
                <a:latin typeface="Calibri" panose="020F0502020204030204" pitchFamily="34" charset="0"/>
                <a:ea typeface="Calibri" panose="020F0502020204030204" pitchFamily="34" charset="0"/>
                <a:cs typeface="Times New Roman" panose="02020603050405020304" pitchFamily="18" charset="0"/>
              </a:rPr>
              <a:t>26</a:t>
            </a:r>
            <a:r>
              <a:rPr lang="es-CO" kern="100" baseline="30000" dirty="0">
                <a:latin typeface="Calibri" panose="020F0502020204030204" pitchFamily="34" charset="0"/>
                <a:ea typeface="Calibri" panose="020F0502020204030204" pitchFamily="34" charset="0"/>
                <a:cs typeface="Times New Roman" panose="02020603050405020304" pitchFamily="18" charset="0"/>
              </a:rPr>
              <a:t>8 </a:t>
            </a:r>
            <a:r>
              <a:rPr lang="es-MX" dirty="0">
                <a:latin typeface="Verdana" panose="020B0604030504040204" pitchFamily="34" charset="0"/>
                <a:ea typeface="Verdana" panose="020B0604030504040204" pitchFamily="34" charset="0"/>
                <a:cs typeface="Verdana" panose="020B0604030504040204" pitchFamily="34" charset="0"/>
              </a:rPr>
              <a:t>= 2.612.282.842.880</a:t>
            </a:r>
          </a:p>
          <a:p>
            <a:pPr marL="285750" indent="-285750" algn="just">
              <a:buFont typeface="Arial" panose="020B0604020202020204" pitchFamily="34" charset="0"/>
              <a:buChar char="•"/>
            </a:pPr>
            <a:endParaRPr lang="es-MX" dirty="0">
              <a:latin typeface="Verdana" panose="020B0604030504040204" pitchFamily="34" charset="0"/>
              <a:ea typeface="Verdana" panose="020B0604030504040204" pitchFamily="34" charset="0"/>
              <a:cs typeface="Verdana" panose="020B0604030504040204" pitchFamily="34" charset="0"/>
            </a:endParaRPr>
          </a:p>
          <a:p>
            <a:pPr algn="just"/>
            <a:r>
              <a:rPr lang="es-MX" dirty="0">
                <a:latin typeface="Verdana" panose="020B0604030504040204" pitchFamily="34" charset="0"/>
                <a:ea typeface="Verdana" panose="020B0604030504040204" pitchFamily="34" charset="0"/>
                <a:cs typeface="Verdana" panose="020B0604030504040204" pitchFamily="34" charset="0"/>
              </a:rPr>
              <a:t>Por lo tanto, mediante la regla de la suma, P6 + P7 + P8 = 2.684.483.063.360</a:t>
            </a:r>
          </a:p>
        </p:txBody>
      </p:sp>
    </p:spTree>
    <p:extLst>
      <p:ext uri="{BB962C8B-B14F-4D97-AF65-F5344CB8AC3E}">
        <p14:creationId xmlns:p14="http://schemas.microsoft.com/office/powerpoint/2010/main" val="26973723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PRINCIPIO DE INCLUSIÓN - EXCLUSIÓN</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2" name="CuadroTexto 1">
            <a:extLst>
              <a:ext uri="{FF2B5EF4-FFF2-40B4-BE49-F238E27FC236}">
                <a16:creationId xmlns:a16="http://schemas.microsoft.com/office/drawing/2014/main" id="{48841838-5861-63D0-E654-3592BDB26C4F}"/>
              </a:ext>
            </a:extLst>
          </p:cNvPr>
          <p:cNvSpPr txBox="1"/>
          <p:nvPr/>
        </p:nvSpPr>
        <p:spPr>
          <a:xfrm>
            <a:off x="1523999" y="1433359"/>
            <a:ext cx="9144001" cy="1477328"/>
          </a:xfrm>
          <a:prstGeom prst="rect">
            <a:avLst/>
          </a:prstGeom>
          <a:noFill/>
        </p:spPr>
        <p:txBody>
          <a:bodyPr wrap="square" rtlCol="0">
            <a:spAutoFit/>
          </a:bodyPr>
          <a:lstStyle/>
          <a:p>
            <a:pPr algn="just"/>
            <a:r>
              <a:rPr lang="es-ES" dirty="0">
                <a:latin typeface="Verdana" panose="020B0604030504040204" pitchFamily="34" charset="0"/>
                <a:ea typeface="Verdana" panose="020B0604030504040204" pitchFamily="34" charset="0"/>
                <a:cs typeface="Verdana" panose="020B0604030504040204" pitchFamily="34" charset="0"/>
              </a:rPr>
              <a:t>Cuando dos tareas se pueden resolver simultáneamente, no podemos usar la regla de la suma. Para contar correctamente el número de formas para resolver ambas tareas debemos sumar el número de formas para resolver cada tarea por separado y restar el número de formas para resolver ambas tareas.</a:t>
            </a:r>
            <a:endParaRPr lang="es-CO" dirty="0">
              <a:latin typeface="Verdana" panose="020B0604030504040204" pitchFamily="34" charset="0"/>
              <a:ea typeface="Verdana" panose="020B0604030504040204" pitchFamily="34" charset="0"/>
              <a:cs typeface="Verdana" panose="020B0604030504040204" pitchFamily="34" charset="0"/>
            </a:endParaRPr>
          </a:p>
        </p:txBody>
      </p:sp>
      <p:pic>
        <p:nvPicPr>
          <p:cNvPr id="7" name="Imagen 6">
            <a:extLst>
              <a:ext uri="{FF2B5EF4-FFF2-40B4-BE49-F238E27FC236}">
                <a16:creationId xmlns:a16="http://schemas.microsoft.com/office/drawing/2014/main" id="{34FCE438-792A-AA5F-A0D8-DB15BAE451EB}"/>
              </a:ext>
            </a:extLst>
          </p:cNvPr>
          <p:cNvPicPr>
            <a:picLocks noChangeAspect="1"/>
          </p:cNvPicPr>
          <p:nvPr/>
        </p:nvPicPr>
        <p:blipFill rotWithShape="1">
          <a:blip r:embed="rId3"/>
          <a:srcRect l="19518" t="23546" r="19552" b="37814"/>
          <a:stretch/>
        </p:blipFill>
        <p:spPr bwMode="auto">
          <a:xfrm>
            <a:off x="1824990" y="3527683"/>
            <a:ext cx="8542020" cy="2035488"/>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11878184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PRINCIPIO DE INCLUSIÓN - EXCLUSIÓN</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8" name="CuadroTexto 7">
            <a:extLst>
              <a:ext uri="{FF2B5EF4-FFF2-40B4-BE49-F238E27FC236}">
                <a16:creationId xmlns:a16="http://schemas.microsoft.com/office/drawing/2014/main" id="{932481B4-8543-947D-05DB-233EB2D975E5}"/>
              </a:ext>
            </a:extLst>
          </p:cNvPr>
          <p:cNvSpPr txBox="1"/>
          <p:nvPr/>
        </p:nvSpPr>
        <p:spPr>
          <a:xfrm>
            <a:off x="1523999" y="1402522"/>
            <a:ext cx="9144000" cy="646331"/>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Ejemplo: </a:t>
            </a:r>
            <a:r>
              <a:rPr lang="es-ES" dirty="0">
                <a:latin typeface="Verdana" panose="020B0604030504040204" pitchFamily="34" charset="0"/>
                <a:ea typeface="Verdana" panose="020B0604030504040204" pitchFamily="34" charset="0"/>
                <a:cs typeface="Verdana" panose="020B0604030504040204" pitchFamily="34" charset="0"/>
              </a:rPr>
              <a:t>¿Cuántas cadenas de bits de longitud ocho que comienzan con el bit 1 o cuyos dos últimos bits son 00 se pueden encontrar?</a:t>
            </a:r>
            <a:endParaRPr lang="es-CO" dirty="0">
              <a:latin typeface="Verdana" panose="020B0604030504040204" pitchFamily="34" charset="0"/>
              <a:ea typeface="Verdana" panose="020B0604030504040204" pitchFamily="34" charset="0"/>
              <a:cs typeface="Verdana" panose="020B0604030504040204" pitchFamily="34" charset="0"/>
            </a:endParaRPr>
          </a:p>
        </p:txBody>
      </p:sp>
      <p:sp>
        <p:nvSpPr>
          <p:cNvPr id="7" name="CuadroTexto 6">
            <a:extLst>
              <a:ext uri="{FF2B5EF4-FFF2-40B4-BE49-F238E27FC236}">
                <a16:creationId xmlns:a16="http://schemas.microsoft.com/office/drawing/2014/main" id="{9DFF85C3-A964-4811-11A2-E74054AD01A8}"/>
              </a:ext>
            </a:extLst>
          </p:cNvPr>
          <p:cNvSpPr txBox="1"/>
          <p:nvPr/>
        </p:nvSpPr>
        <p:spPr>
          <a:xfrm>
            <a:off x="1523999" y="2616238"/>
            <a:ext cx="9144000" cy="2031325"/>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Solución. </a:t>
            </a:r>
          </a:p>
          <a:p>
            <a:pPr algn="just"/>
            <a:r>
              <a:rPr lang="es-ES" dirty="0">
                <a:latin typeface="Verdana" panose="020B0604030504040204" pitchFamily="34" charset="0"/>
                <a:ea typeface="Verdana" panose="020B0604030504040204" pitchFamily="34" charset="0"/>
                <a:cs typeface="Verdana" panose="020B0604030504040204" pitchFamily="34" charset="0"/>
              </a:rPr>
              <a:t>Las Tareas de nuestro problema son:</a:t>
            </a:r>
          </a:p>
          <a:p>
            <a:pPr algn="just"/>
            <a:endParaRPr lang="es-ES" dirty="0">
              <a:latin typeface="Verdana" panose="020B0604030504040204" pitchFamily="34" charset="0"/>
              <a:ea typeface="Verdana" panose="020B0604030504040204" pitchFamily="34" charset="0"/>
              <a:cs typeface="Verdana" panose="020B0604030504040204" pitchFamily="34" charset="0"/>
            </a:endParaRPr>
          </a:p>
          <a:p>
            <a:pPr marL="285750" indent="-285750" algn="just">
              <a:buFont typeface="Arial" panose="020B0604020202020204" pitchFamily="34" charset="0"/>
              <a:buChar char="•"/>
            </a:pPr>
            <a:r>
              <a:rPr lang="es-ES" dirty="0">
                <a:latin typeface="Verdana" panose="020B0604030504040204" pitchFamily="34" charset="0"/>
                <a:ea typeface="Verdana" panose="020B0604030504040204" pitchFamily="34" charset="0"/>
                <a:cs typeface="Verdana" panose="020B0604030504040204" pitchFamily="34" charset="0"/>
              </a:rPr>
              <a:t>Una tarea es construir una cadena de 8 bits que comience en 1.</a:t>
            </a:r>
          </a:p>
          <a:p>
            <a:pPr marL="285750" indent="-285750" algn="just">
              <a:buFont typeface="Arial" panose="020B0604020202020204" pitchFamily="34" charset="0"/>
              <a:buChar char="•"/>
            </a:pPr>
            <a:endParaRPr lang="es-ES" dirty="0">
              <a:latin typeface="Verdana" panose="020B0604030504040204" pitchFamily="34" charset="0"/>
              <a:ea typeface="Verdana" panose="020B0604030504040204" pitchFamily="34" charset="0"/>
              <a:cs typeface="Verdana" panose="020B0604030504040204" pitchFamily="34" charset="0"/>
            </a:endParaRPr>
          </a:p>
          <a:p>
            <a:pPr marL="285750" indent="-285750" algn="just">
              <a:buFont typeface="Arial" panose="020B0604020202020204" pitchFamily="34" charset="0"/>
              <a:buChar char="•"/>
            </a:pPr>
            <a:r>
              <a:rPr lang="es-ES" dirty="0">
                <a:latin typeface="Verdana" panose="020B0604030504040204" pitchFamily="34" charset="0"/>
                <a:ea typeface="Verdana" panose="020B0604030504040204" pitchFamily="34" charset="0"/>
                <a:cs typeface="Verdana" panose="020B0604030504040204" pitchFamily="34" charset="0"/>
              </a:rPr>
              <a:t>Segunda tarea que consiste en construir una cadena de 8 bits que termine en 00</a:t>
            </a:r>
            <a:endParaRPr lang="es-CO"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3185290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7"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PRINCIPIO DE INCLUSIÓN - EXCLUSIÓN</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8" name="CuadroTexto 7">
            <a:extLst>
              <a:ext uri="{FF2B5EF4-FFF2-40B4-BE49-F238E27FC236}">
                <a16:creationId xmlns:a16="http://schemas.microsoft.com/office/drawing/2014/main" id="{932481B4-8543-947D-05DB-233EB2D975E5}"/>
              </a:ext>
            </a:extLst>
          </p:cNvPr>
          <p:cNvSpPr txBox="1"/>
          <p:nvPr/>
        </p:nvSpPr>
        <p:spPr>
          <a:xfrm>
            <a:off x="1523999" y="1402522"/>
            <a:ext cx="9144000" cy="646331"/>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Ejemplo: </a:t>
            </a:r>
            <a:r>
              <a:rPr lang="es-ES" dirty="0">
                <a:latin typeface="Verdana" panose="020B0604030504040204" pitchFamily="34" charset="0"/>
                <a:ea typeface="Verdana" panose="020B0604030504040204" pitchFamily="34" charset="0"/>
                <a:cs typeface="Verdana" panose="020B0604030504040204" pitchFamily="34" charset="0"/>
              </a:rPr>
              <a:t>¿Cuántas cadenas de bits de longitud ocho que comienzan con el bit 1 o cuyos dos últimos bits son 00 se pueden encontrar?</a:t>
            </a:r>
            <a:endParaRPr lang="es-CO" dirty="0">
              <a:latin typeface="Verdana" panose="020B0604030504040204" pitchFamily="34" charset="0"/>
              <a:ea typeface="Verdana" panose="020B0604030504040204" pitchFamily="34" charset="0"/>
              <a:cs typeface="Verdana" panose="020B0604030504040204" pitchFamily="34" charset="0"/>
            </a:endParaRPr>
          </a:p>
        </p:txBody>
      </p:sp>
      <p:sp>
        <p:nvSpPr>
          <p:cNvPr id="7" name="CuadroTexto 6">
            <a:extLst>
              <a:ext uri="{FF2B5EF4-FFF2-40B4-BE49-F238E27FC236}">
                <a16:creationId xmlns:a16="http://schemas.microsoft.com/office/drawing/2014/main" id="{9DFF85C3-A964-4811-11A2-E74054AD01A8}"/>
              </a:ext>
            </a:extLst>
          </p:cNvPr>
          <p:cNvSpPr txBox="1"/>
          <p:nvPr/>
        </p:nvSpPr>
        <p:spPr>
          <a:xfrm>
            <a:off x="1523999" y="2616238"/>
            <a:ext cx="9144000" cy="2031325"/>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Solución. </a:t>
            </a:r>
          </a:p>
          <a:p>
            <a:pPr algn="just"/>
            <a:r>
              <a:rPr lang="es-ES" b="1" dirty="0">
                <a:latin typeface="Verdana" panose="020B0604030504040204" pitchFamily="34" charset="0"/>
                <a:ea typeface="Verdana" panose="020B0604030504040204" pitchFamily="34" charset="0"/>
                <a:cs typeface="Verdana" panose="020B0604030504040204" pitchFamily="34" charset="0"/>
              </a:rPr>
              <a:t>La primera Tarea.</a:t>
            </a:r>
          </a:p>
          <a:p>
            <a:pPr algn="just"/>
            <a:r>
              <a:rPr lang="es-ES" dirty="0">
                <a:latin typeface="Verdana" panose="020B0604030504040204" pitchFamily="34" charset="0"/>
                <a:ea typeface="Verdana" panose="020B0604030504040204" pitchFamily="34" charset="0"/>
                <a:cs typeface="Verdana" panose="020B0604030504040204" pitchFamily="34" charset="0"/>
              </a:rPr>
              <a:t>El primer bit se puede elegir de una sola forma y los restantes se pueden escoger de dos formas distintas. Aplicando la regla del producto:</a:t>
            </a:r>
          </a:p>
          <a:p>
            <a:pPr algn="just"/>
            <a:endParaRPr lang="es-ES" b="1" dirty="0">
              <a:latin typeface="Verdana" panose="020B0604030504040204" pitchFamily="34" charset="0"/>
              <a:ea typeface="Verdana" panose="020B0604030504040204" pitchFamily="34" charset="0"/>
              <a:cs typeface="Verdana" panose="020B0604030504040204" pitchFamily="34" charset="0"/>
            </a:endParaRPr>
          </a:p>
          <a:p>
            <a:pPr algn="just"/>
            <a:r>
              <a:rPr lang="es-ES" b="1" dirty="0">
                <a:latin typeface="Verdana" panose="020B0604030504040204" pitchFamily="34" charset="0"/>
                <a:ea typeface="Verdana" panose="020B0604030504040204" pitchFamily="34" charset="0"/>
                <a:cs typeface="Verdana" panose="020B0604030504040204" pitchFamily="34" charset="0"/>
              </a:rPr>
              <a:t>1 * 2 * 2 * 2 * 2 * 2 * 2 * 2 = 1 *</a:t>
            </a:r>
            <a:r>
              <a:rPr lang="es-CO" b="1" kern="100" dirty="0">
                <a:latin typeface="Verdana" panose="020B0604030504040204" pitchFamily="34" charset="0"/>
                <a:ea typeface="Verdana" panose="020B0604030504040204" pitchFamily="34" charset="0"/>
                <a:cs typeface="Times New Roman" panose="02020603050405020304" pitchFamily="18" charset="0"/>
              </a:rPr>
              <a:t> 2</a:t>
            </a:r>
            <a:r>
              <a:rPr lang="es-CO" b="1" kern="100" baseline="30000" dirty="0">
                <a:latin typeface="Verdana" panose="020B0604030504040204" pitchFamily="34" charset="0"/>
                <a:ea typeface="Verdana" panose="020B0604030504040204" pitchFamily="34" charset="0"/>
                <a:cs typeface="Times New Roman" panose="02020603050405020304" pitchFamily="18" charset="0"/>
              </a:rPr>
              <a:t>7 </a:t>
            </a:r>
            <a:endParaRPr lang="es-ES" b="1" dirty="0">
              <a:latin typeface="Verdana" panose="020B0604030504040204" pitchFamily="34" charset="0"/>
              <a:ea typeface="Verdana" panose="020B0604030504040204" pitchFamily="34" charset="0"/>
              <a:cs typeface="Verdana" panose="020B0604030504040204" pitchFamily="34" charset="0"/>
            </a:endParaRPr>
          </a:p>
          <a:p>
            <a:pPr algn="just"/>
            <a:endParaRPr lang="es-ES" b="1"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3382649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7"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PRINCIPIO DE INCLUSIÓN - EXCLUSIÓN</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8" name="CuadroTexto 7">
            <a:extLst>
              <a:ext uri="{FF2B5EF4-FFF2-40B4-BE49-F238E27FC236}">
                <a16:creationId xmlns:a16="http://schemas.microsoft.com/office/drawing/2014/main" id="{932481B4-8543-947D-05DB-233EB2D975E5}"/>
              </a:ext>
            </a:extLst>
          </p:cNvPr>
          <p:cNvSpPr txBox="1"/>
          <p:nvPr/>
        </p:nvSpPr>
        <p:spPr>
          <a:xfrm>
            <a:off x="1523999" y="1402522"/>
            <a:ext cx="9144000" cy="646331"/>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Ejemplo: </a:t>
            </a:r>
            <a:r>
              <a:rPr lang="es-ES" dirty="0">
                <a:latin typeface="Verdana" panose="020B0604030504040204" pitchFamily="34" charset="0"/>
                <a:ea typeface="Verdana" panose="020B0604030504040204" pitchFamily="34" charset="0"/>
                <a:cs typeface="Verdana" panose="020B0604030504040204" pitchFamily="34" charset="0"/>
              </a:rPr>
              <a:t>¿cuántas cadenas de bits de longitud ocho que comienzan con el bit 1 o cuyos dos últimos bits son 00 se pueden encontrar?</a:t>
            </a:r>
            <a:endParaRPr lang="es-CO" dirty="0">
              <a:latin typeface="Verdana" panose="020B0604030504040204" pitchFamily="34" charset="0"/>
              <a:ea typeface="Verdana" panose="020B0604030504040204" pitchFamily="34" charset="0"/>
              <a:cs typeface="Verdana" panose="020B0604030504040204" pitchFamily="34" charset="0"/>
            </a:endParaRPr>
          </a:p>
        </p:txBody>
      </p:sp>
      <p:sp>
        <p:nvSpPr>
          <p:cNvPr id="7" name="CuadroTexto 6">
            <a:extLst>
              <a:ext uri="{FF2B5EF4-FFF2-40B4-BE49-F238E27FC236}">
                <a16:creationId xmlns:a16="http://schemas.microsoft.com/office/drawing/2014/main" id="{9DFF85C3-A964-4811-11A2-E74054AD01A8}"/>
              </a:ext>
            </a:extLst>
          </p:cNvPr>
          <p:cNvSpPr txBox="1"/>
          <p:nvPr/>
        </p:nvSpPr>
        <p:spPr>
          <a:xfrm>
            <a:off x="1523999" y="2616238"/>
            <a:ext cx="9144000" cy="2308324"/>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Solución. </a:t>
            </a:r>
          </a:p>
          <a:p>
            <a:pPr algn="just"/>
            <a:r>
              <a:rPr lang="es-ES" b="1" dirty="0">
                <a:latin typeface="Verdana" panose="020B0604030504040204" pitchFamily="34" charset="0"/>
                <a:ea typeface="Verdana" panose="020B0604030504040204" pitchFamily="34" charset="0"/>
                <a:cs typeface="Verdana" panose="020B0604030504040204" pitchFamily="34" charset="0"/>
              </a:rPr>
              <a:t>La segunda Tarea.</a:t>
            </a:r>
          </a:p>
          <a:p>
            <a:pPr algn="just"/>
            <a:r>
              <a:rPr lang="es-MX" dirty="0">
                <a:latin typeface="Verdana" panose="020B0604030504040204" pitchFamily="34" charset="0"/>
                <a:ea typeface="Verdana" panose="020B0604030504040204" pitchFamily="34" charset="0"/>
                <a:cs typeface="Verdana" panose="020B0604030504040204" pitchFamily="34" charset="0"/>
              </a:rPr>
              <a:t>Los dos últimos bits se pueden</a:t>
            </a:r>
            <a:r>
              <a:rPr lang="es-ES" dirty="0">
                <a:latin typeface="Verdana" panose="020B0604030504040204" pitchFamily="34" charset="0"/>
                <a:ea typeface="Verdana" panose="020B0604030504040204" pitchFamily="34" charset="0"/>
                <a:cs typeface="Verdana" panose="020B0604030504040204" pitchFamily="34" charset="0"/>
              </a:rPr>
              <a:t> elegir de una sola forma y los restantes se pueden escoger de dos formas distintas. Aplicando la regla del producto:</a:t>
            </a:r>
          </a:p>
          <a:p>
            <a:pPr algn="just"/>
            <a:endParaRPr lang="es-ES" b="1" dirty="0">
              <a:latin typeface="Verdana" panose="020B0604030504040204" pitchFamily="34" charset="0"/>
              <a:ea typeface="Verdana" panose="020B0604030504040204" pitchFamily="34" charset="0"/>
              <a:cs typeface="Verdana" panose="020B0604030504040204" pitchFamily="34" charset="0"/>
            </a:endParaRPr>
          </a:p>
          <a:p>
            <a:pPr algn="just"/>
            <a:r>
              <a:rPr lang="es-ES" b="1" dirty="0">
                <a:latin typeface="Verdana" panose="020B0604030504040204" pitchFamily="34" charset="0"/>
                <a:ea typeface="Verdana" panose="020B0604030504040204" pitchFamily="34" charset="0"/>
                <a:cs typeface="Verdana" panose="020B0604030504040204" pitchFamily="34" charset="0"/>
              </a:rPr>
              <a:t>2 * 2 * 2 * 2 * 2 * 2 * 1 * 1 = </a:t>
            </a:r>
            <a:r>
              <a:rPr lang="es-CO" b="1" kern="100" dirty="0">
                <a:latin typeface="Verdana" panose="020B0604030504040204" pitchFamily="34" charset="0"/>
                <a:ea typeface="Verdana" panose="020B0604030504040204" pitchFamily="34" charset="0"/>
                <a:cs typeface="Times New Roman" panose="02020603050405020304" pitchFamily="18" charset="0"/>
              </a:rPr>
              <a:t>2</a:t>
            </a:r>
            <a:r>
              <a:rPr lang="es-CO" b="1" kern="100" baseline="30000" dirty="0">
                <a:latin typeface="Verdana" panose="020B0604030504040204" pitchFamily="34" charset="0"/>
                <a:ea typeface="Verdana" panose="020B0604030504040204" pitchFamily="34" charset="0"/>
                <a:cs typeface="Times New Roman" panose="02020603050405020304" pitchFamily="18" charset="0"/>
              </a:rPr>
              <a:t>6</a:t>
            </a:r>
            <a:r>
              <a:rPr lang="es-CO" b="1" kern="100" dirty="0">
                <a:latin typeface="Verdana" panose="020B0604030504040204" pitchFamily="34" charset="0"/>
                <a:ea typeface="Verdana" panose="020B0604030504040204" pitchFamily="34" charset="0"/>
                <a:cs typeface="Times New Roman" panose="02020603050405020304" pitchFamily="18" charset="0"/>
              </a:rPr>
              <a:t> </a:t>
            </a:r>
            <a:r>
              <a:rPr lang="es-CO" kern="100" dirty="0">
                <a:latin typeface="Verdana" panose="020B0604030504040204" pitchFamily="34" charset="0"/>
                <a:ea typeface="Verdana" panose="020B0604030504040204" pitchFamily="34" charset="0"/>
                <a:cs typeface="Times New Roman" panose="02020603050405020304" pitchFamily="18" charset="0"/>
              </a:rPr>
              <a:t>Formas de construir una cadena de longitud ocho que termina en 00, aplicando la regla del producto.</a:t>
            </a:r>
            <a:r>
              <a:rPr lang="es-CO" kern="100" baseline="30000" dirty="0">
                <a:latin typeface="Verdana" panose="020B0604030504040204" pitchFamily="34" charset="0"/>
                <a:ea typeface="Verdana" panose="020B0604030504040204" pitchFamily="34" charset="0"/>
                <a:cs typeface="Times New Roman" panose="02020603050405020304" pitchFamily="18" charset="0"/>
              </a:rPr>
              <a:t> </a:t>
            </a:r>
            <a:endParaRPr lang="es-ES" dirty="0">
              <a:latin typeface="Verdana" panose="020B0604030504040204" pitchFamily="34" charset="0"/>
              <a:ea typeface="Verdana" panose="020B0604030504040204" pitchFamily="34" charset="0"/>
              <a:cs typeface="Verdana" panose="020B0604030504040204" pitchFamily="34" charset="0"/>
            </a:endParaRPr>
          </a:p>
          <a:p>
            <a:pPr algn="just"/>
            <a:endParaRPr lang="es-ES" b="1"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16949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7"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PRINCIPIO DE INCLUSIÓN - EXCLUSIÓN</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8" name="CuadroTexto 7">
            <a:extLst>
              <a:ext uri="{FF2B5EF4-FFF2-40B4-BE49-F238E27FC236}">
                <a16:creationId xmlns:a16="http://schemas.microsoft.com/office/drawing/2014/main" id="{932481B4-8543-947D-05DB-233EB2D975E5}"/>
              </a:ext>
            </a:extLst>
          </p:cNvPr>
          <p:cNvSpPr txBox="1"/>
          <p:nvPr/>
        </p:nvSpPr>
        <p:spPr>
          <a:xfrm>
            <a:off x="1523999" y="1402522"/>
            <a:ext cx="9144000" cy="646331"/>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Ejemplo: </a:t>
            </a:r>
            <a:r>
              <a:rPr lang="es-ES" dirty="0">
                <a:latin typeface="Verdana" panose="020B0604030504040204" pitchFamily="34" charset="0"/>
                <a:ea typeface="Verdana" panose="020B0604030504040204" pitchFamily="34" charset="0"/>
                <a:cs typeface="Verdana" panose="020B0604030504040204" pitchFamily="34" charset="0"/>
              </a:rPr>
              <a:t>¿Cuántas cadenas de bits de longitud ocho que comienzan con el bit 1 o cuyos dos últimos bits son 00 se pueden encontrar?</a:t>
            </a:r>
            <a:endParaRPr lang="es-CO" dirty="0">
              <a:latin typeface="Verdana" panose="020B0604030504040204" pitchFamily="34" charset="0"/>
              <a:ea typeface="Verdana" panose="020B0604030504040204" pitchFamily="34" charset="0"/>
              <a:cs typeface="Verdana" panose="020B0604030504040204" pitchFamily="34" charset="0"/>
            </a:endParaRPr>
          </a:p>
        </p:txBody>
      </p:sp>
      <p:sp>
        <p:nvSpPr>
          <p:cNvPr id="7" name="CuadroTexto 6">
            <a:extLst>
              <a:ext uri="{FF2B5EF4-FFF2-40B4-BE49-F238E27FC236}">
                <a16:creationId xmlns:a16="http://schemas.microsoft.com/office/drawing/2014/main" id="{9DFF85C3-A964-4811-11A2-E74054AD01A8}"/>
              </a:ext>
            </a:extLst>
          </p:cNvPr>
          <p:cNvSpPr txBox="1"/>
          <p:nvPr/>
        </p:nvSpPr>
        <p:spPr>
          <a:xfrm>
            <a:off x="1523999" y="2616238"/>
            <a:ext cx="9144000" cy="2031325"/>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Solución. </a:t>
            </a:r>
          </a:p>
          <a:p>
            <a:pPr algn="just"/>
            <a:r>
              <a:rPr lang="es-MX" dirty="0">
                <a:latin typeface="Verdana" panose="020B0604030504040204" pitchFamily="34" charset="0"/>
                <a:ea typeface="Verdana" panose="020B0604030504040204" pitchFamily="34" charset="0"/>
                <a:cs typeface="Verdana" panose="020B0604030504040204" pitchFamily="34" charset="0"/>
              </a:rPr>
              <a:t>Ahora se analiza lo siguiente, las dos tareas simultáneamente, es decir, construir una cadena que inicie en 1 y termine en 00 se puede hacer:</a:t>
            </a:r>
          </a:p>
          <a:p>
            <a:pPr algn="just"/>
            <a:r>
              <a:rPr lang="es-MX" dirty="0">
                <a:latin typeface="Verdana" panose="020B0604030504040204" pitchFamily="34" charset="0"/>
                <a:ea typeface="Verdana" panose="020B0604030504040204" pitchFamily="34" charset="0"/>
                <a:cs typeface="Verdana" panose="020B0604030504040204" pitchFamily="34" charset="0"/>
              </a:rPr>
              <a:t> </a:t>
            </a:r>
          </a:p>
          <a:p>
            <a:pPr algn="just"/>
            <a:endParaRPr lang="es-MX" b="1" dirty="0">
              <a:latin typeface="Verdana" panose="020B0604030504040204" pitchFamily="34" charset="0"/>
              <a:ea typeface="Verdana" panose="020B0604030504040204" pitchFamily="34" charset="0"/>
              <a:cs typeface="Verdana" panose="020B0604030504040204" pitchFamily="34" charset="0"/>
            </a:endParaRPr>
          </a:p>
          <a:p>
            <a:pPr algn="just"/>
            <a:r>
              <a:rPr lang="es-ES" b="1" dirty="0">
                <a:latin typeface="Verdana" panose="020B0604030504040204" pitchFamily="34" charset="0"/>
                <a:ea typeface="Verdana" panose="020B0604030504040204" pitchFamily="34" charset="0"/>
                <a:cs typeface="Verdana" panose="020B0604030504040204" pitchFamily="34" charset="0"/>
              </a:rPr>
              <a:t>1 * 2 * 2 * 2 * 2 * 2 * 1 * 1 = </a:t>
            </a:r>
            <a:r>
              <a:rPr lang="es-CO" b="1" kern="100" dirty="0">
                <a:latin typeface="Verdana" panose="020B0604030504040204" pitchFamily="34" charset="0"/>
                <a:ea typeface="Verdana" panose="020B0604030504040204" pitchFamily="34" charset="0"/>
                <a:cs typeface="Times New Roman" panose="02020603050405020304" pitchFamily="18" charset="0"/>
              </a:rPr>
              <a:t>2</a:t>
            </a:r>
            <a:r>
              <a:rPr lang="es-CO" b="1" kern="100" baseline="30000" dirty="0">
                <a:latin typeface="Verdana" panose="020B0604030504040204" pitchFamily="34" charset="0"/>
                <a:ea typeface="Verdana" panose="020B0604030504040204" pitchFamily="34" charset="0"/>
                <a:cs typeface="Times New Roman" panose="02020603050405020304" pitchFamily="18" charset="0"/>
              </a:rPr>
              <a:t>5</a:t>
            </a:r>
            <a:r>
              <a:rPr lang="es-CO" b="1" kern="100" dirty="0">
                <a:latin typeface="Verdana" panose="020B0604030504040204" pitchFamily="34" charset="0"/>
                <a:ea typeface="Verdana" panose="020B0604030504040204" pitchFamily="34" charset="0"/>
                <a:cs typeface="Times New Roman" panose="02020603050405020304" pitchFamily="18" charset="0"/>
              </a:rPr>
              <a:t> = 32 formas posibles</a:t>
            </a:r>
            <a:endParaRPr lang="es-ES" dirty="0">
              <a:latin typeface="Verdana" panose="020B0604030504040204" pitchFamily="34" charset="0"/>
              <a:ea typeface="Verdana" panose="020B0604030504040204" pitchFamily="34" charset="0"/>
              <a:cs typeface="Verdana" panose="020B0604030504040204" pitchFamily="34" charset="0"/>
            </a:endParaRPr>
          </a:p>
          <a:p>
            <a:pPr algn="just"/>
            <a:endParaRPr lang="es-ES" b="1" dirty="0">
              <a:latin typeface="Verdana" panose="020B0604030504040204" pitchFamily="34" charset="0"/>
              <a:ea typeface="Verdana" panose="020B0604030504040204" pitchFamily="34" charset="0"/>
              <a:cs typeface="Verdana" panose="020B0604030504040204" pitchFamily="34" charset="0"/>
            </a:endParaRPr>
          </a:p>
        </p:txBody>
      </p:sp>
      <p:sp>
        <p:nvSpPr>
          <p:cNvPr id="2" name="CuadroTexto 1">
            <a:extLst>
              <a:ext uri="{FF2B5EF4-FFF2-40B4-BE49-F238E27FC236}">
                <a16:creationId xmlns:a16="http://schemas.microsoft.com/office/drawing/2014/main" id="{6F18A925-1289-033F-B6D3-CBDDB242391D}"/>
              </a:ext>
            </a:extLst>
          </p:cNvPr>
          <p:cNvSpPr txBox="1"/>
          <p:nvPr/>
        </p:nvSpPr>
        <p:spPr>
          <a:xfrm>
            <a:off x="1523999" y="4520601"/>
            <a:ext cx="9144000" cy="1754326"/>
          </a:xfrm>
          <a:prstGeom prst="rect">
            <a:avLst/>
          </a:prstGeom>
          <a:noFill/>
        </p:spPr>
        <p:txBody>
          <a:bodyPr wrap="square" rtlCol="0">
            <a:spAutoFit/>
          </a:bodyPr>
          <a:lstStyle/>
          <a:p>
            <a:pPr algn="just"/>
            <a:endParaRPr lang="es-MX" dirty="0">
              <a:latin typeface="Verdana" panose="020B0604030504040204" pitchFamily="34" charset="0"/>
              <a:ea typeface="Verdana" panose="020B0604030504040204" pitchFamily="34" charset="0"/>
              <a:cs typeface="Verdana" panose="020B0604030504040204" pitchFamily="34" charset="0"/>
            </a:endParaRPr>
          </a:p>
          <a:p>
            <a:pPr algn="just"/>
            <a:r>
              <a:rPr lang="es-MX" dirty="0">
                <a:latin typeface="Verdana" panose="020B0604030504040204" pitchFamily="34" charset="0"/>
                <a:ea typeface="Verdana" panose="020B0604030504040204" pitchFamily="34" charset="0"/>
                <a:cs typeface="Verdana" panose="020B0604030504040204" pitchFamily="34" charset="0"/>
              </a:rPr>
              <a:t>Por lo tanto, el número de cadenas de 8 bits que pueden construir que inician en 1 terminan en 00 se puede hacer :</a:t>
            </a:r>
          </a:p>
          <a:p>
            <a:pPr algn="just"/>
            <a:endParaRPr lang="es-MX" b="1" dirty="0">
              <a:latin typeface="Verdana" panose="020B0604030504040204" pitchFamily="34" charset="0"/>
              <a:ea typeface="Verdana" panose="020B0604030504040204" pitchFamily="34" charset="0"/>
              <a:cs typeface="Verdana" panose="020B0604030504040204" pitchFamily="34" charset="0"/>
            </a:endParaRPr>
          </a:p>
          <a:p>
            <a:pPr algn="just"/>
            <a:r>
              <a:rPr lang="es-CO" b="1" kern="100" dirty="0">
                <a:latin typeface="Verdana" panose="020B0604030504040204" pitchFamily="34" charset="0"/>
                <a:ea typeface="Verdana" panose="020B0604030504040204" pitchFamily="34" charset="0"/>
                <a:cs typeface="Times New Roman" panose="02020603050405020304" pitchFamily="18" charset="0"/>
              </a:rPr>
              <a:t> 128 + 64 -32 = 160 formas posibles</a:t>
            </a:r>
            <a:endParaRPr lang="es-ES" dirty="0">
              <a:latin typeface="Verdana" panose="020B0604030504040204" pitchFamily="34" charset="0"/>
              <a:ea typeface="Verdana" panose="020B0604030504040204" pitchFamily="34" charset="0"/>
              <a:cs typeface="Verdana" panose="020B0604030504040204" pitchFamily="34" charset="0"/>
            </a:endParaRPr>
          </a:p>
          <a:p>
            <a:pPr algn="just"/>
            <a:endParaRPr lang="es-ES" b="1"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31729195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2"/>
                                        </p:tgtEl>
                                        <p:attrNameLst>
                                          <p:attrName>style.visibility</p:attrName>
                                        </p:attrNameLst>
                                      </p:cBhvr>
                                      <p:to>
                                        <p:strVal val="visible"/>
                                      </p:to>
                                    </p:set>
                                    <p:anim calcmode="lin" valueType="num">
                                      <p:cBhvr additive="base">
                                        <p:cTn id="19" dur="500" fill="hold"/>
                                        <p:tgtEl>
                                          <p:spTgt spid="2"/>
                                        </p:tgtEl>
                                        <p:attrNameLst>
                                          <p:attrName>ppt_x</p:attrName>
                                        </p:attrNameLst>
                                      </p:cBhvr>
                                      <p:tavLst>
                                        <p:tav tm="0">
                                          <p:val>
                                            <p:strVal val="#ppt_x"/>
                                          </p:val>
                                        </p:tav>
                                        <p:tav tm="100000">
                                          <p:val>
                                            <p:strVal val="#ppt_x"/>
                                          </p:val>
                                        </p:tav>
                                      </p:tavLst>
                                    </p:anim>
                                    <p:anim calcmode="lin" valueType="num">
                                      <p:cBhvr additive="base">
                                        <p:cTn id="20"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7" grpId="0"/>
      <p:bldP spid="2"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PRINCIPIO DE INCLUSIÓN - EXCLUSIÓN</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2" name="CuadroTexto 1">
            <a:extLst>
              <a:ext uri="{FF2B5EF4-FFF2-40B4-BE49-F238E27FC236}">
                <a16:creationId xmlns:a16="http://schemas.microsoft.com/office/drawing/2014/main" id="{48841838-5861-63D0-E654-3592BDB26C4F}"/>
              </a:ext>
            </a:extLst>
          </p:cNvPr>
          <p:cNvSpPr txBox="1"/>
          <p:nvPr/>
        </p:nvSpPr>
        <p:spPr>
          <a:xfrm>
            <a:off x="1523999" y="1165979"/>
            <a:ext cx="9144001" cy="1477328"/>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Ejemplo: </a:t>
            </a:r>
            <a:r>
              <a:rPr lang="es-ES" dirty="0">
                <a:latin typeface="Verdana" panose="020B0604030504040204" pitchFamily="34" charset="0"/>
                <a:ea typeface="Verdana" panose="020B0604030504040204" pitchFamily="34" charset="0"/>
                <a:cs typeface="Verdana" panose="020B0604030504040204" pitchFamily="34" charset="0"/>
              </a:rPr>
              <a:t>Al tratar de tomar una decisión acerca de la ampliación de una planta, un administrador organiza a 12 de sus empleados en 2 comités. El comité A está formado por 5 miembros y está encargado de investigar los resultados favorables posibles de dicha ampliación. Los otros 7 empleados, del comité B, revisarán todas las posibles repercusiones desfavorables.</a:t>
            </a:r>
            <a:endParaRPr lang="es-CO" dirty="0">
              <a:latin typeface="Verdana" panose="020B0604030504040204" pitchFamily="34" charset="0"/>
              <a:ea typeface="Verdana" panose="020B0604030504040204" pitchFamily="34" charset="0"/>
              <a:cs typeface="Verdana" panose="020B0604030504040204" pitchFamily="34" charset="0"/>
            </a:endParaRPr>
          </a:p>
        </p:txBody>
      </p:sp>
      <p:sp>
        <p:nvSpPr>
          <p:cNvPr id="5" name="CuadroTexto 4">
            <a:extLst>
              <a:ext uri="{FF2B5EF4-FFF2-40B4-BE49-F238E27FC236}">
                <a16:creationId xmlns:a16="http://schemas.microsoft.com/office/drawing/2014/main" id="{34BFA22F-AD35-955F-7291-9B30754E45D0}"/>
              </a:ext>
            </a:extLst>
          </p:cNvPr>
          <p:cNvSpPr txBox="1"/>
          <p:nvPr/>
        </p:nvSpPr>
        <p:spPr>
          <a:xfrm>
            <a:off x="1524000" y="3429000"/>
            <a:ext cx="9144000" cy="1477328"/>
          </a:xfrm>
          <a:prstGeom prst="rect">
            <a:avLst/>
          </a:prstGeom>
          <a:noFill/>
        </p:spPr>
        <p:txBody>
          <a:bodyPr wrap="square" rtlCol="0">
            <a:spAutoFit/>
          </a:bodyPr>
          <a:lstStyle/>
          <a:p>
            <a:pPr algn="just"/>
            <a:r>
              <a:rPr lang="es-ES" b="1" dirty="0">
                <a:latin typeface="Verdana" panose="020B0604030504040204" pitchFamily="34" charset="0"/>
                <a:ea typeface="Verdana" panose="020B0604030504040204" pitchFamily="34" charset="0"/>
                <a:cs typeface="Verdana" panose="020B0604030504040204" pitchFamily="34" charset="0"/>
              </a:rPr>
              <a:t>Solución: </a:t>
            </a:r>
            <a:r>
              <a:rPr lang="es-ES" dirty="0">
                <a:latin typeface="Verdana" panose="020B0604030504040204" pitchFamily="34" charset="0"/>
                <a:ea typeface="Verdana" panose="020B0604030504040204" pitchFamily="34" charset="0"/>
                <a:cs typeface="Verdana" panose="020B0604030504040204" pitchFamily="34" charset="0"/>
              </a:rPr>
              <a:t>si decide hablar solo con un comité antes de tomar su decisión, entonces, por la regla de la suma existirán 12 empleados a los que puede llamar. Si decide hablar con un miembro del comité A el lunes y el martes con uno del B mediante la regla del producto puede elegir a esos 2 empleados de 5x7= 35 formas.</a:t>
            </a:r>
            <a:endParaRPr lang="es-CO"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1967441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DIAGRAMAS EN ÁRBOL</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2" name="CuadroTexto 1">
            <a:extLst>
              <a:ext uri="{FF2B5EF4-FFF2-40B4-BE49-F238E27FC236}">
                <a16:creationId xmlns:a16="http://schemas.microsoft.com/office/drawing/2014/main" id="{48841838-5861-63D0-E654-3592BDB26C4F}"/>
              </a:ext>
            </a:extLst>
          </p:cNvPr>
          <p:cNvSpPr txBox="1"/>
          <p:nvPr/>
        </p:nvSpPr>
        <p:spPr>
          <a:xfrm>
            <a:off x="1523999" y="1165979"/>
            <a:ext cx="9144001" cy="1200329"/>
          </a:xfrm>
          <a:prstGeom prst="rect">
            <a:avLst/>
          </a:prstGeom>
          <a:noFill/>
        </p:spPr>
        <p:txBody>
          <a:bodyPr wrap="square" rtlCol="0">
            <a:spAutoFit/>
          </a:bodyPr>
          <a:lstStyle/>
          <a:p>
            <a:pPr algn="just"/>
            <a:r>
              <a:rPr lang="es-MX" dirty="0">
                <a:latin typeface="Verdana" panose="020B0604030504040204" pitchFamily="34" charset="0"/>
                <a:ea typeface="Verdana" panose="020B0604030504040204" pitchFamily="34" charset="0"/>
                <a:cs typeface="Verdana" panose="020B0604030504040204" pitchFamily="34" charset="0"/>
              </a:rPr>
              <a:t>Un árbol está formado por una raíz</a:t>
            </a:r>
            <a:r>
              <a:rPr lang="es-MX">
                <a:latin typeface="Verdana" panose="020B0604030504040204" pitchFamily="34" charset="0"/>
                <a:ea typeface="Verdana" panose="020B0604030504040204" pitchFamily="34" charset="0"/>
                <a:cs typeface="Verdana" panose="020B0604030504040204" pitchFamily="34" charset="0"/>
              </a:rPr>
              <a:t>, un </a:t>
            </a:r>
            <a:r>
              <a:rPr lang="es-MX" dirty="0">
                <a:latin typeface="Verdana" panose="020B0604030504040204" pitchFamily="34" charset="0"/>
                <a:ea typeface="Verdana" panose="020B0604030504040204" pitchFamily="34" charset="0"/>
                <a:cs typeface="Verdana" panose="020B0604030504040204" pitchFamily="34" charset="0"/>
              </a:rPr>
              <a:t>determinado número de ramas que parten de la raíz y quizá por otras ramas que nacen de los extremos de ramas anteriores. Algunos problemas de recuento se pueden resolver utilizando diagramas en árbol.</a:t>
            </a:r>
            <a:endParaRPr lang="es-CO" dirty="0">
              <a:latin typeface="Verdana" panose="020B0604030504040204" pitchFamily="34" charset="0"/>
              <a:ea typeface="Verdana" panose="020B0604030504040204" pitchFamily="34" charset="0"/>
              <a:cs typeface="Verdana" panose="020B0604030504040204" pitchFamily="34" charset="0"/>
            </a:endParaRPr>
          </a:p>
        </p:txBody>
      </p:sp>
      <p:pic>
        <p:nvPicPr>
          <p:cNvPr id="1026" name="Picture 2" descr="Partes - Matemáticas Discretas">
            <a:extLst>
              <a:ext uri="{FF2B5EF4-FFF2-40B4-BE49-F238E27FC236}">
                <a16:creationId xmlns:a16="http://schemas.microsoft.com/office/drawing/2014/main" id="{A84E4EE3-D983-608C-C791-D04DA658BD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52749" y="2693232"/>
            <a:ext cx="6286500" cy="30289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427475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DIAGRAMAS EN ÁRBOL</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2" name="CuadroTexto 1">
            <a:extLst>
              <a:ext uri="{FF2B5EF4-FFF2-40B4-BE49-F238E27FC236}">
                <a16:creationId xmlns:a16="http://schemas.microsoft.com/office/drawing/2014/main" id="{48841838-5861-63D0-E654-3592BDB26C4F}"/>
              </a:ext>
            </a:extLst>
          </p:cNvPr>
          <p:cNvSpPr txBox="1"/>
          <p:nvPr/>
        </p:nvSpPr>
        <p:spPr>
          <a:xfrm>
            <a:off x="1523999" y="1531739"/>
            <a:ext cx="9144001" cy="1200329"/>
          </a:xfrm>
          <a:prstGeom prst="rect">
            <a:avLst/>
          </a:prstGeom>
          <a:noFill/>
        </p:spPr>
        <p:txBody>
          <a:bodyPr wrap="square" rtlCol="0">
            <a:spAutoFit/>
          </a:bodyPr>
          <a:lstStyle/>
          <a:p>
            <a:pPr algn="just"/>
            <a:r>
              <a:rPr lang="es-MX" dirty="0">
                <a:latin typeface="Verdana" panose="020B0604030504040204" pitchFamily="34" charset="0"/>
                <a:ea typeface="Verdana" panose="020B0604030504040204" pitchFamily="34" charset="0"/>
                <a:cs typeface="Verdana" panose="020B0604030504040204" pitchFamily="34" charset="0"/>
              </a:rPr>
              <a:t>Si queremos utilizar los árboles para contar, se utiliza las ramas para representar cada posible elección. Los resultados posibles están representados por las hojas del árbol, que son los extremos de las ramas de los que no parte ninguna otra rama.</a:t>
            </a:r>
            <a:endParaRPr lang="es-CO" dirty="0">
              <a:latin typeface="Verdana" panose="020B0604030504040204" pitchFamily="34" charset="0"/>
              <a:ea typeface="Verdana" panose="020B0604030504040204" pitchFamily="34" charset="0"/>
              <a:cs typeface="Verdana" panose="020B0604030504040204" pitchFamily="34" charset="0"/>
            </a:endParaRPr>
          </a:p>
        </p:txBody>
      </p:sp>
      <p:sp>
        <p:nvSpPr>
          <p:cNvPr id="5" name="CuadroTexto 4">
            <a:extLst>
              <a:ext uri="{FF2B5EF4-FFF2-40B4-BE49-F238E27FC236}">
                <a16:creationId xmlns:a16="http://schemas.microsoft.com/office/drawing/2014/main" id="{0A45DC88-4EF7-0DD6-1ABD-EAE37BC98CA7}"/>
              </a:ext>
            </a:extLst>
          </p:cNvPr>
          <p:cNvSpPr txBox="1"/>
          <p:nvPr/>
        </p:nvSpPr>
        <p:spPr>
          <a:xfrm>
            <a:off x="1523999" y="3190258"/>
            <a:ext cx="9144001" cy="923330"/>
          </a:xfrm>
          <a:prstGeom prst="rect">
            <a:avLst/>
          </a:prstGeom>
          <a:noFill/>
        </p:spPr>
        <p:txBody>
          <a:bodyPr wrap="square" rtlCol="0">
            <a:spAutoFit/>
          </a:bodyPr>
          <a:lstStyle/>
          <a:p>
            <a:pPr algn="just"/>
            <a:r>
              <a:rPr lang="es-MX" b="1" dirty="0">
                <a:latin typeface="Verdana" panose="020B0604030504040204" pitchFamily="34" charset="0"/>
                <a:ea typeface="Verdana" panose="020B0604030504040204" pitchFamily="34" charset="0"/>
                <a:cs typeface="Verdana" panose="020B0604030504040204" pitchFamily="34" charset="0"/>
              </a:rPr>
              <a:t>Ejemplo.</a:t>
            </a:r>
          </a:p>
          <a:p>
            <a:pPr algn="just"/>
            <a:r>
              <a:rPr lang="es-MX" dirty="0">
                <a:latin typeface="Verdana" panose="020B0604030504040204" pitchFamily="34" charset="0"/>
                <a:ea typeface="Verdana" panose="020B0604030504040204" pitchFamily="34" charset="0"/>
                <a:cs typeface="Verdana" panose="020B0604030504040204" pitchFamily="34" charset="0"/>
              </a:rPr>
              <a:t>¿Cuántas cadenas de bits de longitud cuatro no tienen dos unos consecutivos?</a:t>
            </a:r>
            <a:endParaRPr lang="es-CO"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21732567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DIAGRAMAS EN ÁRBOL</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pic>
        <p:nvPicPr>
          <p:cNvPr id="8" name="Imagen 7">
            <a:extLst>
              <a:ext uri="{FF2B5EF4-FFF2-40B4-BE49-F238E27FC236}">
                <a16:creationId xmlns:a16="http://schemas.microsoft.com/office/drawing/2014/main" id="{0671C5CD-1366-83E9-2463-5E5F90A93621}"/>
              </a:ext>
            </a:extLst>
          </p:cNvPr>
          <p:cNvPicPr>
            <a:picLocks noChangeAspect="1"/>
          </p:cNvPicPr>
          <p:nvPr/>
        </p:nvPicPr>
        <p:blipFill rotWithShape="1">
          <a:blip r:embed="rId3"/>
          <a:srcRect l="5811" t="33228" r="72254" b="23957"/>
          <a:stretch/>
        </p:blipFill>
        <p:spPr>
          <a:xfrm>
            <a:off x="2809460" y="2497910"/>
            <a:ext cx="6573078" cy="3551197"/>
          </a:xfrm>
          <a:prstGeom prst="rect">
            <a:avLst/>
          </a:prstGeom>
        </p:spPr>
      </p:pic>
      <p:sp>
        <p:nvSpPr>
          <p:cNvPr id="9" name="CuadroTexto 8">
            <a:extLst>
              <a:ext uri="{FF2B5EF4-FFF2-40B4-BE49-F238E27FC236}">
                <a16:creationId xmlns:a16="http://schemas.microsoft.com/office/drawing/2014/main" id="{9ECF0B36-ABF9-584F-2D04-B481B14A2B67}"/>
              </a:ext>
            </a:extLst>
          </p:cNvPr>
          <p:cNvSpPr txBox="1"/>
          <p:nvPr/>
        </p:nvSpPr>
        <p:spPr>
          <a:xfrm>
            <a:off x="1523999" y="1481985"/>
            <a:ext cx="9144001" cy="923330"/>
          </a:xfrm>
          <a:prstGeom prst="rect">
            <a:avLst/>
          </a:prstGeom>
          <a:noFill/>
        </p:spPr>
        <p:txBody>
          <a:bodyPr wrap="square" rtlCol="0">
            <a:spAutoFit/>
          </a:bodyPr>
          <a:lstStyle/>
          <a:p>
            <a:pPr algn="just"/>
            <a:r>
              <a:rPr lang="es-MX" b="1" dirty="0">
                <a:latin typeface="Verdana" panose="020B0604030504040204" pitchFamily="34" charset="0"/>
                <a:ea typeface="Verdana" panose="020B0604030504040204" pitchFamily="34" charset="0"/>
                <a:cs typeface="Verdana" panose="020B0604030504040204" pitchFamily="34" charset="0"/>
              </a:rPr>
              <a:t>Ejemplo.</a:t>
            </a:r>
          </a:p>
          <a:p>
            <a:pPr algn="just"/>
            <a:r>
              <a:rPr lang="es-MX" dirty="0">
                <a:latin typeface="Verdana" panose="020B0604030504040204" pitchFamily="34" charset="0"/>
                <a:ea typeface="Verdana" panose="020B0604030504040204" pitchFamily="34" charset="0"/>
                <a:cs typeface="Verdana" panose="020B0604030504040204" pitchFamily="34" charset="0"/>
              </a:rPr>
              <a:t>¿Cuántas cadenas de bits de longitud cuatro no tienen dos unos consecutivos?</a:t>
            </a:r>
            <a:endParaRPr lang="es-CO"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91773798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DIAGRAMAS EN ÁRBOL</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5" name="CuadroTexto 4">
            <a:extLst>
              <a:ext uri="{FF2B5EF4-FFF2-40B4-BE49-F238E27FC236}">
                <a16:creationId xmlns:a16="http://schemas.microsoft.com/office/drawing/2014/main" id="{0A45DC88-4EF7-0DD6-1ABD-EAE37BC98CA7}"/>
              </a:ext>
            </a:extLst>
          </p:cNvPr>
          <p:cNvSpPr txBox="1"/>
          <p:nvPr/>
        </p:nvSpPr>
        <p:spPr>
          <a:xfrm>
            <a:off x="1523999" y="1613250"/>
            <a:ext cx="9144001" cy="1754326"/>
          </a:xfrm>
          <a:prstGeom prst="rect">
            <a:avLst/>
          </a:prstGeom>
          <a:noFill/>
        </p:spPr>
        <p:txBody>
          <a:bodyPr wrap="square" rtlCol="0">
            <a:spAutoFit/>
          </a:bodyPr>
          <a:lstStyle/>
          <a:p>
            <a:pPr algn="just"/>
            <a:r>
              <a:rPr lang="es-MX" b="1" dirty="0">
                <a:latin typeface="Verdana" panose="020B0604030504040204" pitchFamily="34" charset="0"/>
                <a:ea typeface="Verdana" panose="020B0604030504040204" pitchFamily="34" charset="0"/>
                <a:cs typeface="Verdana" panose="020B0604030504040204" pitchFamily="34" charset="0"/>
              </a:rPr>
              <a:t>Ejercicio en clase.</a:t>
            </a:r>
          </a:p>
          <a:p>
            <a:pPr algn="just"/>
            <a:endParaRPr lang="es-MX" b="1" dirty="0">
              <a:latin typeface="Verdana" panose="020B0604030504040204" pitchFamily="34" charset="0"/>
              <a:ea typeface="Verdana" panose="020B0604030504040204" pitchFamily="34" charset="0"/>
              <a:cs typeface="Verdana" panose="020B0604030504040204" pitchFamily="34" charset="0"/>
            </a:endParaRPr>
          </a:p>
          <a:p>
            <a:pPr algn="just"/>
            <a:r>
              <a:rPr lang="es-MX" dirty="0">
                <a:latin typeface="Verdana" panose="020B0604030504040204" pitchFamily="34" charset="0"/>
                <a:ea typeface="Verdana" panose="020B0604030504040204" pitchFamily="34" charset="0"/>
                <a:cs typeface="Verdana" panose="020B0604030504040204" pitchFamily="34" charset="0"/>
              </a:rPr>
              <a:t>Un torneo de fútbol profesional colombiano entre dos equipos (América y Cali) consiste en lo más de tres partidos, el primer equipo que gane dos partidos resulta vencedor. ¿Cuántos posibles desarrollos de ganar se pueden dar?</a:t>
            </a:r>
            <a:endParaRPr lang="es-CO" dirty="0">
              <a:latin typeface="Verdana" panose="020B0604030504040204" pitchFamily="34" charset="0"/>
              <a:ea typeface="Verdana" panose="020B0604030504040204" pitchFamily="34" charset="0"/>
              <a:cs typeface="Verdana" panose="020B0604030504040204" pitchFamily="34" charset="0"/>
            </a:endParaRPr>
          </a:p>
        </p:txBody>
      </p:sp>
      <p:pic>
        <p:nvPicPr>
          <p:cNvPr id="1026" name="Picture 2" descr="América y Deportivo Cali se enfrentarían en un partido amistoso realizado  en Miami">
            <a:extLst>
              <a:ext uri="{FF2B5EF4-FFF2-40B4-BE49-F238E27FC236}">
                <a16:creationId xmlns:a16="http://schemas.microsoft.com/office/drawing/2014/main" id="{B7AA342E-E287-5F8E-0AD2-CB9D5D2B32A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26953" y="3285296"/>
            <a:ext cx="4938091" cy="27241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153894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DIAGRAMAS EN ÁRBOL</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5" name="CuadroTexto 4">
            <a:extLst>
              <a:ext uri="{FF2B5EF4-FFF2-40B4-BE49-F238E27FC236}">
                <a16:creationId xmlns:a16="http://schemas.microsoft.com/office/drawing/2014/main" id="{0A45DC88-4EF7-0DD6-1ABD-EAE37BC98CA7}"/>
              </a:ext>
            </a:extLst>
          </p:cNvPr>
          <p:cNvSpPr txBox="1"/>
          <p:nvPr/>
        </p:nvSpPr>
        <p:spPr>
          <a:xfrm>
            <a:off x="1523999" y="1613250"/>
            <a:ext cx="9144001" cy="2031325"/>
          </a:xfrm>
          <a:prstGeom prst="rect">
            <a:avLst/>
          </a:prstGeom>
          <a:noFill/>
        </p:spPr>
        <p:txBody>
          <a:bodyPr wrap="square" rtlCol="0">
            <a:spAutoFit/>
          </a:bodyPr>
          <a:lstStyle/>
          <a:p>
            <a:pPr algn="just"/>
            <a:r>
              <a:rPr lang="es-MX" b="1" dirty="0">
                <a:latin typeface="Verdana" panose="020B0604030504040204" pitchFamily="34" charset="0"/>
                <a:ea typeface="Verdana" panose="020B0604030504040204" pitchFamily="34" charset="0"/>
                <a:cs typeface="Verdana" panose="020B0604030504040204" pitchFamily="34" charset="0"/>
              </a:rPr>
              <a:t>Ejemplo en Clase.</a:t>
            </a:r>
          </a:p>
          <a:p>
            <a:pPr algn="just"/>
            <a:endParaRPr lang="es-MX" b="1" dirty="0">
              <a:latin typeface="Verdana" panose="020B0604030504040204" pitchFamily="34" charset="0"/>
              <a:ea typeface="Verdana" panose="020B0604030504040204" pitchFamily="34" charset="0"/>
              <a:cs typeface="Verdana" panose="020B0604030504040204" pitchFamily="34" charset="0"/>
            </a:endParaRPr>
          </a:p>
          <a:p>
            <a:pPr algn="just"/>
            <a:r>
              <a:rPr lang="es-MX" dirty="0">
                <a:latin typeface="Verdana" panose="020B0604030504040204" pitchFamily="34" charset="0"/>
                <a:ea typeface="Verdana" panose="020B0604030504040204" pitchFamily="34" charset="0"/>
                <a:cs typeface="Verdana" panose="020B0604030504040204" pitchFamily="34" charset="0"/>
              </a:rPr>
              <a:t>La tienda de Ropa Univalle Tuluá, fabrica camiseta en cinco tallas diferentes: S, M, L, XL, y XXL. Además, cada talla se fabrica en los colores blanco, negro, rojo y verde excepto para la talla XXL, que sólo se fabrica en verde y negro. ¿Cuántas camisetas diferentes debe haber en el almacén de una tienda si se quiere tener disponible una de cada modelo?</a:t>
            </a:r>
            <a:endParaRPr lang="es-CO"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114939868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EJERCICIOS EN GENERAL</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2" name="CuadroTexto 1">
            <a:extLst>
              <a:ext uri="{FF2B5EF4-FFF2-40B4-BE49-F238E27FC236}">
                <a16:creationId xmlns:a16="http://schemas.microsoft.com/office/drawing/2014/main" id="{48841838-5861-63D0-E654-3592BDB26C4F}"/>
              </a:ext>
            </a:extLst>
          </p:cNvPr>
          <p:cNvSpPr txBox="1"/>
          <p:nvPr/>
        </p:nvSpPr>
        <p:spPr>
          <a:xfrm>
            <a:off x="1523999" y="1167767"/>
            <a:ext cx="9144001" cy="2308324"/>
          </a:xfrm>
          <a:prstGeom prst="rect">
            <a:avLst/>
          </a:prstGeom>
          <a:noFill/>
        </p:spPr>
        <p:txBody>
          <a:bodyPr wrap="square" rtlCol="0">
            <a:spAutoFit/>
          </a:bodyPr>
          <a:lstStyle/>
          <a:p>
            <a:pPr algn="just"/>
            <a:r>
              <a:rPr lang="es-ES" dirty="0">
                <a:latin typeface="Verdana" panose="020B0604030504040204" pitchFamily="34" charset="0"/>
                <a:ea typeface="Verdana" panose="020B0604030504040204" pitchFamily="34" charset="0"/>
                <a:cs typeface="Verdana" panose="020B0604030504040204" pitchFamily="34" charset="0"/>
              </a:rPr>
              <a:t>1. En una Universidad hay 18 estudiantes de matemáticas y 325 estudiantes de ciencias de la computación</a:t>
            </a:r>
          </a:p>
          <a:p>
            <a:pPr algn="just"/>
            <a:endParaRPr lang="es-ES" dirty="0">
              <a:latin typeface="Verdana" panose="020B0604030504040204" pitchFamily="34" charset="0"/>
              <a:ea typeface="Verdana" panose="020B0604030504040204" pitchFamily="34" charset="0"/>
              <a:cs typeface="Verdana" panose="020B0604030504040204" pitchFamily="34" charset="0"/>
            </a:endParaRPr>
          </a:p>
          <a:p>
            <a:pPr algn="just"/>
            <a:r>
              <a:rPr lang="es-ES" dirty="0">
                <a:latin typeface="Verdana" panose="020B0604030504040204" pitchFamily="34" charset="0"/>
                <a:ea typeface="Verdana" panose="020B0604030504040204" pitchFamily="34" charset="0"/>
                <a:cs typeface="Verdana" panose="020B0604030504040204" pitchFamily="34" charset="0"/>
              </a:rPr>
              <a:t>	a. ¿Cuántas maneras hay de colocar dos representantes, tal que uno 	sea estudiante de matemáticas y otro de ciencias de la computación?</a:t>
            </a:r>
          </a:p>
          <a:p>
            <a:pPr algn="just"/>
            <a:endParaRPr lang="es-ES" dirty="0">
              <a:latin typeface="Verdana" panose="020B0604030504040204" pitchFamily="34" charset="0"/>
              <a:ea typeface="Verdana" panose="020B0604030504040204" pitchFamily="34" charset="0"/>
              <a:cs typeface="Verdana" panose="020B0604030504040204" pitchFamily="34" charset="0"/>
            </a:endParaRPr>
          </a:p>
          <a:p>
            <a:pPr algn="just"/>
            <a:r>
              <a:rPr lang="es-ES" dirty="0">
                <a:latin typeface="Verdana" panose="020B0604030504040204" pitchFamily="34" charset="0"/>
                <a:ea typeface="Verdana" panose="020B0604030504040204" pitchFamily="34" charset="0"/>
                <a:cs typeface="Verdana" panose="020B0604030504040204" pitchFamily="34" charset="0"/>
              </a:rPr>
              <a:t>	b. ¿Cuántas formas de colocar un representante que sea estudiante 	de matemáticas o estudiante de ciencias de la computación? </a:t>
            </a:r>
            <a:endParaRPr lang="es-CO" dirty="0">
              <a:latin typeface="Verdana" panose="020B0604030504040204" pitchFamily="34" charset="0"/>
              <a:ea typeface="Verdana" panose="020B0604030504040204" pitchFamily="34" charset="0"/>
              <a:cs typeface="Verdana" panose="020B0604030504040204" pitchFamily="34" charset="0"/>
            </a:endParaRPr>
          </a:p>
        </p:txBody>
      </p:sp>
      <p:sp>
        <p:nvSpPr>
          <p:cNvPr id="7" name="CuadroTexto 6">
            <a:extLst>
              <a:ext uri="{FF2B5EF4-FFF2-40B4-BE49-F238E27FC236}">
                <a16:creationId xmlns:a16="http://schemas.microsoft.com/office/drawing/2014/main" id="{C16C89FC-7C5B-F1E0-E74E-E3D435039B75}"/>
              </a:ext>
            </a:extLst>
          </p:cNvPr>
          <p:cNvSpPr txBox="1"/>
          <p:nvPr/>
        </p:nvSpPr>
        <p:spPr>
          <a:xfrm>
            <a:off x="1523999" y="3698955"/>
            <a:ext cx="9144000" cy="2308324"/>
          </a:xfrm>
          <a:prstGeom prst="rect">
            <a:avLst/>
          </a:prstGeom>
          <a:noFill/>
        </p:spPr>
        <p:txBody>
          <a:bodyPr wrap="square" rtlCol="0">
            <a:spAutoFit/>
          </a:bodyPr>
          <a:lstStyle/>
          <a:p>
            <a:r>
              <a:rPr lang="es-ES" dirty="0">
                <a:latin typeface="Verdana" panose="020B0604030504040204" pitchFamily="34" charset="0"/>
                <a:ea typeface="Verdana" panose="020B0604030504040204" pitchFamily="34" charset="0"/>
                <a:cs typeface="Verdana" panose="020B0604030504040204" pitchFamily="34" charset="0"/>
              </a:rPr>
              <a:t>2. Un examen de selección múltiple contiene 10 preguntas, hay 4 posibles respuestas para cada pregunta.</a:t>
            </a:r>
          </a:p>
          <a:p>
            <a:endParaRPr lang="es-ES" dirty="0">
              <a:latin typeface="Verdana" panose="020B0604030504040204" pitchFamily="34" charset="0"/>
              <a:ea typeface="Verdana" panose="020B0604030504040204" pitchFamily="34" charset="0"/>
              <a:cs typeface="Verdana" panose="020B0604030504040204" pitchFamily="34" charset="0"/>
            </a:endParaRPr>
          </a:p>
          <a:p>
            <a:r>
              <a:rPr lang="es-ES" dirty="0">
                <a:latin typeface="Verdana" panose="020B0604030504040204" pitchFamily="34" charset="0"/>
                <a:ea typeface="Verdana" panose="020B0604030504040204" pitchFamily="34" charset="0"/>
                <a:cs typeface="Verdana" panose="020B0604030504040204" pitchFamily="34" charset="0"/>
              </a:rPr>
              <a:t>	a. De cuántas formas posibles un estudiante puede responder el 	examen si todas las preguntas son respondidas?</a:t>
            </a:r>
          </a:p>
          <a:p>
            <a:endParaRPr lang="es-ES" dirty="0">
              <a:latin typeface="Verdana" panose="020B0604030504040204" pitchFamily="34" charset="0"/>
              <a:ea typeface="Verdana" panose="020B0604030504040204" pitchFamily="34" charset="0"/>
              <a:cs typeface="Verdana" panose="020B0604030504040204" pitchFamily="34" charset="0"/>
            </a:endParaRPr>
          </a:p>
          <a:p>
            <a:r>
              <a:rPr lang="es-ES" dirty="0">
                <a:latin typeface="Verdana" panose="020B0604030504040204" pitchFamily="34" charset="0"/>
                <a:ea typeface="Verdana" panose="020B0604030504040204" pitchFamily="34" charset="0"/>
                <a:cs typeface="Verdana" panose="020B0604030504040204" pitchFamily="34" charset="0"/>
              </a:rPr>
              <a:t>	b. De cuántas formas puede un estudiante responder el examen si 	puede dejar respuestas en blanco? </a:t>
            </a:r>
            <a:endParaRPr lang="es-CO"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1571625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EJERCICIOS EN GENERAL</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2" name="CuadroTexto 1">
            <a:extLst>
              <a:ext uri="{FF2B5EF4-FFF2-40B4-BE49-F238E27FC236}">
                <a16:creationId xmlns:a16="http://schemas.microsoft.com/office/drawing/2014/main" id="{48841838-5861-63D0-E654-3592BDB26C4F}"/>
              </a:ext>
            </a:extLst>
          </p:cNvPr>
          <p:cNvSpPr txBox="1"/>
          <p:nvPr/>
        </p:nvSpPr>
        <p:spPr>
          <a:xfrm>
            <a:off x="1523999" y="1167767"/>
            <a:ext cx="9144001" cy="923330"/>
          </a:xfrm>
          <a:prstGeom prst="rect">
            <a:avLst/>
          </a:prstGeom>
          <a:noFill/>
        </p:spPr>
        <p:txBody>
          <a:bodyPr wrap="square" rtlCol="0">
            <a:spAutoFit/>
          </a:bodyPr>
          <a:lstStyle/>
          <a:p>
            <a:pPr algn="just"/>
            <a:r>
              <a:rPr lang="es-ES" dirty="0">
                <a:latin typeface="Verdana" panose="020B0604030504040204" pitchFamily="34" charset="0"/>
                <a:ea typeface="Verdana" panose="020B0604030504040204" pitchFamily="34" charset="0"/>
                <a:cs typeface="Verdana" panose="020B0604030504040204" pitchFamily="34" charset="0"/>
              </a:rPr>
              <a:t>3. En el menú de un restaurante hay 7 platos de entradas, 6 platos principales, 6 tipos de pescado, 8 tipos de carne y 9 clases de postres. Si a lo más se elige un plato de cada clase, ¿cuántas elecciones se pueden hacer? </a:t>
            </a:r>
            <a:endParaRPr lang="es-CO" dirty="0">
              <a:latin typeface="Verdana" panose="020B0604030504040204" pitchFamily="34" charset="0"/>
              <a:ea typeface="Verdana" panose="020B0604030504040204" pitchFamily="34" charset="0"/>
              <a:cs typeface="Verdana" panose="020B0604030504040204" pitchFamily="34" charset="0"/>
            </a:endParaRPr>
          </a:p>
        </p:txBody>
      </p:sp>
      <p:sp>
        <p:nvSpPr>
          <p:cNvPr id="7" name="CuadroTexto 6">
            <a:extLst>
              <a:ext uri="{FF2B5EF4-FFF2-40B4-BE49-F238E27FC236}">
                <a16:creationId xmlns:a16="http://schemas.microsoft.com/office/drawing/2014/main" id="{C16C89FC-7C5B-F1E0-E74E-E3D435039B75}"/>
              </a:ext>
            </a:extLst>
          </p:cNvPr>
          <p:cNvSpPr txBox="1"/>
          <p:nvPr/>
        </p:nvSpPr>
        <p:spPr>
          <a:xfrm>
            <a:off x="1524000" y="2402417"/>
            <a:ext cx="9144000" cy="369332"/>
          </a:xfrm>
          <a:prstGeom prst="rect">
            <a:avLst/>
          </a:prstGeom>
          <a:noFill/>
        </p:spPr>
        <p:txBody>
          <a:bodyPr wrap="square" rtlCol="0">
            <a:spAutoFit/>
          </a:bodyPr>
          <a:lstStyle/>
          <a:p>
            <a:pPr algn="just"/>
            <a:r>
              <a:rPr lang="es-ES" dirty="0">
                <a:latin typeface="Verdana" panose="020B0604030504040204" pitchFamily="34" charset="0"/>
                <a:ea typeface="Verdana" panose="020B0604030504040204" pitchFamily="34" charset="0"/>
                <a:cs typeface="Verdana" panose="020B0604030504040204" pitchFamily="34" charset="0"/>
              </a:rPr>
              <a:t>4. ¿Cuántos arreglos de 8 bits comienzan en 101 o tienen el 4 bit igual a 1?</a:t>
            </a:r>
            <a:endParaRPr lang="es-CO" dirty="0">
              <a:latin typeface="Verdana" panose="020B0604030504040204" pitchFamily="34" charset="0"/>
              <a:ea typeface="Verdana" panose="020B0604030504040204" pitchFamily="34" charset="0"/>
              <a:cs typeface="Verdana" panose="020B0604030504040204" pitchFamily="34" charset="0"/>
            </a:endParaRPr>
          </a:p>
        </p:txBody>
      </p:sp>
      <p:sp>
        <p:nvSpPr>
          <p:cNvPr id="5" name="CuadroTexto 4">
            <a:extLst>
              <a:ext uri="{FF2B5EF4-FFF2-40B4-BE49-F238E27FC236}">
                <a16:creationId xmlns:a16="http://schemas.microsoft.com/office/drawing/2014/main" id="{9A7CF381-C8F9-9DEA-EFEE-73ED945B1560}"/>
              </a:ext>
            </a:extLst>
          </p:cNvPr>
          <p:cNvSpPr txBox="1"/>
          <p:nvPr/>
        </p:nvSpPr>
        <p:spPr>
          <a:xfrm>
            <a:off x="1523999" y="3083069"/>
            <a:ext cx="9144000" cy="2862322"/>
          </a:xfrm>
          <a:prstGeom prst="rect">
            <a:avLst/>
          </a:prstGeom>
          <a:noFill/>
        </p:spPr>
        <p:txBody>
          <a:bodyPr wrap="square" rtlCol="0">
            <a:spAutoFit/>
          </a:bodyPr>
          <a:lstStyle/>
          <a:p>
            <a:pPr algn="just"/>
            <a:r>
              <a:rPr lang="es-ES" dirty="0">
                <a:latin typeface="Verdana" panose="020B0604030504040204" pitchFamily="34" charset="0"/>
                <a:ea typeface="Verdana" panose="020B0604030504040204" pitchFamily="34" charset="0"/>
                <a:cs typeface="Verdana" panose="020B0604030504040204" pitchFamily="34" charset="0"/>
              </a:rPr>
              <a:t>5. Los automóviles de Mazda se producen en 4 modelos, de 12 colores, 3 potencias de motor y 2 tipos de transmisión.</a:t>
            </a:r>
          </a:p>
          <a:p>
            <a:pPr algn="just"/>
            <a:endParaRPr lang="es-ES" dirty="0">
              <a:latin typeface="Verdana" panose="020B0604030504040204" pitchFamily="34" charset="0"/>
              <a:ea typeface="Verdana" panose="020B0604030504040204" pitchFamily="34" charset="0"/>
              <a:cs typeface="Verdana" panose="020B0604030504040204" pitchFamily="34" charset="0"/>
            </a:endParaRPr>
          </a:p>
          <a:p>
            <a:pPr algn="just"/>
            <a:r>
              <a:rPr lang="es-ES" dirty="0">
                <a:latin typeface="Verdana" panose="020B0604030504040204" pitchFamily="34" charset="0"/>
                <a:ea typeface="Verdana" panose="020B0604030504040204" pitchFamily="34" charset="0"/>
                <a:cs typeface="Verdana" panose="020B0604030504040204" pitchFamily="34" charset="0"/>
              </a:rPr>
              <a:t>	a. Cuántos automóviles diferentes pueden fabricarse?</a:t>
            </a:r>
          </a:p>
          <a:p>
            <a:pPr algn="just"/>
            <a:endParaRPr lang="es-ES" dirty="0">
              <a:latin typeface="Verdana" panose="020B0604030504040204" pitchFamily="34" charset="0"/>
              <a:ea typeface="Verdana" panose="020B0604030504040204" pitchFamily="34" charset="0"/>
              <a:cs typeface="Verdana" panose="020B0604030504040204" pitchFamily="34" charset="0"/>
            </a:endParaRPr>
          </a:p>
          <a:p>
            <a:pPr algn="just"/>
            <a:r>
              <a:rPr lang="es-ES" dirty="0">
                <a:latin typeface="Verdana" panose="020B0604030504040204" pitchFamily="34" charset="0"/>
                <a:ea typeface="Verdana" panose="020B0604030504040204" pitchFamily="34" charset="0"/>
                <a:cs typeface="Verdana" panose="020B0604030504040204" pitchFamily="34" charset="0"/>
              </a:rPr>
              <a:t>	b. Si uno de 	los colores disponibles es el azul, ¿Cuántos 	automóviles distintos, de color azul, se pueden fabricar?</a:t>
            </a:r>
          </a:p>
          <a:p>
            <a:pPr algn="just"/>
            <a:endParaRPr lang="es-ES" dirty="0">
              <a:latin typeface="Verdana" panose="020B0604030504040204" pitchFamily="34" charset="0"/>
              <a:ea typeface="Verdana" panose="020B0604030504040204" pitchFamily="34" charset="0"/>
              <a:cs typeface="Verdana" panose="020B0604030504040204" pitchFamily="34" charset="0"/>
            </a:endParaRPr>
          </a:p>
          <a:p>
            <a:pPr algn="just"/>
            <a:r>
              <a:rPr lang="es-ES" dirty="0">
                <a:latin typeface="Verdana" panose="020B0604030504040204" pitchFamily="34" charset="0"/>
                <a:ea typeface="Verdana" panose="020B0604030504040204" pitchFamily="34" charset="0"/>
                <a:cs typeface="Verdana" panose="020B0604030504040204" pitchFamily="34" charset="0"/>
              </a:rPr>
              <a:t>	c. Si una potencia de motor es V-8. ¿Cuántos automóviles azules 	distintos tienen motor V-8?</a:t>
            </a:r>
            <a:endParaRPr lang="es-CO"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2008690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5"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9"/>
          <p:cNvSpPr/>
          <p:nvPr/>
        </p:nvSpPr>
        <p:spPr>
          <a:xfrm>
            <a:off x="1524000" y="473139"/>
            <a:ext cx="9144000" cy="649224"/>
          </a:xfrm>
          <a:custGeom>
            <a:avLst/>
            <a:gdLst/>
            <a:ahLst/>
            <a:cxnLst/>
            <a:rect l="l" t="t" r="r" b="b"/>
            <a:pathLst>
              <a:path w="9144000" h="649224">
                <a:moveTo>
                  <a:pt x="9144000" y="649223"/>
                </a:moveTo>
                <a:lnTo>
                  <a:pt x="9144000" y="0"/>
                </a:lnTo>
                <a:lnTo>
                  <a:pt x="0" y="0"/>
                </a:lnTo>
                <a:lnTo>
                  <a:pt x="0" y="649224"/>
                </a:lnTo>
                <a:lnTo>
                  <a:pt x="9144000" y="649223"/>
                </a:lnTo>
                <a:close/>
              </a:path>
            </a:pathLst>
          </a:custGeom>
          <a:solidFill>
            <a:srgbClr val="E6031E"/>
          </a:solidFill>
        </p:spPr>
        <p:txBody>
          <a:bodyPr wrap="square" lIns="0" tIns="0" rIns="0" bIns="0" rtlCol="0">
            <a:noAutofit/>
          </a:bodyPr>
          <a:lstStyle/>
          <a:p>
            <a:pPr algn="ctr"/>
            <a:r>
              <a:rPr lang="es-CO" sz="2400" b="1" dirty="0">
                <a:solidFill>
                  <a:schemeClr val="bg1"/>
                </a:solidFill>
                <a:latin typeface="Verdana" panose="020B0604030504040204" pitchFamily="34" charset="0"/>
                <a:ea typeface="Verdana" panose="020B0604030504040204" pitchFamily="34" charset="0"/>
                <a:cs typeface="Verdana" panose="020B0604030504040204" pitchFamily="34" charset="0"/>
              </a:rPr>
              <a:t>EJERCICIOS EN GENERAL</a:t>
            </a:r>
            <a:endParaRPr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6" name="object 12"/>
          <p:cNvSpPr/>
          <p:nvPr/>
        </p:nvSpPr>
        <p:spPr>
          <a:xfrm>
            <a:off x="10242773" y="6153222"/>
            <a:ext cx="425227" cy="549401"/>
          </a:xfrm>
          <a:prstGeom prst="rect">
            <a:avLst/>
          </a:prstGeom>
          <a:blipFill>
            <a:blip r:embed="rId2" cstate="print"/>
            <a:stretch>
              <a:fillRect/>
            </a:stretch>
          </a:blipFill>
        </p:spPr>
        <p:txBody>
          <a:bodyPr wrap="square" lIns="0" tIns="0" rIns="0" bIns="0" rtlCol="0">
            <a:noAutofit/>
          </a:bodyPr>
          <a:lstStyle/>
          <a:p>
            <a:endParaRPr/>
          </a:p>
        </p:txBody>
      </p:sp>
      <p:sp>
        <p:nvSpPr>
          <p:cNvPr id="3" name="object 11">
            <a:extLst>
              <a:ext uri="{FF2B5EF4-FFF2-40B4-BE49-F238E27FC236}">
                <a16:creationId xmlns:a16="http://schemas.microsoft.com/office/drawing/2014/main" id="{46DBE57D-BC43-4A76-836D-DA3ECB0D8800}"/>
              </a:ext>
            </a:extLst>
          </p:cNvPr>
          <p:cNvSpPr/>
          <p:nvPr/>
        </p:nvSpPr>
        <p:spPr>
          <a:xfrm flipV="1">
            <a:off x="1524000" y="6049107"/>
            <a:ext cx="9144000" cy="64484"/>
          </a:xfrm>
          <a:custGeom>
            <a:avLst/>
            <a:gdLst/>
            <a:ahLst/>
            <a:cxnLst/>
            <a:rect l="l" t="t" r="r" b="b"/>
            <a:pathLst>
              <a:path w="9144000">
                <a:moveTo>
                  <a:pt x="9144000" y="0"/>
                </a:moveTo>
                <a:lnTo>
                  <a:pt x="20573" y="0"/>
                </a:lnTo>
              </a:path>
              <a:path w="9144000">
                <a:moveTo>
                  <a:pt x="20573" y="1"/>
                </a:moveTo>
                <a:lnTo>
                  <a:pt x="9144000" y="0"/>
                </a:lnTo>
              </a:path>
            </a:pathLst>
          </a:custGeom>
          <a:ln w="28575">
            <a:solidFill>
              <a:srgbClr val="E6031E"/>
            </a:solidFill>
          </a:ln>
        </p:spPr>
        <p:txBody>
          <a:bodyPr wrap="square" lIns="0" tIns="0" rIns="0" bIns="0" rtlCol="0">
            <a:noAutofit/>
          </a:bodyPr>
          <a:lstStyle/>
          <a:p>
            <a:endParaRPr/>
          </a:p>
        </p:txBody>
      </p:sp>
      <p:sp>
        <p:nvSpPr>
          <p:cNvPr id="2" name="CuadroTexto 1">
            <a:extLst>
              <a:ext uri="{FF2B5EF4-FFF2-40B4-BE49-F238E27FC236}">
                <a16:creationId xmlns:a16="http://schemas.microsoft.com/office/drawing/2014/main" id="{48841838-5861-63D0-E654-3592BDB26C4F}"/>
              </a:ext>
            </a:extLst>
          </p:cNvPr>
          <p:cNvSpPr txBox="1"/>
          <p:nvPr/>
        </p:nvSpPr>
        <p:spPr>
          <a:xfrm>
            <a:off x="1523999" y="1588723"/>
            <a:ext cx="9144001" cy="646331"/>
          </a:xfrm>
          <a:prstGeom prst="rect">
            <a:avLst/>
          </a:prstGeom>
          <a:noFill/>
        </p:spPr>
        <p:txBody>
          <a:bodyPr wrap="square" rtlCol="0">
            <a:spAutoFit/>
          </a:bodyPr>
          <a:lstStyle/>
          <a:p>
            <a:pPr algn="just"/>
            <a:r>
              <a:rPr lang="es-ES" dirty="0">
                <a:latin typeface="Verdana" panose="020B0604030504040204" pitchFamily="34" charset="0"/>
                <a:ea typeface="Verdana" panose="020B0604030504040204" pitchFamily="34" charset="0"/>
                <a:cs typeface="Verdana" panose="020B0604030504040204" pitchFamily="34" charset="0"/>
              </a:rPr>
              <a:t>6. Cuántas cadenas de bits de longitud 7 empiezan con 00 y terminan con 111?</a:t>
            </a:r>
            <a:endParaRPr lang="es-CO" dirty="0">
              <a:latin typeface="Verdana" panose="020B0604030504040204" pitchFamily="34" charset="0"/>
              <a:ea typeface="Verdana" panose="020B0604030504040204" pitchFamily="34" charset="0"/>
              <a:cs typeface="Verdana" panose="020B0604030504040204" pitchFamily="34" charset="0"/>
            </a:endParaRPr>
          </a:p>
        </p:txBody>
      </p:sp>
      <p:sp>
        <p:nvSpPr>
          <p:cNvPr id="7" name="CuadroTexto 6">
            <a:extLst>
              <a:ext uri="{FF2B5EF4-FFF2-40B4-BE49-F238E27FC236}">
                <a16:creationId xmlns:a16="http://schemas.microsoft.com/office/drawing/2014/main" id="{C16C89FC-7C5B-F1E0-E74E-E3D435039B75}"/>
              </a:ext>
            </a:extLst>
          </p:cNvPr>
          <p:cNvSpPr txBox="1"/>
          <p:nvPr/>
        </p:nvSpPr>
        <p:spPr>
          <a:xfrm>
            <a:off x="1523999" y="3273587"/>
            <a:ext cx="9144000" cy="646331"/>
          </a:xfrm>
          <a:prstGeom prst="rect">
            <a:avLst/>
          </a:prstGeom>
          <a:noFill/>
        </p:spPr>
        <p:txBody>
          <a:bodyPr wrap="square" rtlCol="0">
            <a:spAutoFit/>
          </a:bodyPr>
          <a:lstStyle/>
          <a:p>
            <a:pPr algn="just"/>
            <a:r>
              <a:rPr lang="es-ES" dirty="0">
                <a:latin typeface="Verdana" panose="020B0604030504040204" pitchFamily="34" charset="0"/>
                <a:ea typeface="Verdana" panose="020B0604030504040204" pitchFamily="34" charset="0"/>
                <a:cs typeface="Verdana" panose="020B0604030504040204" pitchFamily="34" charset="0"/>
              </a:rPr>
              <a:t>7. ¿Cuántos arreglos o cadenas de longitud 2 se pueden formar usando las letras ABC, si se permite repetir letras?</a:t>
            </a:r>
            <a:endParaRPr lang="es-CO" dirty="0">
              <a:latin typeface="Verdana" panose="020B0604030504040204" pitchFamily="34" charset="0"/>
              <a:ea typeface="Verdana" panose="020B0604030504040204" pitchFamily="34" charset="0"/>
              <a:cs typeface="Verdana" panose="020B0604030504040204" pitchFamily="34" charset="0"/>
            </a:endParaRPr>
          </a:p>
        </p:txBody>
      </p:sp>
      <p:sp>
        <p:nvSpPr>
          <p:cNvPr id="5" name="CuadroTexto 4">
            <a:extLst>
              <a:ext uri="{FF2B5EF4-FFF2-40B4-BE49-F238E27FC236}">
                <a16:creationId xmlns:a16="http://schemas.microsoft.com/office/drawing/2014/main" id="{9A7CF381-C8F9-9DEA-EFEE-73ED945B1560}"/>
              </a:ext>
            </a:extLst>
          </p:cNvPr>
          <p:cNvSpPr txBox="1"/>
          <p:nvPr/>
        </p:nvSpPr>
        <p:spPr>
          <a:xfrm>
            <a:off x="1523999" y="5213415"/>
            <a:ext cx="9144000" cy="369332"/>
          </a:xfrm>
          <a:prstGeom prst="rect">
            <a:avLst/>
          </a:prstGeom>
          <a:noFill/>
        </p:spPr>
        <p:txBody>
          <a:bodyPr wrap="square" rtlCol="0">
            <a:spAutoFit/>
          </a:bodyPr>
          <a:lstStyle/>
          <a:p>
            <a:pPr algn="just"/>
            <a:r>
              <a:rPr lang="es-ES" dirty="0">
                <a:latin typeface="Verdana" panose="020B0604030504040204" pitchFamily="34" charset="0"/>
                <a:ea typeface="Verdana" panose="020B0604030504040204" pitchFamily="34" charset="0"/>
                <a:cs typeface="Verdana" panose="020B0604030504040204" pitchFamily="34" charset="0"/>
              </a:rPr>
              <a:t>8. ¿Cuántos arreglos de ocho bits comienzan con 101 o bien 111?</a:t>
            </a:r>
            <a:endParaRPr lang="es-CO" dirty="0">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3658468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5" grpId="0"/>
    </p:bldLst>
  </p:timing>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7297</TotalTime>
  <Words>3369</Words>
  <Application>Microsoft Office PowerPoint</Application>
  <PresentationFormat>Panorámica</PresentationFormat>
  <Paragraphs>229</Paragraphs>
  <Slides>43</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43</vt:i4>
      </vt:variant>
    </vt:vector>
  </HeadingPairs>
  <TitlesOfParts>
    <vt:vector size="48" baseType="lpstr">
      <vt:lpstr>Arial</vt:lpstr>
      <vt:lpstr>Calibri</vt:lpstr>
      <vt:lpstr>Calibri Light</vt:lpstr>
      <vt:lpstr>Verdana</vt:lpstr>
      <vt:lpstr>Tema de Office</vt:lpstr>
      <vt:lpstr>Luis Germán Toro Pareja Ingeniero de Sistemas Magister en Seguridad Informática Universidad del Valle   </vt:lpstr>
      <vt:lpstr>Clase No. 1</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dc:title>
  <dc:creator>Luis Toro</dc:creator>
  <cp:lastModifiedBy>Luis German  Toro Pareja</cp:lastModifiedBy>
  <cp:revision>104</cp:revision>
  <dcterms:created xsi:type="dcterms:W3CDTF">2019-05-10T21:13:59Z</dcterms:created>
  <dcterms:modified xsi:type="dcterms:W3CDTF">2025-02-12T22:59:28Z</dcterms:modified>
</cp:coreProperties>
</file>