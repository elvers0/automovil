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7" r:id="rId2"/>
    <p:sldId id="304" r:id="rId3"/>
    <p:sldId id="256" r:id="rId4"/>
    <p:sldId id="258" r:id="rId5"/>
    <p:sldId id="293" r:id="rId6"/>
    <p:sldId id="274" r:id="rId7"/>
    <p:sldId id="273" r:id="rId8"/>
    <p:sldId id="260" r:id="rId9"/>
    <p:sldId id="282" r:id="rId10"/>
    <p:sldId id="283" r:id="rId11"/>
    <p:sldId id="261" r:id="rId12"/>
    <p:sldId id="285" r:id="rId13"/>
    <p:sldId id="284" r:id="rId14"/>
    <p:sldId id="263" r:id="rId15"/>
    <p:sldId id="275" r:id="rId16"/>
    <p:sldId id="262" r:id="rId17"/>
    <p:sldId id="279" r:id="rId18"/>
    <p:sldId id="264" r:id="rId19"/>
    <p:sldId id="276" r:id="rId20"/>
    <p:sldId id="277" r:id="rId21"/>
    <p:sldId id="265" r:id="rId22"/>
    <p:sldId id="280" r:id="rId23"/>
    <p:sldId id="281" r:id="rId24"/>
    <p:sldId id="286" r:id="rId25"/>
    <p:sldId id="287" r:id="rId26"/>
    <p:sldId id="288" r:id="rId27"/>
    <p:sldId id="289" r:id="rId28"/>
    <p:sldId id="291" r:id="rId29"/>
    <p:sldId id="290" r:id="rId30"/>
    <p:sldId id="292" r:id="rId31"/>
    <p:sldId id="266" r:id="rId32"/>
    <p:sldId id="267" r:id="rId33"/>
    <p:sldId id="295" r:id="rId34"/>
    <p:sldId id="296" r:id="rId35"/>
    <p:sldId id="297" r:id="rId36"/>
    <p:sldId id="268" r:id="rId37"/>
    <p:sldId id="299" r:id="rId38"/>
    <p:sldId id="300" r:id="rId39"/>
    <p:sldId id="301" r:id="rId40"/>
    <p:sldId id="302" r:id="rId41"/>
    <p:sldId id="303" r:id="rId42"/>
    <p:sldId id="270" r:id="rId43"/>
  </p:sldIdLst>
  <p:sldSz cx="12192000" cy="6858000"/>
  <p:notesSz cx="6858000" cy="9144000"/>
  <p:defaultTextStyle>
    <a:defPPr>
      <a:defRPr lang="es-C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snapToGrid="0">
      <p:cViewPr varScale="1">
        <p:scale>
          <a:sx n="82" d="100"/>
          <a:sy n="82" d="100"/>
        </p:scale>
        <p:origin x="720"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s-CO"/>
          </a:p>
        </p:txBody>
      </p:sp>
      <p:sp>
        <p:nvSpPr>
          <p:cNvPr id="3" name="Subtítulo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s-CO"/>
          </a:p>
        </p:txBody>
      </p:sp>
      <p:sp>
        <p:nvSpPr>
          <p:cNvPr id="4" name="Marcador de fecha 3"/>
          <p:cNvSpPr>
            <a:spLocks noGrp="1"/>
          </p:cNvSpPr>
          <p:nvPr>
            <p:ph type="dt" sz="half" idx="10"/>
          </p:nvPr>
        </p:nvSpPr>
        <p:spPr/>
        <p:txBody>
          <a:bodyPr/>
          <a:lstStyle/>
          <a:p>
            <a:fld id="{E956585F-79E6-4EEA-9F46-3F42785F0E40}" type="datetimeFigureOut">
              <a:rPr lang="es-CO" smtClean="0"/>
              <a:t>29/09/2026</a:t>
            </a:fld>
            <a:endParaRPr lang="es-CO"/>
          </a:p>
        </p:txBody>
      </p:sp>
      <p:sp>
        <p:nvSpPr>
          <p:cNvPr id="5" name="Marcador de pie de página 4"/>
          <p:cNvSpPr>
            <a:spLocks noGrp="1"/>
          </p:cNvSpPr>
          <p:nvPr>
            <p:ph type="ftr" sz="quarter" idx="11"/>
          </p:nvPr>
        </p:nvSpPr>
        <p:spPr/>
        <p:txBody>
          <a:bodyPr/>
          <a:lstStyle/>
          <a:p>
            <a:endParaRPr lang="es-CO"/>
          </a:p>
        </p:txBody>
      </p:sp>
      <p:sp>
        <p:nvSpPr>
          <p:cNvPr id="6" name="Marcador de número de diapositiva 5"/>
          <p:cNvSpPr>
            <a:spLocks noGrp="1"/>
          </p:cNvSpPr>
          <p:nvPr>
            <p:ph type="sldNum" sz="quarter" idx="12"/>
          </p:nvPr>
        </p:nvSpPr>
        <p:spPr/>
        <p:txBody>
          <a:bodyPr/>
          <a:lstStyle/>
          <a:p>
            <a:fld id="{4DEFADC1-F790-4C65-A43A-9946135326C8}" type="slidenum">
              <a:rPr lang="es-CO" smtClean="0"/>
              <a:t>‹Nº›</a:t>
            </a:fld>
            <a:endParaRPr lang="es-CO"/>
          </a:p>
        </p:txBody>
      </p:sp>
    </p:spTree>
    <p:extLst>
      <p:ext uri="{BB962C8B-B14F-4D97-AF65-F5344CB8AC3E}">
        <p14:creationId xmlns:p14="http://schemas.microsoft.com/office/powerpoint/2010/main" val="163777470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t>Haga clic para modificar el estilo de título del patrón</a:t>
            </a:r>
            <a:endParaRPr lang="es-CO"/>
          </a:p>
        </p:txBody>
      </p:sp>
      <p:sp>
        <p:nvSpPr>
          <p:cNvPr id="3" name="Marcador de contenido 2"/>
          <p:cNvSpPr>
            <a:spLocks noGrp="1"/>
          </p:cNvSpPr>
          <p:nvPr>
            <p:ph idx="1"/>
          </p:nvPr>
        </p:nvSpPr>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fecha 3"/>
          <p:cNvSpPr>
            <a:spLocks noGrp="1"/>
          </p:cNvSpPr>
          <p:nvPr>
            <p:ph type="dt" sz="half" idx="10"/>
          </p:nvPr>
        </p:nvSpPr>
        <p:spPr/>
        <p:txBody>
          <a:bodyPr/>
          <a:lstStyle/>
          <a:p>
            <a:fld id="{E956585F-79E6-4EEA-9F46-3F42785F0E40}" type="datetimeFigureOut">
              <a:rPr lang="es-CO" smtClean="0"/>
              <a:t>29/09/2026</a:t>
            </a:fld>
            <a:endParaRPr lang="es-CO"/>
          </a:p>
        </p:txBody>
      </p:sp>
      <p:sp>
        <p:nvSpPr>
          <p:cNvPr id="5" name="Marcador de pie de página 4"/>
          <p:cNvSpPr>
            <a:spLocks noGrp="1"/>
          </p:cNvSpPr>
          <p:nvPr>
            <p:ph type="ftr" sz="quarter" idx="11"/>
          </p:nvPr>
        </p:nvSpPr>
        <p:spPr/>
        <p:txBody>
          <a:bodyPr/>
          <a:lstStyle/>
          <a:p>
            <a:endParaRPr lang="es-CO"/>
          </a:p>
        </p:txBody>
      </p:sp>
      <p:sp>
        <p:nvSpPr>
          <p:cNvPr id="6" name="Marcador de número de diapositiva 5"/>
          <p:cNvSpPr>
            <a:spLocks noGrp="1"/>
          </p:cNvSpPr>
          <p:nvPr>
            <p:ph type="sldNum" sz="quarter" idx="12"/>
          </p:nvPr>
        </p:nvSpPr>
        <p:spPr/>
        <p:txBody>
          <a:bodyPr/>
          <a:lstStyle/>
          <a:p>
            <a:fld id="{4DEFADC1-F790-4C65-A43A-9946135326C8}" type="slidenum">
              <a:rPr lang="es-CO" smtClean="0"/>
              <a:t>‹Nº›</a:t>
            </a:fld>
            <a:endParaRPr lang="es-CO"/>
          </a:p>
        </p:txBody>
      </p:sp>
    </p:spTree>
    <p:extLst>
      <p:ext uri="{BB962C8B-B14F-4D97-AF65-F5344CB8AC3E}">
        <p14:creationId xmlns:p14="http://schemas.microsoft.com/office/powerpoint/2010/main" val="197812921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endParaRPr lang="es-CO"/>
          </a:p>
        </p:txBody>
      </p:sp>
      <p:sp>
        <p:nvSpPr>
          <p:cNvPr id="3" name="Marcador de texto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Haga clic para modificar el estilo de texto del patrón</a:t>
            </a:r>
          </a:p>
        </p:txBody>
      </p:sp>
      <p:sp>
        <p:nvSpPr>
          <p:cNvPr id="4" name="Marcador de fecha 3"/>
          <p:cNvSpPr>
            <a:spLocks noGrp="1"/>
          </p:cNvSpPr>
          <p:nvPr>
            <p:ph type="dt" sz="half" idx="10"/>
          </p:nvPr>
        </p:nvSpPr>
        <p:spPr/>
        <p:txBody>
          <a:bodyPr/>
          <a:lstStyle/>
          <a:p>
            <a:fld id="{E956585F-79E6-4EEA-9F46-3F42785F0E40}" type="datetimeFigureOut">
              <a:rPr lang="es-CO" smtClean="0"/>
              <a:t>29/09/2026</a:t>
            </a:fld>
            <a:endParaRPr lang="es-CO"/>
          </a:p>
        </p:txBody>
      </p:sp>
      <p:sp>
        <p:nvSpPr>
          <p:cNvPr id="5" name="Marcador de pie de página 4"/>
          <p:cNvSpPr>
            <a:spLocks noGrp="1"/>
          </p:cNvSpPr>
          <p:nvPr>
            <p:ph type="ftr" sz="quarter" idx="11"/>
          </p:nvPr>
        </p:nvSpPr>
        <p:spPr/>
        <p:txBody>
          <a:bodyPr/>
          <a:lstStyle/>
          <a:p>
            <a:endParaRPr lang="es-CO"/>
          </a:p>
        </p:txBody>
      </p:sp>
      <p:sp>
        <p:nvSpPr>
          <p:cNvPr id="6" name="Marcador de número de diapositiva 5"/>
          <p:cNvSpPr>
            <a:spLocks noGrp="1"/>
          </p:cNvSpPr>
          <p:nvPr>
            <p:ph type="sldNum" sz="quarter" idx="12"/>
          </p:nvPr>
        </p:nvSpPr>
        <p:spPr/>
        <p:txBody>
          <a:bodyPr/>
          <a:lstStyle/>
          <a:p>
            <a:fld id="{4DEFADC1-F790-4C65-A43A-9946135326C8}" type="slidenum">
              <a:rPr lang="es-CO" smtClean="0"/>
              <a:t>‹Nº›</a:t>
            </a:fld>
            <a:endParaRPr lang="es-CO"/>
          </a:p>
        </p:txBody>
      </p:sp>
    </p:spTree>
    <p:extLst>
      <p:ext uri="{BB962C8B-B14F-4D97-AF65-F5344CB8AC3E}">
        <p14:creationId xmlns:p14="http://schemas.microsoft.com/office/powerpoint/2010/main" val="69005808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t>Haga clic para modificar el estilo de título del patrón</a:t>
            </a:r>
            <a:endParaRPr lang="es-CO"/>
          </a:p>
        </p:txBody>
      </p:sp>
      <p:sp>
        <p:nvSpPr>
          <p:cNvPr id="3" name="Marcador de contenido 2"/>
          <p:cNvSpPr>
            <a:spLocks noGrp="1"/>
          </p:cNvSpPr>
          <p:nvPr>
            <p:ph sz="half" idx="1"/>
          </p:nvPr>
        </p:nvSpPr>
        <p:spPr>
          <a:xfrm>
            <a:off x="838200" y="1825625"/>
            <a:ext cx="5181600" cy="4351338"/>
          </a:xfrm>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contenido 3"/>
          <p:cNvSpPr>
            <a:spLocks noGrp="1"/>
          </p:cNvSpPr>
          <p:nvPr>
            <p:ph sz="half" idx="2"/>
          </p:nvPr>
        </p:nvSpPr>
        <p:spPr>
          <a:xfrm>
            <a:off x="6172200" y="1825625"/>
            <a:ext cx="5181600" cy="4351338"/>
          </a:xfrm>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5" name="Marcador de fecha 4"/>
          <p:cNvSpPr>
            <a:spLocks noGrp="1"/>
          </p:cNvSpPr>
          <p:nvPr>
            <p:ph type="dt" sz="half" idx="10"/>
          </p:nvPr>
        </p:nvSpPr>
        <p:spPr/>
        <p:txBody>
          <a:bodyPr/>
          <a:lstStyle/>
          <a:p>
            <a:fld id="{E956585F-79E6-4EEA-9F46-3F42785F0E40}" type="datetimeFigureOut">
              <a:rPr lang="es-CO" smtClean="0"/>
              <a:t>29/09/2026</a:t>
            </a:fld>
            <a:endParaRPr lang="es-CO"/>
          </a:p>
        </p:txBody>
      </p:sp>
      <p:sp>
        <p:nvSpPr>
          <p:cNvPr id="6" name="Marcador de pie de página 5"/>
          <p:cNvSpPr>
            <a:spLocks noGrp="1"/>
          </p:cNvSpPr>
          <p:nvPr>
            <p:ph type="ftr" sz="quarter" idx="11"/>
          </p:nvPr>
        </p:nvSpPr>
        <p:spPr/>
        <p:txBody>
          <a:bodyPr/>
          <a:lstStyle/>
          <a:p>
            <a:endParaRPr lang="es-CO"/>
          </a:p>
        </p:txBody>
      </p:sp>
      <p:sp>
        <p:nvSpPr>
          <p:cNvPr id="7" name="Marcador de número de diapositiva 6"/>
          <p:cNvSpPr>
            <a:spLocks noGrp="1"/>
          </p:cNvSpPr>
          <p:nvPr>
            <p:ph type="sldNum" sz="quarter" idx="12"/>
          </p:nvPr>
        </p:nvSpPr>
        <p:spPr/>
        <p:txBody>
          <a:bodyPr/>
          <a:lstStyle/>
          <a:p>
            <a:fld id="{4DEFADC1-F790-4C65-A43A-9946135326C8}" type="slidenum">
              <a:rPr lang="es-CO" smtClean="0"/>
              <a:t>‹Nº›</a:t>
            </a:fld>
            <a:endParaRPr lang="es-CO"/>
          </a:p>
        </p:txBody>
      </p:sp>
    </p:spTree>
    <p:extLst>
      <p:ext uri="{BB962C8B-B14F-4D97-AF65-F5344CB8AC3E}">
        <p14:creationId xmlns:p14="http://schemas.microsoft.com/office/powerpoint/2010/main" val="116982121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p:cNvSpPr>
            <a:spLocks noGrp="1"/>
          </p:cNvSpPr>
          <p:nvPr>
            <p:ph type="title"/>
          </p:nvPr>
        </p:nvSpPr>
        <p:spPr>
          <a:xfrm>
            <a:off x="839788" y="365125"/>
            <a:ext cx="10515600" cy="1325563"/>
          </a:xfrm>
        </p:spPr>
        <p:txBody>
          <a:bodyPr/>
          <a:lstStyle/>
          <a:p>
            <a:r>
              <a:rPr lang="es-ES"/>
              <a:t>Haga clic para modificar el estilo de título del patrón</a:t>
            </a:r>
            <a:endParaRPr lang="es-CO"/>
          </a:p>
        </p:txBody>
      </p:sp>
      <p:sp>
        <p:nvSpPr>
          <p:cNvPr id="3" name="Marcador de texto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el estilo de texto del patrón</a:t>
            </a:r>
          </a:p>
        </p:txBody>
      </p:sp>
      <p:sp>
        <p:nvSpPr>
          <p:cNvPr id="4" name="Marcador de contenido 3"/>
          <p:cNvSpPr>
            <a:spLocks noGrp="1"/>
          </p:cNvSpPr>
          <p:nvPr>
            <p:ph sz="half" idx="2"/>
          </p:nvPr>
        </p:nvSpPr>
        <p:spPr>
          <a:xfrm>
            <a:off x="839788" y="2505075"/>
            <a:ext cx="5157787" cy="3684588"/>
          </a:xfrm>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5" name="Marcador de texto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el estilo de texto del patrón</a:t>
            </a:r>
          </a:p>
        </p:txBody>
      </p:sp>
      <p:sp>
        <p:nvSpPr>
          <p:cNvPr id="6" name="Marcador de contenido 5"/>
          <p:cNvSpPr>
            <a:spLocks noGrp="1"/>
          </p:cNvSpPr>
          <p:nvPr>
            <p:ph sz="quarter" idx="4"/>
          </p:nvPr>
        </p:nvSpPr>
        <p:spPr>
          <a:xfrm>
            <a:off x="6172200" y="2505075"/>
            <a:ext cx="5183188" cy="3684588"/>
          </a:xfrm>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7" name="Marcador de fecha 6"/>
          <p:cNvSpPr>
            <a:spLocks noGrp="1"/>
          </p:cNvSpPr>
          <p:nvPr>
            <p:ph type="dt" sz="half" idx="10"/>
          </p:nvPr>
        </p:nvSpPr>
        <p:spPr/>
        <p:txBody>
          <a:bodyPr/>
          <a:lstStyle/>
          <a:p>
            <a:fld id="{E956585F-79E6-4EEA-9F46-3F42785F0E40}" type="datetimeFigureOut">
              <a:rPr lang="es-CO" smtClean="0"/>
              <a:t>29/09/2026</a:t>
            </a:fld>
            <a:endParaRPr lang="es-CO"/>
          </a:p>
        </p:txBody>
      </p:sp>
      <p:sp>
        <p:nvSpPr>
          <p:cNvPr id="8" name="Marcador de pie de página 7"/>
          <p:cNvSpPr>
            <a:spLocks noGrp="1"/>
          </p:cNvSpPr>
          <p:nvPr>
            <p:ph type="ftr" sz="quarter" idx="11"/>
          </p:nvPr>
        </p:nvSpPr>
        <p:spPr/>
        <p:txBody>
          <a:bodyPr/>
          <a:lstStyle/>
          <a:p>
            <a:endParaRPr lang="es-CO"/>
          </a:p>
        </p:txBody>
      </p:sp>
      <p:sp>
        <p:nvSpPr>
          <p:cNvPr id="9" name="Marcador de número de diapositiva 8"/>
          <p:cNvSpPr>
            <a:spLocks noGrp="1"/>
          </p:cNvSpPr>
          <p:nvPr>
            <p:ph type="sldNum" sz="quarter" idx="12"/>
          </p:nvPr>
        </p:nvSpPr>
        <p:spPr/>
        <p:txBody>
          <a:bodyPr/>
          <a:lstStyle/>
          <a:p>
            <a:fld id="{4DEFADC1-F790-4C65-A43A-9946135326C8}" type="slidenum">
              <a:rPr lang="es-CO" smtClean="0"/>
              <a:t>‹Nº›</a:t>
            </a:fld>
            <a:endParaRPr lang="es-CO"/>
          </a:p>
        </p:txBody>
      </p:sp>
    </p:spTree>
    <p:extLst>
      <p:ext uri="{BB962C8B-B14F-4D97-AF65-F5344CB8AC3E}">
        <p14:creationId xmlns:p14="http://schemas.microsoft.com/office/powerpoint/2010/main" val="246274008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t>Haga clic para modificar el estilo de título del patrón</a:t>
            </a:r>
            <a:endParaRPr lang="es-CO"/>
          </a:p>
        </p:txBody>
      </p:sp>
      <p:sp>
        <p:nvSpPr>
          <p:cNvPr id="3" name="Marcador de fecha 2"/>
          <p:cNvSpPr>
            <a:spLocks noGrp="1"/>
          </p:cNvSpPr>
          <p:nvPr>
            <p:ph type="dt" sz="half" idx="10"/>
          </p:nvPr>
        </p:nvSpPr>
        <p:spPr/>
        <p:txBody>
          <a:bodyPr/>
          <a:lstStyle/>
          <a:p>
            <a:fld id="{E956585F-79E6-4EEA-9F46-3F42785F0E40}" type="datetimeFigureOut">
              <a:rPr lang="es-CO" smtClean="0"/>
              <a:t>29/09/2026</a:t>
            </a:fld>
            <a:endParaRPr lang="es-CO"/>
          </a:p>
        </p:txBody>
      </p:sp>
      <p:sp>
        <p:nvSpPr>
          <p:cNvPr id="4" name="Marcador de pie de página 3"/>
          <p:cNvSpPr>
            <a:spLocks noGrp="1"/>
          </p:cNvSpPr>
          <p:nvPr>
            <p:ph type="ftr" sz="quarter" idx="11"/>
          </p:nvPr>
        </p:nvSpPr>
        <p:spPr/>
        <p:txBody>
          <a:bodyPr/>
          <a:lstStyle/>
          <a:p>
            <a:endParaRPr lang="es-CO"/>
          </a:p>
        </p:txBody>
      </p:sp>
      <p:sp>
        <p:nvSpPr>
          <p:cNvPr id="5" name="Marcador de número de diapositiva 4"/>
          <p:cNvSpPr>
            <a:spLocks noGrp="1"/>
          </p:cNvSpPr>
          <p:nvPr>
            <p:ph type="sldNum" sz="quarter" idx="12"/>
          </p:nvPr>
        </p:nvSpPr>
        <p:spPr/>
        <p:txBody>
          <a:bodyPr/>
          <a:lstStyle/>
          <a:p>
            <a:fld id="{4DEFADC1-F790-4C65-A43A-9946135326C8}" type="slidenum">
              <a:rPr lang="es-CO" smtClean="0"/>
              <a:t>‹Nº›</a:t>
            </a:fld>
            <a:endParaRPr lang="es-CO"/>
          </a:p>
        </p:txBody>
      </p:sp>
    </p:spTree>
    <p:extLst>
      <p:ext uri="{BB962C8B-B14F-4D97-AF65-F5344CB8AC3E}">
        <p14:creationId xmlns:p14="http://schemas.microsoft.com/office/powerpoint/2010/main" val="272226490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p:cNvSpPr>
            <a:spLocks noGrp="1"/>
          </p:cNvSpPr>
          <p:nvPr>
            <p:ph type="dt" sz="half" idx="10"/>
          </p:nvPr>
        </p:nvSpPr>
        <p:spPr/>
        <p:txBody>
          <a:bodyPr/>
          <a:lstStyle/>
          <a:p>
            <a:fld id="{E956585F-79E6-4EEA-9F46-3F42785F0E40}" type="datetimeFigureOut">
              <a:rPr lang="es-CO" smtClean="0"/>
              <a:t>29/09/2026</a:t>
            </a:fld>
            <a:endParaRPr lang="es-CO"/>
          </a:p>
        </p:txBody>
      </p:sp>
      <p:sp>
        <p:nvSpPr>
          <p:cNvPr id="3" name="Marcador de pie de página 2"/>
          <p:cNvSpPr>
            <a:spLocks noGrp="1"/>
          </p:cNvSpPr>
          <p:nvPr>
            <p:ph type="ftr" sz="quarter" idx="11"/>
          </p:nvPr>
        </p:nvSpPr>
        <p:spPr/>
        <p:txBody>
          <a:bodyPr/>
          <a:lstStyle/>
          <a:p>
            <a:endParaRPr lang="es-CO"/>
          </a:p>
        </p:txBody>
      </p:sp>
      <p:sp>
        <p:nvSpPr>
          <p:cNvPr id="4" name="Marcador de número de diapositiva 3"/>
          <p:cNvSpPr>
            <a:spLocks noGrp="1"/>
          </p:cNvSpPr>
          <p:nvPr>
            <p:ph type="sldNum" sz="quarter" idx="12"/>
          </p:nvPr>
        </p:nvSpPr>
        <p:spPr/>
        <p:txBody>
          <a:bodyPr/>
          <a:lstStyle/>
          <a:p>
            <a:fld id="{4DEFADC1-F790-4C65-A43A-9946135326C8}" type="slidenum">
              <a:rPr lang="es-CO" smtClean="0"/>
              <a:t>‹Nº›</a:t>
            </a:fld>
            <a:endParaRPr lang="es-CO"/>
          </a:p>
        </p:txBody>
      </p:sp>
    </p:spTree>
    <p:extLst>
      <p:ext uri="{BB962C8B-B14F-4D97-AF65-F5344CB8AC3E}">
        <p14:creationId xmlns:p14="http://schemas.microsoft.com/office/powerpoint/2010/main" val="125629029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CO"/>
          </a:p>
        </p:txBody>
      </p:sp>
      <p:sp>
        <p:nvSpPr>
          <p:cNvPr id="3" name="Marcador de contenido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texto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el estilo de texto del patrón</a:t>
            </a:r>
          </a:p>
        </p:txBody>
      </p:sp>
      <p:sp>
        <p:nvSpPr>
          <p:cNvPr id="5" name="Marcador de fecha 4"/>
          <p:cNvSpPr>
            <a:spLocks noGrp="1"/>
          </p:cNvSpPr>
          <p:nvPr>
            <p:ph type="dt" sz="half" idx="10"/>
          </p:nvPr>
        </p:nvSpPr>
        <p:spPr/>
        <p:txBody>
          <a:bodyPr/>
          <a:lstStyle/>
          <a:p>
            <a:fld id="{E956585F-79E6-4EEA-9F46-3F42785F0E40}" type="datetimeFigureOut">
              <a:rPr lang="es-CO" smtClean="0"/>
              <a:t>29/09/2026</a:t>
            </a:fld>
            <a:endParaRPr lang="es-CO"/>
          </a:p>
        </p:txBody>
      </p:sp>
      <p:sp>
        <p:nvSpPr>
          <p:cNvPr id="6" name="Marcador de pie de página 5"/>
          <p:cNvSpPr>
            <a:spLocks noGrp="1"/>
          </p:cNvSpPr>
          <p:nvPr>
            <p:ph type="ftr" sz="quarter" idx="11"/>
          </p:nvPr>
        </p:nvSpPr>
        <p:spPr/>
        <p:txBody>
          <a:bodyPr/>
          <a:lstStyle/>
          <a:p>
            <a:endParaRPr lang="es-CO"/>
          </a:p>
        </p:txBody>
      </p:sp>
      <p:sp>
        <p:nvSpPr>
          <p:cNvPr id="7" name="Marcador de número de diapositiva 6"/>
          <p:cNvSpPr>
            <a:spLocks noGrp="1"/>
          </p:cNvSpPr>
          <p:nvPr>
            <p:ph type="sldNum" sz="quarter" idx="12"/>
          </p:nvPr>
        </p:nvSpPr>
        <p:spPr/>
        <p:txBody>
          <a:bodyPr/>
          <a:lstStyle/>
          <a:p>
            <a:fld id="{4DEFADC1-F790-4C65-A43A-9946135326C8}" type="slidenum">
              <a:rPr lang="es-CO" smtClean="0"/>
              <a:t>‹Nº›</a:t>
            </a:fld>
            <a:endParaRPr lang="es-CO"/>
          </a:p>
        </p:txBody>
      </p:sp>
    </p:spTree>
    <p:extLst>
      <p:ext uri="{BB962C8B-B14F-4D97-AF65-F5344CB8AC3E}">
        <p14:creationId xmlns:p14="http://schemas.microsoft.com/office/powerpoint/2010/main" val="426495747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CO"/>
          </a:p>
        </p:txBody>
      </p:sp>
      <p:sp>
        <p:nvSpPr>
          <p:cNvPr id="3" name="Marcador de posición de imagen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CO"/>
          </a:p>
        </p:txBody>
      </p:sp>
      <p:sp>
        <p:nvSpPr>
          <p:cNvPr id="4" name="Marcador de texto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el estilo de texto del patrón</a:t>
            </a:r>
          </a:p>
        </p:txBody>
      </p:sp>
      <p:sp>
        <p:nvSpPr>
          <p:cNvPr id="5" name="Marcador de fecha 4"/>
          <p:cNvSpPr>
            <a:spLocks noGrp="1"/>
          </p:cNvSpPr>
          <p:nvPr>
            <p:ph type="dt" sz="half" idx="10"/>
          </p:nvPr>
        </p:nvSpPr>
        <p:spPr/>
        <p:txBody>
          <a:bodyPr/>
          <a:lstStyle/>
          <a:p>
            <a:fld id="{E956585F-79E6-4EEA-9F46-3F42785F0E40}" type="datetimeFigureOut">
              <a:rPr lang="es-CO" smtClean="0"/>
              <a:t>29/09/2026</a:t>
            </a:fld>
            <a:endParaRPr lang="es-CO"/>
          </a:p>
        </p:txBody>
      </p:sp>
      <p:sp>
        <p:nvSpPr>
          <p:cNvPr id="6" name="Marcador de pie de página 5"/>
          <p:cNvSpPr>
            <a:spLocks noGrp="1"/>
          </p:cNvSpPr>
          <p:nvPr>
            <p:ph type="ftr" sz="quarter" idx="11"/>
          </p:nvPr>
        </p:nvSpPr>
        <p:spPr/>
        <p:txBody>
          <a:bodyPr/>
          <a:lstStyle/>
          <a:p>
            <a:endParaRPr lang="es-CO"/>
          </a:p>
        </p:txBody>
      </p:sp>
      <p:sp>
        <p:nvSpPr>
          <p:cNvPr id="7" name="Marcador de número de diapositiva 6"/>
          <p:cNvSpPr>
            <a:spLocks noGrp="1"/>
          </p:cNvSpPr>
          <p:nvPr>
            <p:ph type="sldNum" sz="quarter" idx="12"/>
          </p:nvPr>
        </p:nvSpPr>
        <p:spPr/>
        <p:txBody>
          <a:bodyPr/>
          <a:lstStyle/>
          <a:p>
            <a:fld id="{4DEFADC1-F790-4C65-A43A-9946135326C8}" type="slidenum">
              <a:rPr lang="es-CO" smtClean="0"/>
              <a:t>‹Nº›</a:t>
            </a:fld>
            <a:endParaRPr lang="es-CO"/>
          </a:p>
        </p:txBody>
      </p:sp>
    </p:spTree>
    <p:extLst>
      <p:ext uri="{BB962C8B-B14F-4D97-AF65-F5344CB8AC3E}">
        <p14:creationId xmlns:p14="http://schemas.microsoft.com/office/powerpoint/2010/main" val="320502972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t>Haga clic para modificar el estilo de título del patrón</a:t>
            </a:r>
            <a:endParaRPr lang="es-CO"/>
          </a:p>
        </p:txBody>
      </p:sp>
      <p:sp>
        <p:nvSpPr>
          <p:cNvPr id="3" name="Marcador de texto vertical 2"/>
          <p:cNvSpPr>
            <a:spLocks noGrp="1"/>
          </p:cNvSpPr>
          <p:nvPr>
            <p:ph type="body" orient="vert" idx="1"/>
          </p:nvPr>
        </p:nvSpPr>
        <p:spPr/>
        <p:txBody>
          <a:bodyPr vert="eaVert"/>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fecha 3"/>
          <p:cNvSpPr>
            <a:spLocks noGrp="1"/>
          </p:cNvSpPr>
          <p:nvPr>
            <p:ph type="dt" sz="half" idx="10"/>
          </p:nvPr>
        </p:nvSpPr>
        <p:spPr/>
        <p:txBody>
          <a:bodyPr/>
          <a:lstStyle/>
          <a:p>
            <a:fld id="{E956585F-79E6-4EEA-9F46-3F42785F0E40}" type="datetimeFigureOut">
              <a:rPr lang="es-CO" smtClean="0"/>
              <a:t>29/09/2026</a:t>
            </a:fld>
            <a:endParaRPr lang="es-CO"/>
          </a:p>
        </p:txBody>
      </p:sp>
      <p:sp>
        <p:nvSpPr>
          <p:cNvPr id="5" name="Marcador de pie de página 4"/>
          <p:cNvSpPr>
            <a:spLocks noGrp="1"/>
          </p:cNvSpPr>
          <p:nvPr>
            <p:ph type="ftr" sz="quarter" idx="11"/>
          </p:nvPr>
        </p:nvSpPr>
        <p:spPr/>
        <p:txBody>
          <a:bodyPr/>
          <a:lstStyle/>
          <a:p>
            <a:endParaRPr lang="es-CO"/>
          </a:p>
        </p:txBody>
      </p:sp>
      <p:sp>
        <p:nvSpPr>
          <p:cNvPr id="6" name="Marcador de número de diapositiva 5"/>
          <p:cNvSpPr>
            <a:spLocks noGrp="1"/>
          </p:cNvSpPr>
          <p:nvPr>
            <p:ph type="sldNum" sz="quarter" idx="12"/>
          </p:nvPr>
        </p:nvSpPr>
        <p:spPr/>
        <p:txBody>
          <a:bodyPr/>
          <a:lstStyle/>
          <a:p>
            <a:fld id="{4DEFADC1-F790-4C65-A43A-9946135326C8}" type="slidenum">
              <a:rPr lang="es-CO" smtClean="0"/>
              <a:t>‹Nº›</a:t>
            </a:fld>
            <a:endParaRPr lang="es-CO"/>
          </a:p>
        </p:txBody>
      </p:sp>
    </p:spTree>
    <p:extLst>
      <p:ext uri="{BB962C8B-B14F-4D97-AF65-F5344CB8AC3E}">
        <p14:creationId xmlns:p14="http://schemas.microsoft.com/office/powerpoint/2010/main" val="3873323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p:cNvSpPr>
            <a:spLocks noGrp="1"/>
          </p:cNvSpPr>
          <p:nvPr>
            <p:ph type="title" orient="vert"/>
          </p:nvPr>
        </p:nvSpPr>
        <p:spPr>
          <a:xfrm>
            <a:off x="8724900" y="365125"/>
            <a:ext cx="2628900" cy="5811838"/>
          </a:xfrm>
        </p:spPr>
        <p:txBody>
          <a:bodyPr vert="eaVert"/>
          <a:lstStyle/>
          <a:p>
            <a:r>
              <a:rPr lang="es-ES"/>
              <a:t>Haga clic para modificar el estilo de título del patrón</a:t>
            </a:r>
            <a:endParaRPr lang="es-CO"/>
          </a:p>
        </p:txBody>
      </p:sp>
      <p:sp>
        <p:nvSpPr>
          <p:cNvPr id="3" name="Marcador de texto vertical 2"/>
          <p:cNvSpPr>
            <a:spLocks noGrp="1"/>
          </p:cNvSpPr>
          <p:nvPr>
            <p:ph type="body" orient="vert" idx="1"/>
          </p:nvPr>
        </p:nvSpPr>
        <p:spPr>
          <a:xfrm>
            <a:off x="838200" y="365125"/>
            <a:ext cx="7734300" cy="5811838"/>
          </a:xfrm>
        </p:spPr>
        <p:txBody>
          <a:bodyPr vert="eaVert"/>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fecha 3"/>
          <p:cNvSpPr>
            <a:spLocks noGrp="1"/>
          </p:cNvSpPr>
          <p:nvPr>
            <p:ph type="dt" sz="half" idx="10"/>
          </p:nvPr>
        </p:nvSpPr>
        <p:spPr/>
        <p:txBody>
          <a:bodyPr/>
          <a:lstStyle/>
          <a:p>
            <a:fld id="{E956585F-79E6-4EEA-9F46-3F42785F0E40}" type="datetimeFigureOut">
              <a:rPr lang="es-CO" smtClean="0"/>
              <a:t>29/09/2026</a:t>
            </a:fld>
            <a:endParaRPr lang="es-CO"/>
          </a:p>
        </p:txBody>
      </p:sp>
      <p:sp>
        <p:nvSpPr>
          <p:cNvPr id="5" name="Marcador de pie de página 4"/>
          <p:cNvSpPr>
            <a:spLocks noGrp="1"/>
          </p:cNvSpPr>
          <p:nvPr>
            <p:ph type="ftr" sz="quarter" idx="11"/>
          </p:nvPr>
        </p:nvSpPr>
        <p:spPr/>
        <p:txBody>
          <a:bodyPr/>
          <a:lstStyle/>
          <a:p>
            <a:endParaRPr lang="es-CO"/>
          </a:p>
        </p:txBody>
      </p:sp>
      <p:sp>
        <p:nvSpPr>
          <p:cNvPr id="6" name="Marcador de número de diapositiva 5"/>
          <p:cNvSpPr>
            <a:spLocks noGrp="1"/>
          </p:cNvSpPr>
          <p:nvPr>
            <p:ph type="sldNum" sz="quarter" idx="12"/>
          </p:nvPr>
        </p:nvSpPr>
        <p:spPr/>
        <p:txBody>
          <a:bodyPr/>
          <a:lstStyle/>
          <a:p>
            <a:fld id="{4DEFADC1-F790-4C65-A43A-9946135326C8}" type="slidenum">
              <a:rPr lang="es-CO" smtClean="0"/>
              <a:t>‹Nº›</a:t>
            </a:fld>
            <a:endParaRPr lang="es-CO"/>
          </a:p>
        </p:txBody>
      </p:sp>
    </p:spTree>
    <p:extLst>
      <p:ext uri="{BB962C8B-B14F-4D97-AF65-F5344CB8AC3E}">
        <p14:creationId xmlns:p14="http://schemas.microsoft.com/office/powerpoint/2010/main" val="304688697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endParaRPr lang="es-CO"/>
          </a:p>
        </p:txBody>
      </p:sp>
      <p:sp>
        <p:nvSpPr>
          <p:cNvPr id="3" name="Marcador de texto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fecha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956585F-79E6-4EEA-9F46-3F42785F0E40}" type="datetimeFigureOut">
              <a:rPr lang="es-CO" smtClean="0"/>
              <a:t>29/09/2026</a:t>
            </a:fld>
            <a:endParaRPr lang="es-CO"/>
          </a:p>
        </p:txBody>
      </p:sp>
      <p:sp>
        <p:nvSpPr>
          <p:cNvPr id="5" name="Marcador de pie de página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CO"/>
          </a:p>
        </p:txBody>
      </p:sp>
      <p:sp>
        <p:nvSpPr>
          <p:cNvPr id="6" name="Marcador de número de diapositiva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DEFADC1-F790-4C65-A43A-9946135326C8}" type="slidenum">
              <a:rPr lang="es-CO" smtClean="0"/>
              <a:t>‹Nº›</a:t>
            </a:fld>
            <a:endParaRPr lang="es-CO"/>
          </a:p>
        </p:txBody>
      </p:sp>
    </p:spTree>
    <p:extLst>
      <p:ext uri="{BB962C8B-B14F-4D97-AF65-F5344CB8AC3E}">
        <p14:creationId xmlns:p14="http://schemas.microsoft.com/office/powerpoint/2010/main" val="279800885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C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hyperlink" Target="https://www.security.org/how-secure-is-my-password/" TargetMode="Externa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ctrTitle"/>
          </p:nvPr>
        </p:nvSpPr>
        <p:spPr>
          <a:xfrm>
            <a:off x="1523999" y="1122363"/>
            <a:ext cx="9144001" cy="2387600"/>
          </a:xfrm>
        </p:spPr>
        <p:txBody>
          <a:bodyPr>
            <a:normAutofit/>
          </a:bodyPr>
          <a:lstStyle/>
          <a:p>
            <a:pPr>
              <a:lnSpc>
                <a:spcPts val="3005"/>
              </a:lnSpc>
              <a:spcBef>
                <a:spcPts val="150"/>
              </a:spcBef>
            </a:pPr>
            <a:r>
              <a:rPr lang="es-CO" sz="3600" spc="0" dirty="0">
                <a:latin typeface="Verdana"/>
                <a:cs typeface="Verdana"/>
              </a:rPr>
              <a:t>Luis Germán Toro Pareja</a:t>
            </a:r>
            <a:br>
              <a:rPr lang="es-CO" sz="3600" dirty="0">
                <a:latin typeface="Verdana"/>
                <a:cs typeface="Verdana"/>
              </a:rPr>
            </a:br>
            <a:r>
              <a:rPr lang="es-CO" sz="2400" spc="0" dirty="0">
                <a:latin typeface="Verdana"/>
                <a:cs typeface="Verdana"/>
              </a:rPr>
              <a:t>Ingeniero de Sistemas</a:t>
            </a:r>
            <a:br>
              <a:rPr lang="es-CO" sz="2400" spc="0" dirty="0">
                <a:latin typeface="Verdana"/>
                <a:cs typeface="Verdana"/>
              </a:rPr>
            </a:br>
            <a:r>
              <a:rPr lang="es-CO" sz="2400" dirty="0">
                <a:latin typeface="Verdana"/>
                <a:cs typeface="Verdana"/>
              </a:rPr>
              <a:t>Magister en Seguridad Informática</a:t>
            </a:r>
            <a:br>
              <a:rPr lang="es-CO" sz="2400" dirty="0">
                <a:latin typeface="Verdana"/>
                <a:cs typeface="Verdana"/>
              </a:rPr>
            </a:br>
            <a:r>
              <a:rPr lang="es-CO" sz="2400" spc="0" dirty="0">
                <a:latin typeface="Verdana"/>
                <a:cs typeface="Verdana"/>
              </a:rPr>
              <a:t>Universidad del</a:t>
            </a:r>
            <a:r>
              <a:rPr lang="es-CO" sz="2400" spc="-29" dirty="0">
                <a:latin typeface="Verdana"/>
                <a:cs typeface="Verdana"/>
              </a:rPr>
              <a:t> </a:t>
            </a:r>
            <a:r>
              <a:rPr lang="es-CO" sz="2400" spc="0" dirty="0">
                <a:latin typeface="Verdana"/>
                <a:cs typeface="Verdana"/>
              </a:rPr>
              <a:t>Valle</a:t>
            </a:r>
            <a:br>
              <a:rPr lang="es-CO" sz="2400" dirty="0">
                <a:latin typeface="Verdana"/>
                <a:cs typeface="Verdana"/>
              </a:rPr>
            </a:br>
            <a:r>
              <a:rPr lang="es-CO" sz="2400" dirty="0">
                <a:latin typeface="Verdana"/>
                <a:cs typeface="Verdana"/>
              </a:rPr>
              <a:t> 	</a:t>
            </a:r>
            <a:endParaRPr lang="es-CO" sz="2400" spc="0" dirty="0">
              <a:latin typeface="Verdana"/>
              <a:cs typeface="Verdana"/>
            </a:endParaRPr>
          </a:p>
        </p:txBody>
      </p:sp>
      <p:sp>
        <p:nvSpPr>
          <p:cNvPr id="3" name="Subtítulo 2"/>
          <p:cNvSpPr>
            <a:spLocks noGrp="1"/>
          </p:cNvSpPr>
          <p:nvPr>
            <p:ph type="subTitle" idx="1"/>
          </p:nvPr>
        </p:nvSpPr>
        <p:spPr>
          <a:xfrm>
            <a:off x="1523999" y="3602038"/>
            <a:ext cx="9144001" cy="1655762"/>
          </a:xfrm>
        </p:spPr>
        <p:txBody>
          <a:bodyPr/>
          <a:lstStyle/>
          <a:p>
            <a:pPr marL="12700">
              <a:lnSpc>
                <a:spcPts val="2590"/>
              </a:lnSpc>
              <a:spcBef>
                <a:spcPts val="129"/>
              </a:spcBef>
            </a:pPr>
            <a:r>
              <a:rPr lang="es-CO" b="1" u="sng" dirty="0">
                <a:latin typeface="Verdana"/>
                <a:cs typeface="Verdana"/>
              </a:rPr>
              <a:t>luis.german.toro@correounivalle.edu.co</a:t>
            </a:r>
            <a:endParaRPr lang="es-CO" u="sng" dirty="0">
              <a:latin typeface="Verdana"/>
              <a:cs typeface="Verdana"/>
            </a:endParaRPr>
          </a:p>
          <a:p>
            <a:endParaRPr lang="es-CO" u="sng" dirty="0"/>
          </a:p>
          <a:p>
            <a:pPr marL="1620755" marR="1634245">
              <a:lnSpc>
                <a:spcPts val="1760"/>
              </a:lnSpc>
              <a:spcBef>
                <a:spcPts val="88"/>
              </a:spcBef>
            </a:pPr>
            <a:r>
              <a:rPr lang="es-CO" sz="1600" b="1" u="sng" spc="4" dirty="0">
                <a:latin typeface="Verdana"/>
                <a:cs typeface="Verdana"/>
              </a:rPr>
              <a:t>U</a:t>
            </a:r>
            <a:r>
              <a:rPr lang="es-CO" sz="1600" b="1" u="sng" spc="0" dirty="0">
                <a:latin typeface="Verdana"/>
                <a:cs typeface="Verdana"/>
              </a:rPr>
              <a:t>ni</a:t>
            </a:r>
            <a:r>
              <a:rPr lang="es-CO" sz="1600" b="1" u="sng" spc="4" dirty="0">
                <a:latin typeface="Verdana"/>
                <a:cs typeface="Verdana"/>
              </a:rPr>
              <a:t>v</a:t>
            </a:r>
            <a:r>
              <a:rPr lang="es-CO" sz="1600" b="1" u="sng" spc="0" dirty="0">
                <a:latin typeface="Verdana"/>
                <a:cs typeface="Verdana"/>
              </a:rPr>
              <a:t>e</a:t>
            </a:r>
            <a:r>
              <a:rPr lang="es-CO" sz="1600" b="1" u="sng" spc="-4" dirty="0">
                <a:latin typeface="Verdana"/>
                <a:cs typeface="Verdana"/>
              </a:rPr>
              <a:t>rs</a:t>
            </a:r>
            <a:r>
              <a:rPr lang="es-CO" sz="1600" b="1" u="sng" spc="4" dirty="0">
                <a:latin typeface="Verdana"/>
                <a:cs typeface="Verdana"/>
              </a:rPr>
              <a:t>id</a:t>
            </a:r>
            <a:r>
              <a:rPr lang="es-CO" sz="1600" b="1" u="sng" spc="0" dirty="0">
                <a:latin typeface="Verdana"/>
                <a:cs typeface="Verdana"/>
              </a:rPr>
              <a:t>ad</a:t>
            </a:r>
            <a:r>
              <a:rPr lang="es-CO" sz="1600" b="1" u="sng" spc="9" dirty="0">
                <a:latin typeface="Verdana"/>
                <a:cs typeface="Verdana"/>
              </a:rPr>
              <a:t> </a:t>
            </a:r>
            <a:r>
              <a:rPr lang="es-CO" sz="1600" b="1" u="sng" spc="4" dirty="0">
                <a:latin typeface="Verdana"/>
                <a:cs typeface="Verdana"/>
              </a:rPr>
              <a:t>d</a:t>
            </a:r>
            <a:r>
              <a:rPr lang="es-CO" sz="1600" b="1" u="sng" spc="0" dirty="0">
                <a:latin typeface="Verdana"/>
                <a:cs typeface="Verdana"/>
              </a:rPr>
              <a:t>el</a:t>
            </a:r>
            <a:r>
              <a:rPr lang="es-CO" sz="1600" b="1" u="sng" spc="9" dirty="0">
                <a:latin typeface="Verdana"/>
                <a:cs typeface="Verdana"/>
              </a:rPr>
              <a:t> </a:t>
            </a:r>
            <a:r>
              <a:rPr lang="es-CO" sz="1600" b="1" u="sng" spc="4" dirty="0">
                <a:latin typeface="Verdana"/>
                <a:cs typeface="Verdana"/>
              </a:rPr>
              <a:t>Val</a:t>
            </a:r>
            <a:r>
              <a:rPr lang="es-CO" sz="1600" b="1" u="sng" spc="0" dirty="0">
                <a:latin typeface="Verdana"/>
                <a:cs typeface="Verdana"/>
              </a:rPr>
              <a:t>le</a:t>
            </a:r>
            <a:endParaRPr lang="es-CO" sz="1600" u="sng" dirty="0">
              <a:latin typeface="Verdana"/>
              <a:cs typeface="Verdana"/>
            </a:endParaRPr>
          </a:p>
          <a:p>
            <a:pPr>
              <a:lnSpc>
                <a:spcPct val="101277"/>
              </a:lnSpc>
              <a:spcBef>
                <a:spcPts val="282"/>
              </a:spcBef>
            </a:pPr>
            <a:r>
              <a:rPr lang="es-CO" sz="1600" b="1" u="sng" spc="0" dirty="0">
                <a:latin typeface="Verdana"/>
                <a:cs typeface="Verdana"/>
              </a:rPr>
              <a:t>Es</a:t>
            </a:r>
            <a:r>
              <a:rPr lang="es-CO" sz="1600" b="1" u="sng" spc="-9" dirty="0">
                <a:latin typeface="Verdana"/>
                <a:cs typeface="Verdana"/>
              </a:rPr>
              <a:t>c</a:t>
            </a:r>
            <a:r>
              <a:rPr lang="es-CO" sz="1600" b="1" u="sng" spc="0" dirty="0">
                <a:latin typeface="Verdana"/>
                <a:cs typeface="Verdana"/>
              </a:rPr>
              <a:t>uela de Ingeniería de Sist</a:t>
            </a:r>
            <a:r>
              <a:rPr lang="es-CO" sz="1600" b="1" u="sng" spc="-9" dirty="0">
                <a:latin typeface="Verdana"/>
                <a:cs typeface="Verdana"/>
              </a:rPr>
              <a:t>e</a:t>
            </a:r>
            <a:r>
              <a:rPr lang="es-CO" sz="1600" b="1" u="sng" spc="-4" dirty="0">
                <a:latin typeface="Verdana"/>
                <a:cs typeface="Verdana"/>
              </a:rPr>
              <a:t>m</a:t>
            </a:r>
            <a:r>
              <a:rPr lang="es-CO" sz="1600" b="1" u="sng" spc="0" dirty="0">
                <a:latin typeface="Verdana"/>
                <a:cs typeface="Verdana"/>
              </a:rPr>
              <a:t>as y Comp</a:t>
            </a:r>
            <a:r>
              <a:rPr lang="es-CO" sz="1600" b="1" u="sng" spc="-4" dirty="0">
                <a:latin typeface="Verdana"/>
                <a:cs typeface="Verdana"/>
              </a:rPr>
              <a:t>ut</a:t>
            </a:r>
            <a:r>
              <a:rPr lang="es-CO" sz="1600" b="1" u="sng" spc="0" dirty="0">
                <a:latin typeface="Verdana"/>
                <a:cs typeface="Verdana"/>
              </a:rPr>
              <a:t>ación</a:t>
            </a:r>
            <a:endParaRPr lang="es-CO" sz="1600" u="sng" dirty="0">
              <a:latin typeface="Verdana"/>
              <a:cs typeface="Verdana"/>
            </a:endParaRPr>
          </a:p>
          <a:p>
            <a:endParaRPr lang="es-CO" u="sng" dirty="0"/>
          </a:p>
        </p:txBody>
      </p:sp>
      <p:sp>
        <p:nvSpPr>
          <p:cNvPr id="4" name="object 9"/>
          <p:cNvSpPr/>
          <p:nvPr/>
        </p:nvSpPr>
        <p:spPr>
          <a:xfrm>
            <a:off x="1524000" y="473139"/>
            <a:ext cx="9144000" cy="649224"/>
          </a:xfrm>
          <a:custGeom>
            <a:avLst/>
            <a:gdLst/>
            <a:ahLst/>
            <a:cxnLst/>
            <a:rect l="l" t="t" r="r" b="b"/>
            <a:pathLst>
              <a:path w="9144000" h="649224">
                <a:moveTo>
                  <a:pt x="9144000" y="649223"/>
                </a:moveTo>
                <a:lnTo>
                  <a:pt x="9144000" y="0"/>
                </a:lnTo>
                <a:lnTo>
                  <a:pt x="0" y="0"/>
                </a:lnTo>
                <a:lnTo>
                  <a:pt x="0" y="649224"/>
                </a:lnTo>
                <a:lnTo>
                  <a:pt x="9144000" y="649223"/>
                </a:lnTo>
                <a:close/>
              </a:path>
            </a:pathLst>
          </a:custGeom>
          <a:solidFill>
            <a:srgbClr val="E6031E"/>
          </a:solidFill>
        </p:spPr>
        <p:txBody>
          <a:bodyPr wrap="square" lIns="0" tIns="0" rIns="0" bIns="0" rtlCol="0">
            <a:noAutofit/>
          </a:bodyPr>
          <a:lstStyle/>
          <a:p>
            <a:pPr algn="ctr"/>
            <a:r>
              <a:rPr lang="es-CO" sz="2400" b="1" dirty="0">
                <a:solidFill>
                  <a:schemeClr val="bg1"/>
                </a:solidFill>
                <a:latin typeface="Verdana" panose="020B0604030504040204" pitchFamily="34" charset="0"/>
                <a:ea typeface="Verdana" panose="020B0604030504040204" pitchFamily="34" charset="0"/>
                <a:cs typeface="Verdana" panose="020B0604030504040204" pitchFamily="34" charset="0"/>
              </a:rPr>
              <a:t>DOCENTE</a:t>
            </a:r>
            <a:endParaRPr sz="2400" b="1" dirty="0">
              <a:solidFill>
                <a:schemeClr val="bg1"/>
              </a:solidFill>
              <a:latin typeface="Verdana" panose="020B0604030504040204" pitchFamily="34" charset="0"/>
              <a:ea typeface="Verdana" panose="020B0604030504040204" pitchFamily="34" charset="0"/>
              <a:cs typeface="Verdana" panose="020B0604030504040204" pitchFamily="34" charset="0"/>
            </a:endParaRPr>
          </a:p>
        </p:txBody>
      </p:sp>
      <p:sp>
        <p:nvSpPr>
          <p:cNvPr id="6" name="object 12"/>
          <p:cNvSpPr/>
          <p:nvPr/>
        </p:nvSpPr>
        <p:spPr>
          <a:xfrm>
            <a:off x="10242773" y="6153222"/>
            <a:ext cx="425227" cy="549401"/>
          </a:xfrm>
          <a:prstGeom prst="rect">
            <a:avLst/>
          </a:prstGeom>
          <a:blipFill>
            <a:blip r:embed="rId2" cstate="print"/>
            <a:stretch>
              <a:fillRect/>
            </a:stretch>
          </a:blipFill>
        </p:spPr>
        <p:txBody>
          <a:bodyPr wrap="square" lIns="0" tIns="0" rIns="0" bIns="0" rtlCol="0">
            <a:noAutofit/>
          </a:bodyPr>
          <a:lstStyle/>
          <a:p>
            <a:endParaRPr/>
          </a:p>
        </p:txBody>
      </p:sp>
      <p:sp>
        <p:nvSpPr>
          <p:cNvPr id="7" name="object 11">
            <a:extLst>
              <a:ext uri="{FF2B5EF4-FFF2-40B4-BE49-F238E27FC236}">
                <a16:creationId xmlns:a16="http://schemas.microsoft.com/office/drawing/2014/main" id="{E5A38F5F-0D28-7A54-6861-BA5F4DC06985}"/>
              </a:ext>
            </a:extLst>
          </p:cNvPr>
          <p:cNvSpPr/>
          <p:nvPr/>
        </p:nvSpPr>
        <p:spPr>
          <a:xfrm flipV="1">
            <a:off x="1524000" y="6020971"/>
            <a:ext cx="9144000" cy="92619"/>
          </a:xfrm>
          <a:custGeom>
            <a:avLst/>
            <a:gdLst/>
            <a:ahLst/>
            <a:cxnLst/>
            <a:rect l="l" t="t" r="r" b="b"/>
            <a:pathLst>
              <a:path w="9144000">
                <a:moveTo>
                  <a:pt x="9144000" y="0"/>
                </a:moveTo>
                <a:lnTo>
                  <a:pt x="20573" y="0"/>
                </a:lnTo>
              </a:path>
              <a:path w="9144000">
                <a:moveTo>
                  <a:pt x="20573" y="1"/>
                </a:moveTo>
                <a:lnTo>
                  <a:pt x="9144000" y="0"/>
                </a:lnTo>
              </a:path>
            </a:pathLst>
          </a:custGeom>
          <a:ln w="28575">
            <a:solidFill>
              <a:srgbClr val="E6031E"/>
            </a:solidFill>
          </a:ln>
        </p:spPr>
        <p:txBody>
          <a:bodyPr wrap="square" lIns="0" tIns="0" rIns="0" bIns="0" rtlCol="0">
            <a:noAutofit/>
          </a:bodyPr>
          <a:lstStyle/>
          <a:p>
            <a:endParaRPr/>
          </a:p>
        </p:txBody>
      </p:sp>
    </p:spTree>
    <p:extLst>
      <p:ext uri="{BB962C8B-B14F-4D97-AF65-F5344CB8AC3E}">
        <p14:creationId xmlns:p14="http://schemas.microsoft.com/office/powerpoint/2010/main" val="352499446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A9133F-016A-47F4-E3F1-AF9F8F0E3A1F}"/>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E689FAE2-CBBF-0E58-AD43-6394EDA4C859}"/>
              </a:ext>
            </a:extLst>
          </p:cNvPr>
          <p:cNvSpPr>
            <a:spLocks noGrp="1"/>
          </p:cNvSpPr>
          <p:nvPr>
            <p:ph type="ctrTitle"/>
          </p:nvPr>
        </p:nvSpPr>
        <p:spPr>
          <a:xfrm>
            <a:off x="1523999" y="1122363"/>
            <a:ext cx="9144001" cy="2387600"/>
          </a:xfrm>
        </p:spPr>
        <p:txBody>
          <a:bodyPr>
            <a:normAutofit/>
          </a:bodyPr>
          <a:lstStyle/>
          <a:p>
            <a:pPr>
              <a:lnSpc>
                <a:spcPts val="3005"/>
              </a:lnSpc>
              <a:spcBef>
                <a:spcPts val="150"/>
              </a:spcBef>
            </a:pPr>
            <a:r>
              <a:rPr lang="es-CO" sz="3600" spc="0" dirty="0">
                <a:latin typeface="Verdana"/>
                <a:cs typeface="Verdana"/>
              </a:rPr>
              <a:t>Luis Germán Toro Pareja</a:t>
            </a:r>
            <a:br>
              <a:rPr lang="es-CO" sz="3600" dirty="0">
                <a:latin typeface="Verdana"/>
                <a:cs typeface="Verdana"/>
              </a:rPr>
            </a:br>
            <a:r>
              <a:rPr lang="es-CO" sz="2400" spc="0" dirty="0">
                <a:latin typeface="Verdana"/>
                <a:cs typeface="Verdana"/>
              </a:rPr>
              <a:t>Ingeniero de Sistemas</a:t>
            </a:r>
            <a:br>
              <a:rPr lang="es-CO" sz="2400" spc="0" dirty="0">
                <a:latin typeface="Verdana"/>
                <a:cs typeface="Verdana"/>
              </a:rPr>
            </a:br>
            <a:r>
              <a:rPr lang="es-CO" sz="2400" dirty="0">
                <a:latin typeface="Verdana"/>
                <a:cs typeface="Verdana"/>
              </a:rPr>
              <a:t>Magister en Seguridad Informática</a:t>
            </a:r>
            <a:br>
              <a:rPr lang="es-CO" sz="2400" dirty="0">
                <a:latin typeface="Verdana"/>
                <a:cs typeface="Verdana"/>
              </a:rPr>
            </a:br>
            <a:r>
              <a:rPr lang="es-CO" sz="2400" spc="0" dirty="0">
                <a:latin typeface="Verdana"/>
                <a:cs typeface="Verdana"/>
              </a:rPr>
              <a:t>Universidad del</a:t>
            </a:r>
            <a:r>
              <a:rPr lang="es-CO" sz="2400" spc="-29" dirty="0">
                <a:latin typeface="Verdana"/>
                <a:cs typeface="Verdana"/>
              </a:rPr>
              <a:t> </a:t>
            </a:r>
            <a:r>
              <a:rPr lang="es-CO" sz="2400" spc="0" dirty="0">
                <a:latin typeface="Verdana"/>
                <a:cs typeface="Verdana"/>
              </a:rPr>
              <a:t>Valle</a:t>
            </a:r>
            <a:br>
              <a:rPr lang="es-CO" sz="2400" dirty="0">
                <a:latin typeface="Verdana"/>
                <a:cs typeface="Verdana"/>
              </a:rPr>
            </a:br>
            <a:r>
              <a:rPr lang="es-CO" sz="2400" dirty="0">
                <a:latin typeface="Verdana"/>
                <a:cs typeface="Verdana"/>
              </a:rPr>
              <a:t> 	</a:t>
            </a:r>
            <a:endParaRPr lang="es-CO" sz="2400" spc="0" dirty="0">
              <a:latin typeface="Verdana"/>
              <a:cs typeface="Verdana"/>
            </a:endParaRPr>
          </a:p>
        </p:txBody>
      </p:sp>
      <p:sp>
        <p:nvSpPr>
          <p:cNvPr id="3" name="Subtítulo 2">
            <a:extLst>
              <a:ext uri="{FF2B5EF4-FFF2-40B4-BE49-F238E27FC236}">
                <a16:creationId xmlns:a16="http://schemas.microsoft.com/office/drawing/2014/main" id="{F0F96155-A26E-DE7B-3458-71278628F782}"/>
              </a:ext>
            </a:extLst>
          </p:cNvPr>
          <p:cNvSpPr>
            <a:spLocks noGrp="1"/>
          </p:cNvSpPr>
          <p:nvPr>
            <p:ph type="subTitle" idx="1"/>
          </p:nvPr>
        </p:nvSpPr>
        <p:spPr>
          <a:xfrm>
            <a:off x="1523999" y="3602038"/>
            <a:ext cx="9144001" cy="1655762"/>
          </a:xfrm>
        </p:spPr>
        <p:txBody>
          <a:bodyPr/>
          <a:lstStyle/>
          <a:p>
            <a:pPr marL="12700">
              <a:lnSpc>
                <a:spcPts val="2590"/>
              </a:lnSpc>
              <a:spcBef>
                <a:spcPts val="129"/>
              </a:spcBef>
            </a:pPr>
            <a:r>
              <a:rPr lang="es-CO" b="1" u="sng" dirty="0">
                <a:latin typeface="Verdana"/>
                <a:cs typeface="Verdana"/>
              </a:rPr>
              <a:t>luis.german.toro@correounivalle.edu.co</a:t>
            </a:r>
            <a:endParaRPr lang="es-CO" u="sng" dirty="0">
              <a:latin typeface="Verdana"/>
              <a:cs typeface="Verdana"/>
            </a:endParaRPr>
          </a:p>
          <a:p>
            <a:endParaRPr lang="es-CO" u="sng" dirty="0"/>
          </a:p>
          <a:p>
            <a:pPr marL="1620755" marR="1634245">
              <a:lnSpc>
                <a:spcPts val="1760"/>
              </a:lnSpc>
              <a:spcBef>
                <a:spcPts val="88"/>
              </a:spcBef>
            </a:pPr>
            <a:r>
              <a:rPr lang="es-CO" sz="1600" b="1" u="sng" spc="4" dirty="0">
                <a:latin typeface="Verdana"/>
                <a:cs typeface="Verdana"/>
              </a:rPr>
              <a:t>U</a:t>
            </a:r>
            <a:r>
              <a:rPr lang="es-CO" sz="1600" b="1" u="sng" spc="0" dirty="0">
                <a:latin typeface="Verdana"/>
                <a:cs typeface="Verdana"/>
              </a:rPr>
              <a:t>ni</a:t>
            </a:r>
            <a:r>
              <a:rPr lang="es-CO" sz="1600" b="1" u="sng" spc="4" dirty="0">
                <a:latin typeface="Verdana"/>
                <a:cs typeface="Verdana"/>
              </a:rPr>
              <a:t>v</a:t>
            </a:r>
            <a:r>
              <a:rPr lang="es-CO" sz="1600" b="1" u="sng" spc="0" dirty="0">
                <a:latin typeface="Verdana"/>
                <a:cs typeface="Verdana"/>
              </a:rPr>
              <a:t>e</a:t>
            </a:r>
            <a:r>
              <a:rPr lang="es-CO" sz="1600" b="1" u="sng" spc="-4" dirty="0">
                <a:latin typeface="Verdana"/>
                <a:cs typeface="Verdana"/>
              </a:rPr>
              <a:t>rs</a:t>
            </a:r>
            <a:r>
              <a:rPr lang="es-CO" sz="1600" b="1" u="sng" spc="4" dirty="0">
                <a:latin typeface="Verdana"/>
                <a:cs typeface="Verdana"/>
              </a:rPr>
              <a:t>id</a:t>
            </a:r>
            <a:r>
              <a:rPr lang="es-CO" sz="1600" b="1" u="sng" spc="0" dirty="0">
                <a:latin typeface="Verdana"/>
                <a:cs typeface="Verdana"/>
              </a:rPr>
              <a:t>ad</a:t>
            </a:r>
            <a:r>
              <a:rPr lang="es-CO" sz="1600" b="1" u="sng" spc="9" dirty="0">
                <a:latin typeface="Verdana"/>
                <a:cs typeface="Verdana"/>
              </a:rPr>
              <a:t> </a:t>
            </a:r>
            <a:r>
              <a:rPr lang="es-CO" sz="1600" b="1" u="sng" spc="4" dirty="0">
                <a:latin typeface="Verdana"/>
                <a:cs typeface="Verdana"/>
              </a:rPr>
              <a:t>d</a:t>
            </a:r>
            <a:r>
              <a:rPr lang="es-CO" sz="1600" b="1" u="sng" spc="0" dirty="0">
                <a:latin typeface="Verdana"/>
                <a:cs typeface="Verdana"/>
              </a:rPr>
              <a:t>el</a:t>
            </a:r>
            <a:r>
              <a:rPr lang="es-CO" sz="1600" b="1" u="sng" spc="9" dirty="0">
                <a:latin typeface="Verdana"/>
                <a:cs typeface="Verdana"/>
              </a:rPr>
              <a:t> </a:t>
            </a:r>
            <a:r>
              <a:rPr lang="es-CO" sz="1600" b="1" u="sng" spc="4" dirty="0">
                <a:latin typeface="Verdana"/>
                <a:cs typeface="Verdana"/>
              </a:rPr>
              <a:t>Val</a:t>
            </a:r>
            <a:r>
              <a:rPr lang="es-CO" sz="1600" b="1" u="sng" spc="0" dirty="0">
                <a:latin typeface="Verdana"/>
                <a:cs typeface="Verdana"/>
              </a:rPr>
              <a:t>le</a:t>
            </a:r>
            <a:endParaRPr lang="es-CO" sz="1600" u="sng" dirty="0">
              <a:latin typeface="Verdana"/>
              <a:cs typeface="Verdana"/>
            </a:endParaRPr>
          </a:p>
          <a:p>
            <a:pPr>
              <a:lnSpc>
                <a:spcPct val="101277"/>
              </a:lnSpc>
              <a:spcBef>
                <a:spcPts val="282"/>
              </a:spcBef>
            </a:pPr>
            <a:r>
              <a:rPr lang="es-CO" sz="1600" b="1" u="sng" spc="0" dirty="0">
                <a:latin typeface="Verdana"/>
                <a:cs typeface="Verdana"/>
              </a:rPr>
              <a:t>Es</a:t>
            </a:r>
            <a:r>
              <a:rPr lang="es-CO" sz="1600" b="1" u="sng" spc="-9" dirty="0">
                <a:latin typeface="Verdana"/>
                <a:cs typeface="Verdana"/>
              </a:rPr>
              <a:t>c</a:t>
            </a:r>
            <a:r>
              <a:rPr lang="es-CO" sz="1600" b="1" u="sng" spc="0" dirty="0">
                <a:latin typeface="Verdana"/>
                <a:cs typeface="Verdana"/>
              </a:rPr>
              <a:t>uela de Ingeniería de Sist</a:t>
            </a:r>
            <a:r>
              <a:rPr lang="es-CO" sz="1600" b="1" u="sng" spc="-9" dirty="0">
                <a:latin typeface="Verdana"/>
                <a:cs typeface="Verdana"/>
              </a:rPr>
              <a:t>e</a:t>
            </a:r>
            <a:r>
              <a:rPr lang="es-CO" sz="1600" b="1" u="sng" spc="-4" dirty="0">
                <a:latin typeface="Verdana"/>
                <a:cs typeface="Verdana"/>
              </a:rPr>
              <a:t>m</a:t>
            </a:r>
            <a:r>
              <a:rPr lang="es-CO" sz="1600" b="1" u="sng" spc="0" dirty="0">
                <a:latin typeface="Verdana"/>
                <a:cs typeface="Verdana"/>
              </a:rPr>
              <a:t>as y Comp</a:t>
            </a:r>
            <a:r>
              <a:rPr lang="es-CO" sz="1600" b="1" u="sng" spc="-4" dirty="0">
                <a:latin typeface="Verdana"/>
                <a:cs typeface="Verdana"/>
              </a:rPr>
              <a:t>ut</a:t>
            </a:r>
            <a:r>
              <a:rPr lang="es-CO" sz="1600" b="1" u="sng" spc="0" dirty="0">
                <a:latin typeface="Verdana"/>
                <a:cs typeface="Verdana"/>
              </a:rPr>
              <a:t>ación</a:t>
            </a:r>
            <a:endParaRPr lang="es-CO" sz="1600" u="sng" dirty="0">
              <a:latin typeface="Verdana"/>
              <a:cs typeface="Verdana"/>
            </a:endParaRPr>
          </a:p>
          <a:p>
            <a:endParaRPr lang="es-CO" u="sng" dirty="0"/>
          </a:p>
        </p:txBody>
      </p:sp>
      <p:sp>
        <p:nvSpPr>
          <p:cNvPr id="4" name="object 9">
            <a:extLst>
              <a:ext uri="{FF2B5EF4-FFF2-40B4-BE49-F238E27FC236}">
                <a16:creationId xmlns:a16="http://schemas.microsoft.com/office/drawing/2014/main" id="{45FA43C0-FCEF-431E-82C8-F18E5231ADC3}"/>
              </a:ext>
            </a:extLst>
          </p:cNvPr>
          <p:cNvSpPr/>
          <p:nvPr/>
        </p:nvSpPr>
        <p:spPr>
          <a:xfrm>
            <a:off x="1524000" y="473139"/>
            <a:ext cx="9144000" cy="649224"/>
          </a:xfrm>
          <a:custGeom>
            <a:avLst/>
            <a:gdLst/>
            <a:ahLst/>
            <a:cxnLst/>
            <a:rect l="l" t="t" r="r" b="b"/>
            <a:pathLst>
              <a:path w="9144000" h="649224">
                <a:moveTo>
                  <a:pt x="9144000" y="649223"/>
                </a:moveTo>
                <a:lnTo>
                  <a:pt x="9144000" y="0"/>
                </a:lnTo>
                <a:lnTo>
                  <a:pt x="0" y="0"/>
                </a:lnTo>
                <a:lnTo>
                  <a:pt x="0" y="649224"/>
                </a:lnTo>
                <a:lnTo>
                  <a:pt x="9144000" y="649223"/>
                </a:lnTo>
                <a:close/>
              </a:path>
            </a:pathLst>
          </a:custGeom>
          <a:solidFill>
            <a:srgbClr val="E6031E"/>
          </a:solidFill>
        </p:spPr>
        <p:txBody>
          <a:bodyPr wrap="square" lIns="0" tIns="0" rIns="0" bIns="0" rtlCol="0">
            <a:noAutofit/>
          </a:bodyPr>
          <a:lstStyle/>
          <a:p>
            <a:pPr algn="ctr"/>
            <a:r>
              <a:rPr lang="es-CO" sz="2400" b="1" dirty="0">
                <a:solidFill>
                  <a:schemeClr val="bg1"/>
                </a:solidFill>
                <a:latin typeface="Verdana" panose="020B0604030504040204" pitchFamily="34" charset="0"/>
                <a:ea typeface="Verdana" panose="020B0604030504040204" pitchFamily="34" charset="0"/>
                <a:cs typeface="Verdana" panose="020B0604030504040204" pitchFamily="34" charset="0"/>
              </a:rPr>
              <a:t>DOCENTE</a:t>
            </a:r>
            <a:endParaRPr sz="2400" b="1" dirty="0">
              <a:solidFill>
                <a:schemeClr val="bg1"/>
              </a:solidFill>
              <a:latin typeface="Verdana" panose="020B0604030504040204" pitchFamily="34" charset="0"/>
              <a:ea typeface="Verdana" panose="020B0604030504040204" pitchFamily="34" charset="0"/>
              <a:cs typeface="Verdana" panose="020B0604030504040204" pitchFamily="34" charset="0"/>
            </a:endParaRPr>
          </a:p>
        </p:txBody>
      </p:sp>
      <p:sp>
        <p:nvSpPr>
          <p:cNvPr id="6" name="object 12">
            <a:extLst>
              <a:ext uri="{FF2B5EF4-FFF2-40B4-BE49-F238E27FC236}">
                <a16:creationId xmlns:a16="http://schemas.microsoft.com/office/drawing/2014/main" id="{AB966827-31F0-1CA1-ECFB-5DA2C17DA12D}"/>
              </a:ext>
            </a:extLst>
          </p:cNvPr>
          <p:cNvSpPr/>
          <p:nvPr/>
        </p:nvSpPr>
        <p:spPr>
          <a:xfrm>
            <a:off x="10242773" y="6153222"/>
            <a:ext cx="425227" cy="549401"/>
          </a:xfrm>
          <a:prstGeom prst="rect">
            <a:avLst/>
          </a:prstGeom>
          <a:blipFill>
            <a:blip r:embed="rId2" cstate="print"/>
            <a:stretch>
              <a:fillRect/>
            </a:stretch>
          </a:blipFill>
        </p:spPr>
        <p:txBody>
          <a:bodyPr wrap="square" lIns="0" tIns="0" rIns="0" bIns="0" rtlCol="0">
            <a:noAutofit/>
          </a:bodyPr>
          <a:lstStyle/>
          <a:p>
            <a:endParaRPr/>
          </a:p>
        </p:txBody>
      </p:sp>
      <p:sp>
        <p:nvSpPr>
          <p:cNvPr id="7" name="object 11">
            <a:extLst>
              <a:ext uri="{FF2B5EF4-FFF2-40B4-BE49-F238E27FC236}">
                <a16:creationId xmlns:a16="http://schemas.microsoft.com/office/drawing/2014/main" id="{8F38A069-6E96-972B-D6B1-85560D97F4A3}"/>
              </a:ext>
            </a:extLst>
          </p:cNvPr>
          <p:cNvSpPr/>
          <p:nvPr/>
        </p:nvSpPr>
        <p:spPr>
          <a:xfrm flipV="1">
            <a:off x="1524000" y="6020971"/>
            <a:ext cx="9144000" cy="92619"/>
          </a:xfrm>
          <a:custGeom>
            <a:avLst/>
            <a:gdLst/>
            <a:ahLst/>
            <a:cxnLst/>
            <a:rect l="l" t="t" r="r" b="b"/>
            <a:pathLst>
              <a:path w="9144000">
                <a:moveTo>
                  <a:pt x="9144000" y="0"/>
                </a:moveTo>
                <a:lnTo>
                  <a:pt x="20573" y="0"/>
                </a:lnTo>
              </a:path>
              <a:path w="9144000">
                <a:moveTo>
                  <a:pt x="20573" y="1"/>
                </a:moveTo>
                <a:lnTo>
                  <a:pt x="9144000" y="0"/>
                </a:lnTo>
              </a:path>
            </a:pathLst>
          </a:custGeom>
          <a:ln w="28575">
            <a:solidFill>
              <a:srgbClr val="E6031E"/>
            </a:solidFill>
          </a:ln>
        </p:spPr>
        <p:txBody>
          <a:bodyPr wrap="square" lIns="0" tIns="0" rIns="0" bIns="0" rtlCol="0">
            <a:noAutofit/>
          </a:bodyPr>
          <a:lstStyle/>
          <a:p>
            <a:endParaRPr/>
          </a:p>
        </p:txBody>
      </p:sp>
    </p:spTree>
    <p:extLst>
      <p:ext uri="{BB962C8B-B14F-4D97-AF65-F5344CB8AC3E}">
        <p14:creationId xmlns:p14="http://schemas.microsoft.com/office/powerpoint/2010/main" val="311348250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ctrTitle"/>
          </p:nvPr>
        </p:nvSpPr>
        <p:spPr>
          <a:xfrm>
            <a:off x="1523999" y="1122363"/>
            <a:ext cx="9247601" cy="2387600"/>
          </a:xfrm>
        </p:spPr>
        <p:txBody>
          <a:bodyPr>
            <a:normAutofit/>
          </a:bodyPr>
          <a:lstStyle/>
          <a:p>
            <a:r>
              <a:rPr lang="es-CO" sz="2400" b="1" dirty="0">
                <a:latin typeface="Verdana" panose="020B0604030504040204" pitchFamily="34" charset="0"/>
                <a:ea typeface="Verdana" panose="020B0604030504040204" pitchFamily="34" charset="0"/>
                <a:cs typeface="Verdana" panose="020B0604030504040204" pitchFamily="34" charset="0"/>
              </a:rPr>
              <a:t>Clase No. 1</a:t>
            </a:r>
          </a:p>
        </p:txBody>
      </p:sp>
      <p:sp>
        <p:nvSpPr>
          <p:cNvPr id="3" name="Subtítulo 2"/>
          <p:cNvSpPr>
            <a:spLocks noGrp="1"/>
          </p:cNvSpPr>
          <p:nvPr>
            <p:ph type="subTitle" idx="1"/>
          </p:nvPr>
        </p:nvSpPr>
        <p:spPr/>
        <p:txBody>
          <a:bodyPr/>
          <a:lstStyle/>
          <a:p>
            <a:r>
              <a:rPr lang="es-CO" b="1" dirty="0">
                <a:latin typeface="Verdana" panose="020B0604030504040204" pitchFamily="34" charset="0"/>
                <a:ea typeface="Verdana" panose="020B0604030504040204" pitchFamily="34" charset="0"/>
                <a:cs typeface="Verdana" panose="020B0604030504040204" pitchFamily="34" charset="0"/>
              </a:rPr>
              <a:t>INTRODUCCIÓN A LA COMBINATORIA</a:t>
            </a:r>
          </a:p>
          <a:p>
            <a:endParaRPr lang="es-CO" dirty="0"/>
          </a:p>
          <a:p>
            <a:pPr marL="1620755" marR="1634245">
              <a:lnSpc>
                <a:spcPts val="1760"/>
              </a:lnSpc>
              <a:spcBef>
                <a:spcPts val="88"/>
              </a:spcBef>
            </a:pPr>
            <a:r>
              <a:rPr lang="es-CO" sz="1600" b="1" spc="4" dirty="0">
                <a:latin typeface="Verdana"/>
                <a:cs typeface="Verdana"/>
              </a:rPr>
              <a:t>U</a:t>
            </a:r>
            <a:r>
              <a:rPr lang="es-CO" sz="1600" b="1" spc="0" dirty="0">
                <a:latin typeface="Verdana"/>
                <a:cs typeface="Verdana"/>
              </a:rPr>
              <a:t>ni</a:t>
            </a:r>
            <a:r>
              <a:rPr lang="es-CO" sz="1600" b="1" spc="4" dirty="0">
                <a:latin typeface="Verdana"/>
                <a:cs typeface="Verdana"/>
              </a:rPr>
              <a:t>v</a:t>
            </a:r>
            <a:r>
              <a:rPr lang="es-CO" sz="1600" b="1" spc="0" dirty="0">
                <a:latin typeface="Verdana"/>
                <a:cs typeface="Verdana"/>
              </a:rPr>
              <a:t>e</a:t>
            </a:r>
            <a:r>
              <a:rPr lang="es-CO" sz="1600" b="1" spc="-4" dirty="0">
                <a:latin typeface="Verdana"/>
                <a:cs typeface="Verdana"/>
              </a:rPr>
              <a:t>rs</a:t>
            </a:r>
            <a:r>
              <a:rPr lang="es-CO" sz="1600" b="1" spc="4" dirty="0">
                <a:latin typeface="Verdana"/>
                <a:cs typeface="Verdana"/>
              </a:rPr>
              <a:t>id</a:t>
            </a:r>
            <a:r>
              <a:rPr lang="es-CO" sz="1600" b="1" spc="0" dirty="0">
                <a:latin typeface="Verdana"/>
                <a:cs typeface="Verdana"/>
              </a:rPr>
              <a:t>ad</a:t>
            </a:r>
            <a:r>
              <a:rPr lang="es-CO" sz="1600" b="1" spc="9" dirty="0">
                <a:latin typeface="Verdana"/>
                <a:cs typeface="Verdana"/>
              </a:rPr>
              <a:t> </a:t>
            </a:r>
            <a:r>
              <a:rPr lang="es-CO" sz="1600" b="1" spc="4" dirty="0">
                <a:latin typeface="Verdana"/>
                <a:cs typeface="Verdana"/>
              </a:rPr>
              <a:t>d</a:t>
            </a:r>
            <a:r>
              <a:rPr lang="es-CO" sz="1600" b="1" spc="0" dirty="0">
                <a:latin typeface="Verdana"/>
                <a:cs typeface="Verdana"/>
              </a:rPr>
              <a:t>el</a:t>
            </a:r>
            <a:r>
              <a:rPr lang="es-CO" sz="1600" b="1" spc="9" dirty="0">
                <a:latin typeface="Verdana"/>
                <a:cs typeface="Verdana"/>
              </a:rPr>
              <a:t> </a:t>
            </a:r>
            <a:r>
              <a:rPr lang="es-CO" sz="1600" b="1" spc="4" dirty="0">
                <a:latin typeface="Verdana"/>
                <a:cs typeface="Verdana"/>
              </a:rPr>
              <a:t>Val</a:t>
            </a:r>
            <a:r>
              <a:rPr lang="es-CO" sz="1600" b="1" spc="0" dirty="0">
                <a:latin typeface="Verdana"/>
                <a:cs typeface="Verdana"/>
              </a:rPr>
              <a:t>le</a:t>
            </a:r>
            <a:endParaRPr lang="es-CO" sz="1600" dirty="0">
              <a:latin typeface="Verdana"/>
              <a:cs typeface="Verdana"/>
            </a:endParaRPr>
          </a:p>
          <a:p>
            <a:pPr>
              <a:lnSpc>
                <a:spcPct val="101277"/>
              </a:lnSpc>
              <a:spcBef>
                <a:spcPts val="282"/>
              </a:spcBef>
            </a:pPr>
            <a:r>
              <a:rPr lang="es-CO" sz="1600" b="1" spc="0" dirty="0">
                <a:latin typeface="Verdana"/>
                <a:cs typeface="Verdana"/>
              </a:rPr>
              <a:t>Es</a:t>
            </a:r>
            <a:r>
              <a:rPr lang="es-CO" sz="1600" b="1" spc="-9" dirty="0">
                <a:latin typeface="Verdana"/>
                <a:cs typeface="Verdana"/>
              </a:rPr>
              <a:t>c</a:t>
            </a:r>
            <a:r>
              <a:rPr lang="es-CO" sz="1600" b="1" spc="0" dirty="0">
                <a:latin typeface="Verdana"/>
                <a:cs typeface="Verdana"/>
              </a:rPr>
              <a:t>uela de Ingeniería de Sist</a:t>
            </a:r>
            <a:r>
              <a:rPr lang="es-CO" sz="1600" b="1" spc="-9" dirty="0">
                <a:latin typeface="Verdana"/>
                <a:cs typeface="Verdana"/>
              </a:rPr>
              <a:t>e</a:t>
            </a:r>
            <a:r>
              <a:rPr lang="es-CO" sz="1600" b="1" spc="-4" dirty="0">
                <a:latin typeface="Verdana"/>
                <a:cs typeface="Verdana"/>
              </a:rPr>
              <a:t>m</a:t>
            </a:r>
            <a:r>
              <a:rPr lang="es-CO" sz="1600" b="1" spc="0" dirty="0">
                <a:latin typeface="Verdana"/>
                <a:cs typeface="Verdana"/>
              </a:rPr>
              <a:t>as y Comp</a:t>
            </a:r>
            <a:r>
              <a:rPr lang="es-CO" sz="1600" b="1" spc="-4" dirty="0">
                <a:latin typeface="Verdana"/>
                <a:cs typeface="Verdana"/>
              </a:rPr>
              <a:t>ut</a:t>
            </a:r>
            <a:r>
              <a:rPr lang="es-CO" sz="1600" b="1" spc="0" dirty="0">
                <a:latin typeface="Verdana"/>
                <a:cs typeface="Verdana"/>
              </a:rPr>
              <a:t>ación</a:t>
            </a:r>
            <a:endParaRPr lang="es-CO" sz="1600" dirty="0">
              <a:latin typeface="Verdana"/>
              <a:cs typeface="Verdana"/>
            </a:endParaRPr>
          </a:p>
          <a:p>
            <a:endParaRPr lang="es-CO" dirty="0"/>
          </a:p>
        </p:txBody>
      </p:sp>
      <p:sp>
        <p:nvSpPr>
          <p:cNvPr id="4" name="object 9"/>
          <p:cNvSpPr/>
          <p:nvPr/>
        </p:nvSpPr>
        <p:spPr>
          <a:xfrm>
            <a:off x="1523999" y="473138"/>
            <a:ext cx="9247601" cy="772565"/>
          </a:xfrm>
          <a:custGeom>
            <a:avLst/>
            <a:gdLst/>
            <a:ahLst/>
            <a:cxnLst/>
            <a:rect l="l" t="t" r="r" b="b"/>
            <a:pathLst>
              <a:path w="9144000" h="649224">
                <a:moveTo>
                  <a:pt x="9144000" y="649223"/>
                </a:moveTo>
                <a:lnTo>
                  <a:pt x="9144000" y="0"/>
                </a:lnTo>
                <a:lnTo>
                  <a:pt x="0" y="0"/>
                </a:lnTo>
                <a:lnTo>
                  <a:pt x="0" y="649224"/>
                </a:lnTo>
                <a:lnTo>
                  <a:pt x="9144000" y="649223"/>
                </a:lnTo>
                <a:close/>
              </a:path>
            </a:pathLst>
          </a:custGeom>
          <a:solidFill>
            <a:srgbClr val="E6031E"/>
          </a:solidFill>
        </p:spPr>
        <p:txBody>
          <a:bodyPr wrap="square" lIns="0" tIns="0" rIns="0" bIns="0" rtlCol="0">
            <a:noAutofit/>
          </a:bodyPr>
          <a:lstStyle/>
          <a:p>
            <a:pPr algn="ctr"/>
            <a:r>
              <a:rPr lang="es-CO" sz="2800" b="1" dirty="0">
                <a:solidFill>
                  <a:schemeClr val="bg1"/>
                </a:solidFill>
                <a:latin typeface="Verdana" panose="020B0604030504040204" pitchFamily="34" charset="0"/>
                <a:ea typeface="Verdana" panose="020B0604030504040204" pitchFamily="34" charset="0"/>
                <a:cs typeface="Verdana" panose="020B0604030504040204" pitchFamily="34" charset="0"/>
              </a:rPr>
              <a:t>MATEMÁTICAS DISCRETAS II</a:t>
            </a:r>
            <a:endParaRPr sz="2800" b="1" dirty="0">
              <a:solidFill>
                <a:schemeClr val="bg1"/>
              </a:solidFill>
              <a:latin typeface="Verdana" panose="020B0604030504040204" pitchFamily="34" charset="0"/>
              <a:ea typeface="Verdana" panose="020B0604030504040204" pitchFamily="34" charset="0"/>
              <a:cs typeface="Verdana" panose="020B0604030504040204" pitchFamily="34" charset="0"/>
            </a:endParaRPr>
          </a:p>
        </p:txBody>
      </p:sp>
      <p:sp>
        <p:nvSpPr>
          <p:cNvPr id="6" name="object 12"/>
          <p:cNvSpPr/>
          <p:nvPr/>
        </p:nvSpPr>
        <p:spPr>
          <a:xfrm>
            <a:off x="10242773" y="6153222"/>
            <a:ext cx="425227" cy="549401"/>
          </a:xfrm>
          <a:prstGeom prst="rect">
            <a:avLst/>
          </a:prstGeom>
          <a:blipFill>
            <a:blip r:embed="rId2" cstate="print"/>
            <a:stretch>
              <a:fillRect/>
            </a:stretch>
          </a:blipFill>
        </p:spPr>
        <p:txBody>
          <a:bodyPr wrap="square" lIns="0" tIns="0" rIns="0" bIns="0" rtlCol="0">
            <a:noAutofit/>
          </a:bodyPr>
          <a:lstStyle/>
          <a:p>
            <a:endParaRPr/>
          </a:p>
        </p:txBody>
      </p:sp>
      <p:sp>
        <p:nvSpPr>
          <p:cNvPr id="7" name="object 11">
            <a:extLst>
              <a:ext uri="{FF2B5EF4-FFF2-40B4-BE49-F238E27FC236}">
                <a16:creationId xmlns:a16="http://schemas.microsoft.com/office/drawing/2014/main" id="{71792BF6-671C-3803-7EE8-47BDEC847CB8}"/>
              </a:ext>
            </a:extLst>
          </p:cNvPr>
          <p:cNvSpPr/>
          <p:nvPr/>
        </p:nvSpPr>
        <p:spPr>
          <a:xfrm>
            <a:off x="1524000" y="6113590"/>
            <a:ext cx="9144000" cy="45719"/>
          </a:xfrm>
          <a:custGeom>
            <a:avLst/>
            <a:gdLst/>
            <a:ahLst/>
            <a:cxnLst/>
            <a:rect l="l" t="t" r="r" b="b"/>
            <a:pathLst>
              <a:path w="9144000">
                <a:moveTo>
                  <a:pt x="9144000" y="0"/>
                </a:moveTo>
                <a:lnTo>
                  <a:pt x="20573" y="0"/>
                </a:lnTo>
              </a:path>
              <a:path w="9144000">
                <a:moveTo>
                  <a:pt x="20573" y="1"/>
                </a:moveTo>
                <a:lnTo>
                  <a:pt x="9144000" y="0"/>
                </a:lnTo>
              </a:path>
            </a:pathLst>
          </a:custGeom>
          <a:ln w="28575">
            <a:solidFill>
              <a:srgbClr val="E6031E"/>
            </a:solidFill>
          </a:ln>
        </p:spPr>
        <p:txBody>
          <a:bodyPr wrap="square" lIns="0" tIns="0" rIns="0" bIns="0" rtlCol="0">
            <a:noAutofit/>
          </a:bodyPr>
          <a:lstStyle/>
          <a:p>
            <a:endParaRPr/>
          </a:p>
        </p:txBody>
      </p:sp>
    </p:spTree>
    <p:extLst>
      <p:ext uri="{BB962C8B-B14F-4D97-AF65-F5344CB8AC3E}">
        <p14:creationId xmlns:p14="http://schemas.microsoft.com/office/powerpoint/2010/main" val="267515988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9"/>
          <p:cNvSpPr/>
          <p:nvPr/>
        </p:nvSpPr>
        <p:spPr>
          <a:xfrm>
            <a:off x="1524000" y="473139"/>
            <a:ext cx="9144000" cy="649224"/>
          </a:xfrm>
          <a:custGeom>
            <a:avLst/>
            <a:gdLst/>
            <a:ahLst/>
            <a:cxnLst/>
            <a:rect l="l" t="t" r="r" b="b"/>
            <a:pathLst>
              <a:path w="9144000" h="649224">
                <a:moveTo>
                  <a:pt x="9144000" y="649223"/>
                </a:moveTo>
                <a:lnTo>
                  <a:pt x="9144000" y="0"/>
                </a:lnTo>
                <a:lnTo>
                  <a:pt x="0" y="0"/>
                </a:lnTo>
                <a:lnTo>
                  <a:pt x="0" y="649224"/>
                </a:lnTo>
                <a:lnTo>
                  <a:pt x="9144000" y="649223"/>
                </a:lnTo>
                <a:close/>
              </a:path>
            </a:pathLst>
          </a:custGeom>
          <a:solidFill>
            <a:srgbClr val="E6031E"/>
          </a:solidFill>
        </p:spPr>
        <p:txBody>
          <a:bodyPr wrap="square" lIns="0" tIns="0" rIns="0" bIns="0" rtlCol="0">
            <a:noAutofit/>
          </a:bodyPr>
          <a:lstStyle/>
          <a:p>
            <a:pPr algn="ctr"/>
            <a:r>
              <a:rPr lang="es-MX" sz="2400" b="1" dirty="0">
                <a:solidFill>
                  <a:schemeClr val="bg1"/>
                </a:solidFill>
                <a:latin typeface="Verdana" panose="020B0604030504040204" pitchFamily="34" charset="0"/>
                <a:ea typeface="Verdana" panose="020B0604030504040204" pitchFamily="34" charset="0"/>
                <a:cs typeface="Verdana" panose="020B0604030504040204" pitchFamily="34" charset="0"/>
              </a:rPr>
              <a:t>CONTENIDO</a:t>
            </a:r>
            <a:endParaRPr sz="2400" b="1" dirty="0">
              <a:solidFill>
                <a:schemeClr val="bg1"/>
              </a:solidFill>
              <a:latin typeface="Verdana" panose="020B0604030504040204" pitchFamily="34" charset="0"/>
              <a:ea typeface="Verdana" panose="020B0604030504040204" pitchFamily="34" charset="0"/>
              <a:cs typeface="Verdana" panose="020B0604030504040204" pitchFamily="34" charset="0"/>
            </a:endParaRPr>
          </a:p>
        </p:txBody>
      </p:sp>
      <p:sp>
        <p:nvSpPr>
          <p:cNvPr id="6" name="object 12"/>
          <p:cNvSpPr/>
          <p:nvPr/>
        </p:nvSpPr>
        <p:spPr>
          <a:xfrm>
            <a:off x="10242773" y="6153222"/>
            <a:ext cx="425227" cy="549401"/>
          </a:xfrm>
          <a:prstGeom prst="rect">
            <a:avLst/>
          </a:prstGeom>
          <a:blipFill>
            <a:blip r:embed="rId2" cstate="print"/>
            <a:stretch>
              <a:fillRect/>
            </a:stretch>
          </a:blipFill>
        </p:spPr>
        <p:txBody>
          <a:bodyPr wrap="square" lIns="0" tIns="0" rIns="0" bIns="0" rtlCol="0">
            <a:noAutofit/>
          </a:bodyPr>
          <a:lstStyle/>
          <a:p>
            <a:endParaRPr/>
          </a:p>
        </p:txBody>
      </p:sp>
      <p:sp>
        <p:nvSpPr>
          <p:cNvPr id="3" name="object 11">
            <a:extLst>
              <a:ext uri="{FF2B5EF4-FFF2-40B4-BE49-F238E27FC236}">
                <a16:creationId xmlns:a16="http://schemas.microsoft.com/office/drawing/2014/main" id="{46DBE57D-BC43-4A76-836D-DA3ECB0D8800}"/>
              </a:ext>
            </a:extLst>
          </p:cNvPr>
          <p:cNvSpPr/>
          <p:nvPr/>
        </p:nvSpPr>
        <p:spPr>
          <a:xfrm flipV="1">
            <a:off x="1524000" y="6049107"/>
            <a:ext cx="9144000" cy="64484"/>
          </a:xfrm>
          <a:custGeom>
            <a:avLst/>
            <a:gdLst/>
            <a:ahLst/>
            <a:cxnLst/>
            <a:rect l="l" t="t" r="r" b="b"/>
            <a:pathLst>
              <a:path w="9144000">
                <a:moveTo>
                  <a:pt x="9144000" y="0"/>
                </a:moveTo>
                <a:lnTo>
                  <a:pt x="20573" y="0"/>
                </a:lnTo>
              </a:path>
              <a:path w="9144000">
                <a:moveTo>
                  <a:pt x="20573" y="1"/>
                </a:moveTo>
                <a:lnTo>
                  <a:pt x="9144000" y="0"/>
                </a:lnTo>
              </a:path>
            </a:pathLst>
          </a:custGeom>
          <a:ln w="28575">
            <a:solidFill>
              <a:srgbClr val="E6031E"/>
            </a:solidFill>
          </a:ln>
        </p:spPr>
        <p:txBody>
          <a:bodyPr wrap="square" lIns="0" tIns="0" rIns="0" bIns="0" rtlCol="0">
            <a:noAutofit/>
          </a:bodyPr>
          <a:lstStyle/>
          <a:p>
            <a:endParaRPr/>
          </a:p>
        </p:txBody>
      </p:sp>
      <p:sp>
        <p:nvSpPr>
          <p:cNvPr id="5" name="Título 4">
            <a:extLst>
              <a:ext uri="{FF2B5EF4-FFF2-40B4-BE49-F238E27FC236}">
                <a16:creationId xmlns:a16="http://schemas.microsoft.com/office/drawing/2014/main" id="{CAF3C55F-E543-2B66-452B-76A88C015EB2}"/>
              </a:ext>
            </a:extLst>
          </p:cNvPr>
          <p:cNvSpPr>
            <a:spLocks noGrp="1"/>
          </p:cNvSpPr>
          <p:nvPr>
            <p:ph type="title"/>
          </p:nvPr>
        </p:nvSpPr>
        <p:spPr/>
        <p:txBody>
          <a:bodyPr/>
          <a:lstStyle/>
          <a:p>
            <a:endParaRPr lang="es-CO"/>
          </a:p>
        </p:txBody>
      </p:sp>
      <p:sp>
        <p:nvSpPr>
          <p:cNvPr id="7" name="Marcador de contenido 6">
            <a:extLst>
              <a:ext uri="{FF2B5EF4-FFF2-40B4-BE49-F238E27FC236}">
                <a16:creationId xmlns:a16="http://schemas.microsoft.com/office/drawing/2014/main" id="{99DDB6B1-0D31-69E8-7708-D64A9E3BADC7}"/>
              </a:ext>
            </a:extLst>
          </p:cNvPr>
          <p:cNvSpPr>
            <a:spLocks noGrp="1"/>
          </p:cNvSpPr>
          <p:nvPr>
            <p:ph idx="1"/>
          </p:nvPr>
        </p:nvSpPr>
        <p:spPr/>
        <p:txBody>
          <a:bodyPr/>
          <a:lstStyle/>
          <a:p>
            <a:endParaRPr lang="es-MX" dirty="0"/>
          </a:p>
          <a:p>
            <a:r>
              <a:rPr lang="es-MX" dirty="0"/>
              <a:t>Introducción </a:t>
            </a:r>
          </a:p>
          <a:p>
            <a:r>
              <a:rPr lang="es-MX" dirty="0"/>
              <a:t>Regla de la suma</a:t>
            </a:r>
          </a:p>
          <a:p>
            <a:r>
              <a:rPr lang="es-MX" dirty="0"/>
              <a:t>Regla del producto</a:t>
            </a:r>
          </a:p>
          <a:p>
            <a:r>
              <a:rPr lang="es-MX" dirty="0"/>
              <a:t>Problemas de recuento  más complicados </a:t>
            </a:r>
          </a:p>
          <a:p>
            <a:r>
              <a:rPr lang="es-MX" dirty="0"/>
              <a:t>El principio de inclusión-exclusión</a:t>
            </a:r>
          </a:p>
          <a:p>
            <a:r>
              <a:rPr lang="es-MX" dirty="0"/>
              <a:t>Diagrama en Árbol</a:t>
            </a:r>
          </a:p>
          <a:p>
            <a:r>
              <a:rPr lang="es-MX" dirty="0"/>
              <a:t>Ejemplos </a:t>
            </a:r>
            <a:endParaRPr lang="es-CO" dirty="0"/>
          </a:p>
        </p:txBody>
      </p:sp>
    </p:spTree>
    <p:extLst>
      <p:ext uri="{BB962C8B-B14F-4D97-AF65-F5344CB8AC3E}">
        <p14:creationId xmlns:p14="http://schemas.microsoft.com/office/powerpoint/2010/main" val="5476490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7">
                                            <p:txEl>
                                              <p:pRg st="1" end="1"/>
                                            </p:txEl>
                                          </p:spTgt>
                                        </p:tgtEl>
                                        <p:attrNameLst>
                                          <p:attrName>style.visibility</p:attrName>
                                        </p:attrNameLst>
                                      </p:cBhvr>
                                      <p:to>
                                        <p:strVal val="visible"/>
                                      </p:to>
                                    </p:set>
                                    <p:animEffect transition="in" filter="wipe(down)">
                                      <p:cBhvr>
                                        <p:cTn id="7" dur="500"/>
                                        <p:tgtEl>
                                          <p:spTgt spid="7">
                                            <p:txEl>
                                              <p:pRg st="1" end="1"/>
                                            </p:txEl>
                                          </p:spTgt>
                                        </p:tgtEl>
                                      </p:cBhvr>
                                    </p:animEffect>
                                  </p:childTnLst>
                                </p:cTn>
                              </p:par>
                              <p:par>
                                <p:cTn id="8" presetID="22" presetClass="entr" presetSubtype="4" fill="hold" nodeType="withEffect">
                                  <p:stCondLst>
                                    <p:cond delay="0"/>
                                  </p:stCondLst>
                                  <p:childTnLst>
                                    <p:set>
                                      <p:cBhvr>
                                        <p:cTn id="9" dur="1" fill="hold">
                                          <p:stCondLst>
                                            <p:cond delay="0"/>
                                          </p:stCondLst>
                                        </p:cTn>
                                        <p:tgtEl>
                                          <p:spTgt spid="7">
                                            <p:txEl>
                                              <p:pRg st="2" end="2"/>
                                            </p:txEl>
                                          </p:spTgt>
                                        </p:tgtEl>
                                        <p:attrNameLst>
                                          <p:attrName>style.visibility</p:attrName>
                                        </p:attrNameLst>
                                      </p:cBhvr>
                                      <p:to>
                                        <p:strVal val="visible"/>
                                      </p:to>
                                    </p:set>
                                    <p:animEffect transition="in" filter="wipe(down)">
                                      <p:cBhvr>
                                        <p:cTn id="10" dur="500"/>
                                        <p:tgtEl>
                                          <p:spTgt spid="7">
                                            <p:txEl>
                                              <p:pRg st="2" end="2"/>
                                            </p:txEl>
                                          </p:spTgt>
                                        </p:tgtEl>
                                      </p:cBhvr>
                                    </p:animEffect>
                                  </p:childTnLst>
                                </p:cTn>
                              </p:par>
                              <p:par>
                                <p:cTn id="11" presetID="22" presetClass="entr" presetSubtype="4" fill="hold" nodeType="withEffect">
                                  <p:stCondLst>
                                    <p:cond delay="0"/>
                                  </p:stCondLst>
                                  <p:childTnLst>
                                    <p:set>
                                      <p:cBhvr>
                                        <p:cTn id="12" dur="1" fill="hold">
                                          <p:stCondLst>
                                            <p:cond delay="0"/>
                                          </p:stCondLst>
                                        </p:cTn>
                                        <p:tgtEl>
                                          <p:spTgt spid="7">
                                            <p:txEl>
                                              <p:pRg st="3" end="3"/>
                                            </p:txEl>
                                          </p:spTgt>
                                        </p:tgtEl>
                                        <p:attrNameLst>
                                          <p:attrName>style.visibility</p:attrName>
                                        </p:attrNameLst>
                                      </p:cBhvr>
                                      <p:to>
                                        <p:strVal val="visible"/>
                                      </p:to>
                                    </p:set>
                                    <p:animEffect transition="in" filter="wipe(down)">
                                      <p:cBhvr>
                                        <p:cTn id="13" dur="500"/>
                                        <p:tgtEl>
                                          <p:spTgt spid="7">
                                            <p:txEl>
                                              <p:pRg st="3" end="3"/>
                                            </p:txEl>
                                          </p:spTgt>
                                        </p:tgtEl>
                                      </p:cBhvr>
                                    </p:animEffect>
                                  </p:childTnLst>
                                </p:cTn>
                              </p:par>
                              <p:par>
                                <p:cTn id="14" presetID="22" presetClass="entr" presetSubtype="4" fill="hold" nodeType="withEffect">
                                  <p:stCondLst>
                                    <p:cond delay="0"/>
                                  </p:stCondLst>
                                  <p:childTnLst>
                                    <p:set>
                                      <p:cBhvr>
                                        <p:cTn id="15" dur="1" fill="hold">
                                          <p:stCondLst>
                                            <p:cond delay="0"/>
                                          </p:stCondLst>
                                        </p:cTn>
                                        <p:tgtEl>
                                          <p:spTgt spid="7">
                                            <p:txEl>
                                              <p:pRg st="4" end="4"/>
                                            </p:txEl>
                                          </p:spTgt>
                                        </p:tgtEl>
                                        <p:attrNameLst>
                                          <p:attrName>style.visibility</p:attrName>
                                        </p:attrNameLst>
                                      </p:cBhvr>
                                      <p:to>
                                        <p:strVal val="visible"/>
                                      </p:to>
                                    </p:set>
                                    <p:animEffect transition="in" filter="wipe(down)">
                                      <p:cBhvr>
                                        <p:cTn id="16" dur="500"/>
                                        <p:tgtEl>
                                          <p:spTgt spid="7">
                                            <p:txEl>
                                              <p:pRg st="4" end="4"/>
                                            </p:txEl>
                                          </p:spTgt>
                                        </p:tgtEl>
                                      </p:cBhvr>
                                    </p:animEffect>
                                  </p:childTnLst>
                                </p:cTn>
                              </p:par>
                              <p:par>
                                <p:cTn id="17" presetID="22" presetClass="entr" presetSubtype="4" fill="hold" nodeType="withEffect">
                                  <p:stCondLst>
                                    <p:cond delay="0"/>
                                  </p:stCondLst>
                                  <p:childTnLst>
                                    <p:set>
                                      <p:cBhvr>
                                        <p:cTn id="18" dur="1" fill="hold">
                                          <p:stCondLst>
                                            <p:cond delay="0"/>
                                          </p:stCondLst>
                                        </p:cTn>
                                        <p:tgtEl>
                                          <p:spTgt spid="7">
                                            <p:txEl>
                                              <p:pRg st="5" end="5"/>
                                            </p:txEl>
                                          </p:spTgt>
                                        </p:tgtEl>
                                        <p:attrNameLst>
                                          <p:attrName>style.visibility</p:attrName>
                                        </p:attrNameLst>
                                      </p:cBhvr>
                                      <p:to>
                                        <p:strVal val="visible"/>
                                      </p:to>
                                    </p:set>
                                    <p:animEffect transition="in" filter="wipe(down)">
                                      <p:cBhvr>
                                        <p:cTn id="19" dur="500"/>
                                        <p:tgtEl>
                                          <p:spTgt spid="7">
                                            <p:txEl>
                                              <p:pRg st="5" end="5"/>
                                            </p:txEl>
                                          </p:spTgt>
                                        </p:tgtEl>
                                      </p:cBhvr>
                                    </p:animEffect>
                                  </p:childTnLst>
                                </p:cTn>
                              </p:par>
                              <p:par>
                                <p:cTn id="20" presetID="22" presetClass="entr" presetSubtype="4" fill="hold" nodeType="withEffect">
                                  <p:stCondLst>
                                    <p:cond delay="0"/>
                                  </p:stCondLst>
                                  <p:childTnLst>
                                    <p:set>
                                      <p:cBhvr>
                                        <p:cTn id="21" dur="1" fill="hold">
                                          <p:stCondLst>
                                            <p:cond delay="0"/>
                                          </p:stCondLst>
                                        </p:cTn>
                                        <p:tgtEl>
                                          <p:spTgt spid="7">
                                            <p:txEl>
                                              <p:pRg st="6" end="6"/>
                                            </p:txEl>
                                          </p:spTgt>
                                        </p:tgtEl>
                                        <p:attrNameLst>
                                          <p:attrName>style.visibility</p:attrName>
                                        </p:attrNameLst>
                                      </p:cBhvr>
                                      <p:to>
                                        <p:strVal val="visible"/>
                                      </p:to>
                                    </p:set>
                                    <p:animEffect transition="in" filter="wipe(down)">
                                      <p:cBhvr>
                                        <p:cTn id="22" dur="500"/>
                                        <p:tgtEl>
                                          <p:spTgt spid="7">
                                            <p:txEl>
                                              <p:pRg st="6" end="6"/>
                                            </p:txEl>
                                          </p:spTgt>
                                        </p:tgtEl>
                                      </p:cBhvr>
                                    </p:animEffect>
                                  </p:childTnLst>
                                </p:cTn>
                              </p:par>
                              <p:par>
                                <p:cTn id="23" presetID="22" presetClass="entr" presetSubtype="4" fill="hold" nodeType="withEffect">
                                  <p:stCondLst>
                                    <p:cond delay="0"/>
                                  </p:stCondLst>
                                  <p:childTnLst>
                                    <p:set>
                                      <p:cBhvr>
                                        <p:cTn id="24" dur="1" fill="hold">
                                          <p:stCondLst>
                                            <p:cond delay="0"/>
                                          </p:stCondLst>
                                        </p:cTn>
                                        <p:tgtEl>
                                          <p:spTgt spid="7">
                                            <p:txEl>
                                              <p:pRg st="7" end="7"/>
                                            </p:txEl>
                                          </p:spTgt>
                                        </p:tgtEl>
                                        <p:attrNameLst>
                                          <p:attrName>style.visibility</p:attrName>
                                        </p:attrNameLst>
                                      </p:cBhvr>
                                      <p:to>
                                        <p:strVal val="visible"/>
                                      </p:to>
                                    </p:set>
                                    <p:animEffect transition="in" filter="wipe(down)">
                                      <p:cBhvr>
                                        <p:cTn id="25" dur="500"/>
                                        <p:tgtEl>
                                          <p:spTgt spid="7">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9"/>
          <p:cNvSpPr/>
          <p:nvPr/>
        </p:nvSpPr>
        <p:spPr>
          <a:xfrm>
            <a:off x="1524000" y="473139"/>
            <a:ext cx="9144000" cy="649224"/>
          </a:xfrm>
          <a:custGeom>
            <a:avLst/>
            <a:gdLst/>
            <a:ahLst/>
            <a:cxnLst/>
            <a:rect l="l" t="t" r="r" b="b"/>
            <a:pathLst>
              <a:path w="9144000" h="649224">
                <a:moveTo>
                  <a:pt x="9144000" y="649223"/>
                </a:moveTo>
                <a:lnTo>
                  <a:pt x="9144000" y="0"/>
                </a:lnTo>
                <a:lnTo>
                  <a:pt x="0" y="0"/>
                </a:lnTo>
                <a:lnTo>
                  <a:pt x="0" y="649224"/>
                </a:lnTo>
                <a:lnTo>
                  <a:pt x="9144000" y="649223"/>
                </a:lnTo>
                <a:close/>
              </a:path>
            </a:pathLst>
          </a:custGeom>
          <a:solidFill>
            <a:srgbClr val="E6031E"/>
          </a:solidFill>
        </p:spPr>
        <p:txBody>
          <a:bodyPr wrap="square" lIns="0" tIns="0" rIns="0" bIns="0" rtlCol="0">
            <a:noAutofit/>
          </a:bodyPr>
          <a:lstStyle/>
          <a:p>
            <a:pPr algn="ctr"/>
            <a:r>
              <a:rPr lang="es-MX" sz="2400" b="1" dirty="0">
                <a:solidFill>
                  <a:schemeClr val="bg1"/>
                </a:solidFill>
                <a:latin typeface="Verdana" panose="020B0604030504040204" pitchFamily="34" charset="0"/>
                <a:ea typeface="Verdana" panose="020B0604030504040204" pitchFamily="34" charset="0"/>
                <a:cs typeface="Verdana" panose="020B0604030504040204" pitchFamily="34" charset="0"/>
              </a:rPr>
              <a:t>COMBINATORIA</a:t>
            </a:r>
            <a:endParaRPr sz="2400" b="1" dirty="0">
              <a:solidFill>
                <a:schemeClr val="bg1"/>
              </a:solidFill>
              <a:latin typeface="Verdana" panose="020B0604030504040204" pitchFamily="34" charset="0"/>
              <a:ea typeface="Verdana" panose="020B0604030504040204" pitchFamily="34" charset="0"/>
              <a:cs typeface="Verdana" panose="020B0604030504040204" pitchFamily="34" charset="0"/>
            </a:endParaRPr>
          </a:p>
        </p:txBody>
      </p:sp>
      <p:sp>
        <p:nvSpPr>
          <p:cNvPr id="6" name="object 12"/>
          <p:cNvSpPr/>
          <p:nvPr/>
        </p:nvSpPr>
        <p:spPr>
          <a:xfrm>
            <a:off x="10242773" y="6153222"/>
            <a:ext cx="425227" cy="549401"/>
          </a:xfrm>
          <a:prstGeom prst="rect">
            <a:avLst/>
          </a:prstGeom>
          <a:blipFill>
            <a:blip r:embed="rId2" cstate="print"/>
            <a:stretch>
              <a:fillRect/>
            </a:stretch>
          </a:blipFill>
        </p:spPr>
        <p:txBody>
          <a:bodyPr wrap="square" lIns="0" tIns="0" rIns="0" bIns="0" rtlCol="0">
            <a:noAutofit/>
          </a:bodyPr>
          <a:lstStyle/>
          <a:p>
            <a:endParaRPr/>
          </a:p>
        </p:txBody>
      </p:sp>
      <p:sp>
        <p:nvSpPr>
          <p:cNvPr id="3" name="object 11">
            <a:extLst>
              <a:ext uri="{FF2B5EF4-FFF2-40B4-BE49-F238E27FC236}">
                <a16:creationId xmlns:a16="http://schemas.microsoft.com/office/drawing/2014/main" id="{46DBE57D-BC43-4A76-836D-DA3ECB0D8800}"/>
              </a:ext>
            </a:extLst>
          </p:cNvPr>
          <p:cNvSpPr/>
          <p:nvPr/>
        </p:nvSpPr>
        <p:spPr>
          <a:xfrm flipV="1">
            <a:off x="1524000" y="6049107"/>
            <a:ext cx="9144000" cy="64484"/>
          </a:xfrm>
          <a:custGeom>
            <a:avLst/>
            <a:gdLst/>
            <a:ahLst/>
            <a:cxnLst/>
            <a:rect l="l" t="t" r="r" b="b"/>
            <a:pathLst>
              <a:path w="9144000">
                <a:moveTo>
                  <a:pt x="9144000" y="0"/>
                </a:moveTo>
                <a:lnTo>
                  <a:pt x="20573" y="0"/>
                </a:lnTo>
              </a:path>
              <a:path w="9144000">
                <a:moveTo>
                  <a:pt x="20573" y="1"/>
                </a:moveTo>
                <a:lnTo>
                  <a:pt x="9144000" y="0"/>
                </a:lnTo>
              </a:path>
            </a:pathLst>
          </a:custGeom>
          <a:ln w="28575">
            <a:solidFill>
              <a:srgbClr val="E6031E"/>
            </a:solidFill>
          </a:ln>
        </p:spPr>
        <p:txBody>
          <a:bodyPr wrap="square" lIns="0" tIns="0" rIns="0" bIns="0" rtlCol="0">
            <a:noAutofit/>
          </a:bodyPr>
          <a:lstStyle/>
          <a:p>
            <a:endParaRPr/>
          </a:p>
        </p:txBody>
      </p:sp>
      <p:sp>
        <p:nvSpPr>
          <p:cNvPr id="2" name="CuadroTexto 1">
            <a:extLst>
              <a:ext uri="{FF2B5EF4-FFF2-40B4-BE49-F238E27FC236}">
                <a16:creationId xmlns:a16="http://schemas.microsoft.com/office/drawing/2014/main" id="{4233ED77-700B-3070-AB13-45C8EA6C7C3A}"/>
              </a:ext>
            </a:extLst>
          </p:cNvPr>
          <p:cNvSpPr txBox="1"/>
          <p:nvPr/>
        </p:nvSpPr>
        <p:spPr>
          <a:xfrm>
            <a:off x="1524001" y="1443841"/>
            <a:ext cx="9143999" cy="3970318"/>
          </a:xfrm>
          <a:prstGeom prst="rect">
            <a:avLst/>
          </a:prstGeom>
          <a:noFill/>
        </p:spPr>
        <p:txBody>
          <a:bodyPr wrap="square" rtlCol="0">
            <a:spAutoFit/>
          </a:bodyPr>
          <a:lstStyle/>
          <a:p>
            <a:pPr algn="just"/>
            <a:r>
              <a:rPr lang="es-ES" dirty="0">
                <a:latin typeface="Verdana" panose="020B0604030504040204" pitchFamily="34" charset="0"/>
                <a:ea typeface="Verdana" panose="020B0604030504040204" pitchFamily="34" charset="0"/>
                <a:cs typeface="Verdana" panose="020B0604030504040204" pitchFamily="34" charset="0"/>
              </a:rPr>
              <a:t>La Combinatoria es el estudio de las posibles distribuciones y del recuento de objetos. Inicialmente, se presentan los principios básicos de recuento, es decir el conteo del número de elementos de un conjunto (del producto, de la unión, de inclusión-exclusión).</a:t>
            </a:r>
          </a:p>
          <a:p>
            <a:pPr algn="just"/>
            <a:endParaRPr lang="es-ES" dirty="0">
              <a:latin typeface="Verdana" panose="020B0604030504040204" pitchFamily="34" charset="0"/>
              <a:ea typeface="Verdana" panose="020B0604030504040204" pitchFamily="34" charset="0"/>
              <a:cs typeface="Verdana" panose="020B0604030504040204" pitchFamily="34" charset="0"/>
            </a:endParaRPr>
          </a:p>
          <a:p>
            <a:pPr algn="just"/>
            <a:r>
              <a:rPr lang="es-ES" dirty="0">
                <a:latin typeface="Verdana" panose="020B0604030504040204" pitchFamily="34" charset="0"/>
                <a:ea typeface="Verdana" panose="020B0604030504040204" pitchFamily="34" charset="0"/>
                <a:cs typeface="Verdana" panose="020B0604030504040204" pitchFamily="34" charset="0"/>
              </a:rPr>
              <a:t>Después, se muestran las diferentes maneras de seleccionar objetos en un conjunto: permutaciones y combinaciones, con o sin repetición.</a:t>
            </a:r>
          </a:p>
          <a:p>
            <a:pPr algn="just"/>
            <a:endParaRPr lang="es-ES" dirty="0">
              <a:latin typeface="Verdana" panose="020B0604030504040204" pitchFamily="34" charset="0"/>
              <a:ea typeface="Verdana" panose="020B0604030504040204" pitchFamily="34" charset="0"/>
              <a:cs typeface="Verdana" panose="020B0604030504040204" pitchFamily="34" charset="0"/>
            </a:endParaRPr>
          </a:p>
          <a:p>
            <a:pPr algn="just"/>
            <a:r>
              <a:rPr lang="es-ES" dirty="0">
                <a:latin typeface="Verdana" panose="020B0604030504040204" pitchFamily="34" charset="0"/>
                <a:ea typeface="Verdana" panose="020B0604030504040204" pitchFamily="34" charset="0"/>
                <a:cs typeface="Verdana" panose="020B0604030504040204" pitchFamily="34" charset="0"/>
              </a:rPr>
              <a:t>Los requerimientos para tener en cuenta en los principios básicos de conteo son:</a:t>
            </a:r>
          </a:p>
          <a:p>
            <a:pPr algn="just"/>
            <a:endParaRPr lang="es-ES" dirty="0">
              <a:latin typeface="Verdana" panose="020B0604030504040204" pitchFamily="34" charset="0"/>
              <a:ea typeface="Verdana" panose="020B0604030504040204" pitchFamily="34" charset="0"/>
              <a:cs typeface="Verdana" panose="020B0604030504040204" pitchFamily="34" charset="0"/>
            </a:endParaRPr>
          </a:p>
          <a:p>
            <a:pPr marL="285750" indent="-285750" algn="just">
              <a:buFont typeface="Arial" panose="020B0604020202020204" pitchFamily="34" charset="0"/>
              <a:buChar char="•"/>
            </a:pPr>
            <a:r>
              <a:rPr lang="es-ES" dirty="0">
                <a:latin typeface="Verdana" panose="020B0604030504040204" pitchFamily="34" charset="0"/>
                <a:ea typeface="Verdana" panose="020B0604030504040204" pitchFamily="34" charset="0"/>
                <a:cs typeface="Verdana" panose="020B0604030504040204" pitchFamily="34" charset="0"/>
              </a:rPr>
              <a:t>Analizar problemas.</a:t>
            </a:r>
          </a:p>
          <a:p>
            <a:pPr marL="285750" indent="-285750" algn="just">
              <a:buFont typeface="Arial" panose="020B0604020202020204" pitchFamily="34" charset="0"/>
              <a:buChar char="•"/>
            </a:pPr>
            <a:r>
              <a:rPr lang="es-ES" dirty="0">
                <a:latin typeface="Verdana" panose="020B0604030504040204" pitchFamily="34" charset="0"/>
                <a:ea typeface="Verdana" panose="020B0604030504040204" pitchFamily="34" charset="0"/>
                <a:cs typeface="Verdana" panose="020B0604030504040204" pitchFamily="34" charset="0"/>
              </a:rPr>
              <a:t>Aprender y comprender las fórmulas básicas.</a:t>
            </a:r>
            <a:endParaRPr lang="es-CO" dirty="0">
              <a:latin typeface="Verdana" panose="020B0604030504040204" pitchFamily="34" charset="0"/>
              <a:ea typeface="Verdana" panose="020B0604030504040204" pitchFamily="34" charset="0"/>
              <a:cs typeface="Verdana" panose="020B0604030504040204" pitchFamily="34" charset="0"/>
            </a:endParaRPr>
          </a:p>
          <a:p>
            <a:pPr algn="just"/>
            <a:endParaRPr lang="es-CO" dirty="0">
              <a:latin typeface="Verdana" panose="020B0604030504040204" pitchFamily="34" charset="0"/>
              <a:ea typeface="Verdana" panose="020B0604030504040204" pitchFamily="34" charset="0"/>
              <a:cs typeface="Verdana" panose="020B0604030504040204" pitchFamily="34" charset="0"/>
            </a:endParaRPr>
          </a:p>
        </p:txBody>
      </p:sp>
    </p:spTree>
    <p:extLst>
      <p:ext uri="{BB962C8B-B14F-4D97-AF65-F5344CB8AC3E}">
        <p14:creationId xmlns:p14="http://schemas.microsoft.com/office/powerpoint/2010/main" val="125385130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9"/>
          <p:cNvSpPr/>
          <p:nvPr/>
        </p:nvSpPr>
        <p:spPr>
          <a:xfrm>
            <a:off x="1524000" y="473139"/>
            <a:ext cx="9144000" cy="649224"/>
          </a:xfrm>
          <a:custGeom>
            <a:avLst/>
            <a:gdLst/>
            <a:ahLst/>
            <a:cxnLst/>
            <a:rect l="l" t="t" r="r" b="b"/>
            <a:pathLst>
              <a:path w="9144000" h="649224">
                <a:moveTo>
                  <a:pt x="9144000" y="649223"/>
                </a:moveTo>
                <a:lnTo>
                  <a:pt x="9144000" y="0"/>
                </a:lnTo>
                <a:lnTo>
                  <a:pt x="0" y="0"/>
                </a:lnTo>
                <a:lnTo>
                  <a:pt x="0" y="649224"/>
                </a:lnTo>
                <a:lnTo>
                  <a:pt x="9144000" y="649223"/>
                </a:lnTo>
                <a:close/>
              </a:path>
            </a:pathLst>
          </a:custGeom>
          <a:solidFill>
            <a:srgbClr val="E6031E"/>
          </a:solidFill>
        </p:spPr>
        <p:txBody>
          <a:bodyPr wrap="square" lIns="0" tIns="0" rIns="0" bIns="0" rtlCol="0">
            <a:noAutofit/>
          </a:bodyPr>
          <a:lstStyle/>
          <a:p>
            <a:pPr algn="ctr"/>
            <a:r>
              <a:rPr lang="es-MX" sz="2400" b="1" dirty="0">
                <a:solidFill>
                  <a:schemeClr val="bg1"/>
                </a:solidFill>
                <a:latin typeface="Verdana" panose="020B0604030504040204" pitchFamily="34" charset="0"/>
                <a:ea typeface="Verdana" panose="020B0604030504040204" pitchFamily="34" charset="0"/>
                <a:cs typeface="Verdana" panose="020B0604030504040204" pitchFamily="34" charset="0"/>
              </a:rPr>
              <a:t>COMBINATORIA</a:t>
            </a:r>
            <a:endParaRPr sz="2400" b="1" dirty="0">
              <a:solidFill>
                <a:schemeClr val="bg1"/>
              </a:solidFill>
              <a:latin typeface="Verdana" panose="020B0604030504040204" pitchFamily="34" charset="0"/>
              <a:ea typeface="Verdana" panose="020B0604030504040204" pitchFamily="34" charset="0"/>
              <a:cs typeface="Verdana" panose="020B0604030504040204" pitchFamily="34" charset="0"/>
            </a:endParaRPr>
          </a:p>
        </p:txBody>
      </p:sp>
      <p:sp>
        <p:nvSpPr>
          <p:cNvPr id="6" name="object 12"/>
          <p:cNvSpPr/>
          <p:nvPr/>
        </p:nvSpPr>
        <p:spPr>
          <a:xfrm>
            <a:off x="10242773" y="6153222"/>
            <a:ext cx="425227" cy="549401"/>
          </a:xfrm>
          <a:prstGeom prst="rect">
            <a:avLst/>
          </a:prstGeom>
          <a:blipFill>
            <a:blip r:embed="rId2" cstate="print"/>
            <a:stretch>
              <a:fillRect/>
            </a:stretch>
          </a:blipFill>
        </p:spPr>
        <p:txBody>
          <a:bodyPr wrap="square" lIns="0" tIns="0" rIns="0" bIns="0" rtlCol="0">
            <a:noAutofit/>
          </a:bodyPr>
          <a:lstStyle/>
          <a:p>
            <a:endParaRPr/>
          </a:p>
        </p:txBody>
      </p:sp>
      <p:sp>
        <p:nvSpPr>
          <p:cNvPr id="3" name="object 11">
            <a:extLst>
              <a:ext uri="{FF2B5EF4-FFF2-40B4-BE49-F238E27FC236}">
                <a16:creationId xmlns:a16="http://schemas.microsoft.com/office/drawing/2014/main" id="{46DBE57D-BC43-4A76-836D-DA3ECB0D8800}"/>
              </a:ext>
            </a:extLst>
          </p:cNvPr>
          <p:cNvSpPr/>
          <p:nvPr/>
        </p:nvSpPr>
        <p:spPr>
          <a:xfrm flipV="1">
            <a:off x="1524000" y="6049107"/>
            <a:ext cx="9144000" cy="64484"/>
          </a:xfrm>
          <a:custGeom>
            <a:avLst/>
            <a:gdLst/>
            <a:ahLst/>
            <a:cxnLst/>
            <a:rect l="l" t="t" r="r" b="b"/>
            <a:pathLst>
              <a:path w="9144000">
                <a:moveTo>
                  <a:pt x="9144000" y="0"/>
                </a:moveTo>
                <a:lnTo>
                  <a:pt x="20573" y="0"/>
                </a:lnTo>
              </a:path>
              <a:path w="9144000">
                <a:moveTo>
                  <a:pt x="20573" y="1"/>
                </a:moveTo>
                <a:lnTo>
                  <a:pt x="9144000" y="0"/>
                </a:lnTo>
              </a:path>
            </a:pathLst>
          </a:custGeom>
          <a:ln w="28575">
            <a:solidFill>
              <a:srgbClr val="E6031E"/>
            </a:solidFill>
          </a:ln>
        </p:spPr>
        <p:txBody>
          <a:bodyPr wrap="square" lIns="0" tIns="0" rIns="0" bIns="0" rtlCol="0">
            <a:noAutofit/>
          </a:bodyPr>
          <a:lstStyle/>
          <a:p>
            <a:endParaRPr/>
          </a:p>
        </p:txBody>
      </p:sp>
      <p:sp>
        <p:nvSpPr>
          <p:cNvPr id="2" name="CuadroTexto 1">
            <a:extLst>
              <a:ext uri="{FF2B5EF4-FFF2-40B4-BE49-F238E27FC236}">
                <a16:creationId xmlns:a16="http://schemas.microsoft.com/office/drawing/2014/main" id="{4233ED77-700B-3070-AB13-45C8EA6C7C3A}"/>
              </a:ext>
            </a:extLst>
          </p:cNvPr>
          <p:cNvSpPr txBox="1"/>
          <p:nvPr/>
        </p:nvSpPr>
        <p:spPr>
          <a:xfrm>
            <a:off x="1524000" y="1973928"/>
            <a:ext cx="9143999" cy="2031325"/>
          </a:xfrm>
          <a:prstGeom prst="rect">
            <a:avLst/>
          </a:prstGeom>
          <a:noFill/>
        </p:spPr>
        <p:txBody>
          <a:bodyPr wrap="square" rtlCol="0">
            <a:spAutoFit/>
          </a:bodyPr>
          <a:lstStyle/>
          <a:p>
            <a:pPr marL="285750" indent="-285750" algn="just">
              <a:buFont typeface="Arial" panose="020B0604020202020204" pitchFamily="34" charset="0"/>
              <a:buChar char="•"/>
            </a:pPr>
            <a:r>
              <a:rPr lang="es-MX" sz="1800" kern="100" dirty="0">
                <a:effectLst/>
                <a:latin typeface="Verdana" panose="020B0604030504040204" pitchFamily="34" charset="0"/>
                <a:ea typeface="Verdana" panose="020B0604030504040204" pitchFamily="34" charset="0"/>
                <a:cs typeface="Times New Roman" panose="02020603050405020304" pitchFamily="18" charset="0"/>
              </a:rPr>
              <a:t>Esto nos ayuda a estudiar la complejidad de ciertos algoritmos y de algunos juegos</a:t>
            </a:r>
            <a:r>
              <a:rPr lang="es-MX" sz="1800" kern="100" dirty="0">
                <a:solidFill>
                  <a:srgbClr val="FF0000"/>
                </a:solidFill>
                <a:effectLst/>
                <a:latin typeface="Verdana" panose="020B0604030504040204" pitchFamily="34" charset="0"/>
                <a:ea typeface="Verdana" panose="020B0604030504040204" pitchFamily="34" charset="0"/>
                <a:cs typeface="Times New Roman" panose="02020603050405020304" pitchFamily="18" charset="0"/>
              </a:rPr>
              <a:t>.  ¿Cuál es la complejidad computacional de ordenar un arreglo de tamaña n probando todas las posibilidades (solución ingenua)? </a:t>
            </a:r>
            <a:r>
              <a:rPr lang="es-MX" sz="1800" kern="100" dirty="0">
                <a:solidFill>
                  <a:srgbClr val="000000"/>
                </a:solidFill>
                <a:effectLst/>
                <a:latin typeface="Verdana" panose="020B0604030504040204" pitchFamily="34" charset="0"/>
                <a:ea typeface="Verdana" panose="020B0604030504040204" pitchFamily="34" charset="0"/>
                <a:cs typeface="Times New Roman" panose="02020603050405020304" pitchFamily="18" charset="0"/>
              </a:rPr>
              <a:t>Pensar en ADA.</a:t>
            </a:r>
            <a:endParaRPr lang="es-CO" sz="1800" kern="100" dirty="0">
              <a:effectLst/>
              <a:latin typeface="Verdana" panose="020B0604030504040204" pitchFamily="34" charset="0"/>
              <a:ea typeface="Verdana" panose="020B0604030504040204" pitchFamily="34" charset="0"/>
              <a:cs typeface="Times New Roman" panose="02020603050405020304" pitchFamily="18" charset="0"/>
            </a:endParaRPr>
          </a:p>
          <a:p>
            <a:pPr marL="285750" indent="-285750" algn="just">
              <a:buFont typeface="Arial" panose="020B0604020202020204" pitchFamily="34" charset="0"/>
              <a:buChar char="•"/>
            </a:pPr>
            <a:endParaRPr lang="es-MX" kern="100" dirty="0">
              <a:latin typeface="Verdana" panose="020B0604030504040204" pitchFamily="34" charset="0"/>
              <a:ea typeface="Verdana" panose="020B0604030504040204" pitchFamily="34" charset="0"/>
              <a:cs typeface="Times New Roman" panose="02020603050405020304" pitchFamily="18" charset="0"/>
            </a:endParaRPr>
          </a:p>
          <a:p>
            <a:pPr marL="285750" indent="-285750" algn="just">
              <a:buFont typeface="Arial" panose="020B0604020202020204" pitchFamily="34" charset="0"/>
              <a:buChar char="•"/>
            </a:pPr>
            <a:r>
              <a:rPr lang="es-MX" sz="1800" kern="100" dirty="0">
                <a:effectLst/>
                <a:latin typeface="Verdana" panose="020B0604030504040204" pitchFamily="34" charset="0"/>
                <a:ea typeface="Verdana" panose="020B0604030504040204" pitchFamily="34" charset="0"/>
                <a:cs typeface="Times New Roman" panose="02020603050405020304" pitchFamily="18" charset="0"/>
              </a:rPr>
              <a:t>Esto ha adquirido importancia en estudios como la secuencia del </a:t>
            </a:r>
            <a:r>
              <a:rPr lang="es-MX" kern="100" dirty="0">
                <a:latin typeface="Verdana" panose="020B0604030504040204" pitchFamily="34" charset="0"/>
                <a:ea typeface="Verdana" panose="020B0604030504040204" pitchFamily="34" charset="0"/>
                <a:cs typeface="Times New Roman" panose="02020603050405020304" pitchFamily="18" charset="0"/>
              </a:rPr>
              <a:t>ADN</a:t>
            </a:r>
            <a:endParaRPr lang="es-CO" sz="1800" kern="100" dirty="0">
              <a:effectLst/>
              <a:latin typeface="Verdana" panose="020B0604030504040204" pitchFamily="34" charset="0"/>
              <a:ea typeface="Verdana" panose="020B0604030504040204" pitchFamily="34" charset="0"/>
              <a:cs typeface="Times New Roman" panose="02020603050405020304" pitchFamily="18" charset="0"/>
            </a:endParaRPr>
          </a:p>
          <a:p>
            <a:pPr algn="just"/>
            <a:endParaRPr lang="es-CO" dirty="0">
              <a:latin typeface="Verdana" panose="020B0604030504040204" pitchFamily="34" charset="0"/>
              <a:ea typeface="Verdana" panose="020B0604030504040204" pitchFamily="34" charset="0"/>
              <a:cs typeface="Verdana" panose="020B0604030504040204" pitchFamily="34" charset="0"/>
            </a:endParaRPr>
          </a:p>
        </p:txBody>
      </p:sp>
    </p:spTree>
    <p:extLst>
      <p:ext uri="{BB962C8B-B14F-4D97-AF65-F5344CB8AC3E}">
        <p14:creationId xmlns:p14="http://schemas.microsoft.com/office/powerpoint/2010/main" val="183052042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9"/>
          <p:cNvSpPr/>
          <p:nvPr/>
        </p:nvSpPr>
        <p:spPr>
          <a:xfrm>
            <a:off x="1524000" y="473139"/>
            <a:ext cx="9144000" cy="649224"/>
          </a:xfrm>
          <a:custGeom>
            <a:avLst/>
            <a:gdLst/>
            <a:ahLst/>
            <a:cxnLst/>
            <a:rect l="l" t="t" r="r" b="b"/>
            <a:pathLst>
              <a:path w="9144000" h="649224">
                <a:moveTo>
                  <a:pt x="9144000" y="649223"/>
                </a:moveTo>
                <a:lnTo>
                  <a:pt x="9144000" y="0"/>
                </a:lnTo>
                <a:lnTo>
                  <a:pt x="0" y="0"/>
                </a:lnTo>
                <a:lnTo>
                  <a:pt x="0" y="649224"/>
                </a:lnTo>
                <a:lnTo>
                  <a:pt x="9144000" y="649223"/>
                </a:lnTo>
                <a:close/>
              </a:path>
            </a:pathLst>
          </a:custGeom>
          <a:solidFill>
            <a:srgbClr val="E6031E"/>
          </a:solidFill>
        </p:spPr>
        <p:txBody>
          <a:bodyPr wrap="square" lIns="0" tIns="0" rIns="0" bIns="0" rtlCol="0">
            <a:noAutofit/>
          </a:bodyPr>
          <a:lstStyle/>
          <a:p>
            <a:pPr algn="ctr"/>
            <a:r>
              <a:rPr lang="es-MX" sz="2400" b="1" dirty="0">
                <a:solidFill>
                  <a:schemeClr val="bg1"/>
                </a:solidFill>
                <a:latin typeface="Verdana" panose="020B0604030504040204" pitchFamily="34" charset="0"/>
                <a:ea typeface="Verdana" panose="020B0604030504040204" pitchFamily="34" charset="0"/>
                <a:cs typeface="Verdana" panose="020B0604030504040204" pitchFamily="34" charset="0"/>
              </a:rPr>
              <a:t>COMBINATORIA</a:t>
            </a:r>
            <a:endParaRPr sz="2400" b="1" dirty="0">
              <a:solidFill>
                <a:schemeClr val="bg1"/>
              </a:solidFill>
              <a:latin typeface="Verdana" panose="020B0604030504040204" pitchFamily="34" charset="0"/>
              <a:ea typeface="Verdana" panose="020B0604030504040204" pitchFamily="34" charset="0"/>
              <a:cs typeface="Verdana" panose="020B0604030504040204" pitchFamily="34" charset="0"/>
            </a:endParaRPr>
          </a:p>
        </p:txBody>
      </p:sp>
      <p:sp>
        <p:nvSpPr>
          <p:cNvPr id="6" name="object 12"/>
          <p:cNvSpPr/>
          <p:nvPr/>
        </p:nvSpPr>
        <p:spPr>
          <a:xfrm>
            <a:off x="10242773" y="6153222"/>
            <a:ext cx="425227" cy="549401"/>
          </a:xfrm>
          <a:prstGeom prst="rect">
            <a:avLst/>
          </a:prstGeom>
          <a:blipFill>
            <a:blip r:embed="rId2" cstate="print"/>
            <a:stretch>
              <a:fillRect/>
            </a:stretch>
          </a:blipFill>
        </p:spPr>
        <p:txBody>
          <a:bodyPr wrap="square" lIns="0" tIns="0" rIns="0" bIns="0" rtlCol="0">
            <a:noAutofit/>
          </a:bodyPr>
          <a:lstStyle/>
          <a:p>
            <a:endParaRPr/>
          </a:p>
        </p:txBody>
      </p:sp>
      <p:sp>
        <p:nvSpPr>
          <p:cNvPr id="3" name="object 11">
            <a:extLst>
              <a:ext uri="{FF2B5EF4-FFF2-40B4-BE49-F238E27FC236}">
                <a16:creationId xmlns:a16="http://schemas.microsoft.com/office/drawing/2014/main" id="{46DBE57D-BC43-4A76-836D-DA3ECB0D8800}"/>
              </a:ext>
            </a:extLst>
          </p:cNvPr>
          <p:cNvSpPr/>
          <p:nvPr/>
        </p:nvSpPr>
        <p:spPr>
          <a:xfrm flipV="1">
            <a:off x="1524000" y="6049107"/>
            <a:ext cx="9144000" cy="64484"/>
          </a:xfrm>
          <a:custGeom>
            <a:avLst/>
            <a:gdLst/>
            <a:ahLst/>
            <a:cxnLst/>
            <a:rect l="l" t="t" r="r" b="b"/>
            <a:pathLst>
              <a:path w="9144000">
                <a:moveTo>
                  <a:pt x="9144000" y="0"/>
                </a:moveTo>
                <a:lnTo>
                  <a:pt x="20573" y="0"/>
                </a:lnTo>
              </a:path>
              <a:path w="9144000">
                <a:moveTo>
                  <a:pt x="20573" y="1"/>
                </a:moveTo>
                <a:lnTo>
                  <a:pt x="9144000" y="0"/>
                </a:lnTo>
              </a:path>
            </a:pathLst>
          </a:custGeom>
          <a:ln w="28575">
            <a:solidFill>
              <a:srgbClr val="E6031E"/>
            </a:solidFill>
          </a:ln>
        </p:spPr>
        <p:txBody>
          <a:bodyPr wrap="square" lIns="0" tIns="0" rIns="0" bIns="0" rtlCol="0">
            <a:noAutofit/>
          </a:bodyPr>
          <a:lstStyle/>
          <a:p>
            <a:endParaRPr/>
          </a:p>
        </p:txBody>
      </p:sp>
      <p:pic>
        <p:nvPicPr>
          <p:cNvPr id="5" name="Imagen 4">
            <a:extLst>
              <a:ext uri="{FF2B5EF4-FFF2-40B4-BE49-F238E27FC236}">
                <a16:creationId xmlns:a16="http://schemas.microsoft.com/office/drawing/2014/main" id="{55FC9B86-6EFA-3949-202F-98FF22EE744B}"/>
              </a:ext>
            </a:extLst>
          </p:cNvPr>
          <p:cNvPicPr>
            <a:picLocks noChangeAspect="1"/>
          </p:cNvPicPr>
          <p:nvPr/>
        </p:nvPicPr>
        <p:blipFill rotWithShape="1">
          <a:blip r:embed="rId3"/>
          <a:srcRect l="11237" t="45462" r="46504" b="40003"/>
          <a:stretch/>
        </p:blipFill>
        <p:spPr bwMode="auto">
          <a:xfrm>
            <a:off x="1524000" y="1837417"/>
            <a:ext cx="9250017" cy="2323766"/>
          </a:xfrm>
          <a:prstGeom prst="rect">
            <a:avLst/>
          </a:prstGeom>
          <a:ln>
            <a:noFill/>
          </a:ln>
          <a:extLst>
            <a:ext uri="{53640926-AAD7-44D8-BBD7-CCE9431645EC}">
              <a14:shadowObscured xmlns:a14="http://schemas.microsoft.com/office/drawing/2010/main"/>
            </a:ext>
          </a:extLst>
        </p:spPr>
      </p:pic>
      <p:sp>
        <p:nvSpPr>
          <p:cNvPr id="7" name="Título 6">
            <a:extLst>
              <a:ext uri="{FF2B5EF4-FFF2-40B4-BE49-F238E27FC236}">
                <a16:creationId xmlns:a16="http://schemas.microsoft.com/office/drawing/2014/main" id="{BFF6F683-A2BB-808B-EEFD-5B5201F1D469}"/>
              </a:ext>
            </a:extLst>
          </p:cNvPr>
          <p:cNvSpPr>
            <a:spLocks noGrp="1"/>
          </p:cNvSpPr>
          <p:nvPr>
            <p:ph type="title"/>
          </p:nvPr>
        </p:nvSpPr>
        <p:spPr/>
        <p:txBody>
          <a:bodyPr/>
          <a:lstStyle/>
          <a:p>
            <a:endParaRPr lang="es-CO"/>
          </a:p>
        </p:txBody>
      </p:sp>
      <p:sp>
        <p:nvSpPr>
          <p:cNvPr id="8" name="Marcador de contenido 7">
            <a:extLst>
              <a:ext uri="{FF2B5EF4-FFF2-40B4-BE49-F238E27FC236}">
                <a16:creationId xmlns:a16="http://schemas.microsoft.com/office/drawing/2014/main" id="{F7196831-18D6-2B2D-85FC-BDBEED2AC751}"/>
              </a:ext>
            </a:extLst>
          </p:cNvPr>
          <p:cNvSpPr>
            <a:spLocks noGrp="1"/>
          </p:cNvSpPr>
          <p:nvPr>
            <p:ph idx="1"/>
          </p:nvPr>
        </p:nvSpPr>
        <p:spPr>
          <a:xfrm>
            <a:off x="838200" y="1825624"/>
            <a:ext cx="10515600" cy="5398135"/>
          </a:xfrm>
        </p:spPr>
        <p:txBody>
          <a:bodyPr>
            <a:normAutofit/>
          </a:bodyPr>
          <a:lstStyle/>
          <a:p>
            <a:endParaRPr lang="es-MX" dirty="0"/>
          </a:p>
          <a:p>
            <a:endParaRPr lang="es-CO" dirty="0"/>
          </a:p>
          <a:p>
            <a:endParaRPr lang="es-CO" dirty="0"/>
          </a:p>
          <a:p>
            <a:endParaRPr lang="es-CO" dirty="0"/>
          </a:p>
          <a:p>
            <a:pPr marL="0" indent="0" algn="ctr">
              <a:buNone/>
            </a:pPr>
            <a:endParaRPr lang="es-CO" dirty="0"/>
          </a:p>
          <a:p>
            <a:pPr marL="0" indent="0" algn="ctr">
              <a:buNone/>
            </a:pPr>
            <a:endParaRPr lang="es-CO" sz="1800" b="1" dirty="0">
              <a:latin typeface="Verdana" panose="020B0604030504040204" pitchFamily="34" charset="0"/>
              <a:ea typeface="Verdana" panose="020B0604030504040204" pitchFamily="34" charset="0"/>
            </a:endParaRPr>
          </a:p>
          <a:p>
            <a:pPr algn="just"/>
            <a:endParaRPr lang="es-CO" sz="1800" b="1" u="sng" kern="100" dirty="0">
              <a:solidFill>
                <a:srgbClr val="0563C1"/>
              </a:solidFill>
              <a:effectLst/>
              <a:latin typeface="Verdana" panose="020B0604030504040204" pitchFamily="34" charset="0"/>
              <a:ea typeface="Verdana" panose="020B0604030504040204" pitchFamily="34" charset="0"/>
              <a:cs typeface="Times New Roman" panose="02020603050405020304" pitchFamily="18" charset="0"/>
              <a:hlinkClick r:id="rId4"/>
            </a:endParaRPr>
          </a:p>
          <a:p>
            <a:pPr algn="just"/>
            <a:r>
              <a:rPr lang="es-CO" sz="1800" b="1" kern="100" dirty="0">
                <a:effectLst/>
                <a:latin typeface="Verdana" panose="020B0604030504040204" pitchFamily="34" charset="0"/>
                <a:ea typeface="Verdana" panose="020B0604030504040204" pitchFamily="34" charset="0"/>
                <a:cs typeface="Times New Roman" panose="02020603050405020304" pitchFamily="18" charset="0"/>
              </a:rPr>
              <a:t>https://www.safetydetectives.com/blog/the-most-hacked-passwords-in-the-world/</a:t>
            </a:r>
            <a:endParaRPr lang="es-CO" sz="1800" kern="100" dirty="0">
              <a:effectLst/>
              <a:latin typeface="Verdana" panose="020B0604030504040204" pitchFamily="34" charset="0"/>
              <a:ea typeface="Verdana" panose="020B0604030504040204" pitchFamily="34" charset="0"/>
              <a:cs typeface="Times New Roman" panose="02020603050405020304" pitchFamily="18" charset="0"/>
            </a:endParaRPr>
          </a:p>
          <a:p>
            <a:endParaRPr lang="es-CO" dirty="0"/>
          </a:p>
        </p:txBody>
      </p:sp>
      <p:sp>
        <p:nvSpPr>
          <p:cNvPr id="9" name="CuadroTexto 8">
            <a:extLst>
              <a:ext uri="{FF2B5EF4-FFF2-40B4-BE49-F238E27FC236}">
                <a16:creationId xmlns:a16="http://schemas.microsoft.com/office/drawing/2014/main" id="{3C5C3294-A51D-B8D0-65D2-2C81490FCEE6}"/>
              </a:ext>
            </a:extLst>
          </p:cNvPr>
          <p:cNvSpPr txBox="1"/>
          <p:nvPr/>
        </p:nvSpPr>
        <p:spPr>
          <a:xfrm>
            <a:off x="1524000" y="4754273"/>
            <a:ext cx="9143999" cy="369332"/>
          </a:xfrm>
          <a:prstGeom prst="rect">
            <a:avLst/>
          </a:prstGeom>
          <a:noFill/>
        </p:spPr>
        <p:txBody>
          <a:bodyPr wrap="square" rtlCol="0">
            <a:spAutoFit/>
          </a:bodyPr>
          <a:lstStyle/>
          <a:p>
            <a:pPr algn="ctr"/>
            <a:r>
              <a:rPr lang="es-CO" b="1" dirty="0">
                <a:latin typeface="Verdana" panose="020B0604030504040204" pitchFamily="34" charset="0"/>
                <a:ea typeface="Verdana" panose="020B0604030504040204" pitchFamily="34" charset="0"/>
              </a:rPr>
              <a:t>Ciberdelincuente vs </a:t>
            </a:r>
            <a:r>
              <a:rPr lang="es-CO" b="1" dirty="0" err="1">
                <a:latin typeface="Verdana" panose="020B0604030504040204" pitchFamily="34" charset="0"/>
                <a:ea typeface="Verdana" panose="020B0604030504040204" pitchFamily="34" charset="0"/>
              </a:rPr>
              <a:t>Ethical</a:t>
            </a:r>
            <a:r>
              <a:rPr lang="es-CO" b="1" dirty="0">
                <a:latin typeface="Verdana" panose="020B0604030504040204" pitchFamily="34" charset="0"/>
                <a:ea typeface="Verdana" panose="020B0604030504040204" pitchFamily="34" charset="0"/>
              </a:rPr>
              <a:t> Hacking</a:t>
            </a:r>
          </a:p>
        </p:txBody>
      </p:sp>
      <p:sp>
        <p:nvSpPr>
          <p:cNvPr id="10" name="CuadroTexto 9">
            <a:extLst>
              <a:ext uri="{FF2B5EF4-FFF2-40B4-BE49-F238E27FC236}">
                <a16:creationId xmlns:a16="http://schemas.microsoft.com/office/drawing/2014/main" id="{6930484C-4345-9167-7C4C-8AC5B8ED8803}"/>
              </a:ext>
            </a:extLst>
          </p:cNvPr>
          <p:cNvSpPr txBox="1"/>
          <p:nvPr/>
        </p:nvSpPr>
        <p:spPr>
          <a:xfrm>
            <a:off x="1755913" y="4296119"/>
            <a:ext cx="9143999" cy="369332"/>
          </a:xfrm>
          <a:prstGeom prst="rect">
            <a:avLst/>
          </a:prstGeom>
          <a:noFill/>
        </p:spPr>
        <p:txBody>
          <a:bodyPr wrap="square" rtlCol="0">
            <a:spAutoFit/>
          </a:bodyPr>
          <a:lstStyle/>
          <a:p>
            <a:pPr algn="ctr"/>
            <a:r>
              <a:rPr lang="es-CO" b="1" dirty="0">
                <a:latin typeface="Verdana" panose="020B0604030504040204" pitchFamily="34" charset="0"/>
                <a:ea typeface="Verdana" panose="020B0604030504040204" pitchFamily="34" charset="0"/>
              </a:rPr>
              <a:t>¿Son realmente seguros los accesos a los sistemas informáticos?</a:t>
            </a:r>
          </a:p>
        </p:txBody>
      </p:sp>
    </p:spTree>
    <p:extLst>
      <p:ext uri="{BB962C8B-B14F-4D97-AF65-F5344CB8AC3E}">
        <p14:creationId xmlns:p14="http://schemas.microsoft.com/office/powerpoint/2010/main" val="15812875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additive="base">
                                        <p:cTn id="7" dur="500" fill="hold"/>
                                        <p:tgtEl>
                                          <p:spTgt spid="10"/>
                                        </p:tgtEl>
                                        <p:attrNameLst>
                                          <p:attrName>ppt_x</p:attrName>
                                        </p:attrNameLst>
                                      </p:cBhvr>
                                      <p:tavLst>
                                        <p:tav tm="0">
                                          <p:val>
                                            <p:strVal val="#ppt_x"/>
                                          </p:val>
                                        </p:tav>
                                        <p:tav tm="100000">
                                          <p:val>
                                            <p:strVal val="#ppt_x"/>
                                          </p:val>
                                        </p:tav>
                                      </p:tavLst>
                                    </p:anim>
                                    <p:anim calcmode="lin" valueType="num">
                                      <p:cBhvr additive="base">
                                        <p:cTn id="8"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9"/>
                                        </p:tgtEl>
                                        <p:attrNameLst>
                                          <p:attrName>style.visibility</p:attrName>
                                        </p:attrNameLst>
                                      </p:cBhvr>
                                      <p:to>
                                        <p:strVal val="visible"/>
                                      </p:to>
                                    </p:set>
                                    <p:anim calcmode="lin" valueType="num">
                                      <p:cBhvr additive="base">
                                        <p:cTn id="13" dur="500" fill="hold"/>
                                        <p:tgtEl>
                                          <p:spTgt spid="9"/>
                                        </p:tgtEl>
                                        <p:attrNameLst>
                                          <p:attrName>ppt_x</p:attrName>
                                        </p:attrNameLst>
                                      </p:cBhvr>
                                      <p:tavLst>
                                        <p:tav tm="0">
                                          <p:val>
                                            <p:strVal val="#ppt_x"/>
                                          </p:val>
                                        </p:tav>
                                        <p:tav tm="100000">
                                          <p:val>
                                            <p:strVal val="#ppt_x"/>
                                          </p:val>
                                        </p:tav>
                                      </p:tavLst>
                                    </p:anim>
                                    <p:anim calcmode="lin" valueType="num">
                                      <p:cBhvr additive="base">
                                        <p:cTn id="14" dur="500" fill="hold"/>
                                        <p:tgtEl>
                                          <p:spTgt spid="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0"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9"/>
          <p:cNvSpPr/>
          <p:nvPr/>
        </p:nvSpPr>
        <p:spPr>
          <a:xfrm>
            <a:off x="1524000" y="473139"/>
            <a:ext cx="9144000" cy="649224"/>
          </a:xfrm>
          <a:custGeom>
            <a:avLst/>
            <a:gdLst/>
            <a:ahLst/>
            <a:cxnLst/>
            <a:rect l="l" t="t" r="r" b="b"/>
            <a:pathLst>
              <a:path w="9144000" h="649224">
                <a:moveTo>
                  <a:pt x="9144000" y="649223"/>
                </a:moveTo>
                <a:lnTo>
                  <a:pt x="9144000" y="0"/>
                </a:lnTo>
                <a:lnTo>
                  <a:pt x="0" y="0"/>
                </a:lnTo>
                <a:lnTo>
                  <a:pt x="0" y="649224"/>
                </a:lnTo>
                <a:lnTo>
                  <a:pt x="9144000" y="649223"/>
                </a:lnTo>
                <a:close/>
              </a:path>
            </a:pathLst>
          </a:custGeom>
          <a:solidFill>
            <a:srgbClr val="E6031E"/>
          </a:solidFill>
        </p:spPr>
        <p:txBody>
          <a:bodyPr wrap="square" lIns="0" tIns="0" rIns="0" bIns="0" rtlCol="0">
            <a:noAutofit/>
          </a:bodyPr>
          <a:lstStyle/>
          <a:p>
            <a:pPr algn="ctr"/>
            <a:r>
              <a:rPr lang="es-MX" sz="2400" b="1" dirty="0">
                <a:solidFill>
                  <a:schemeClr val="bg1"/>
                </a:solidFill>
                <a:latin typeface="Verdana" panose="020B0604030504040204" pitchFamily="34" charset="0"/>
                <a:ea typeface="Verdana" panose="020B0604030504040204" pitchFamily="34" charset="0"/>
                <a:cs typeface="Verdana" panose="020B0604030504040204" pitchFamily="34" charset="0"/>
              </a:rPr>
              <a:t>REGLAS DE LA SUMA Y EL PRODUCTO</a:t>
            </a:r>
            <a:endParaRPr sz="2400" b="1" dirty="0">
              <a:solidFill>
                <a:schemeClr val="bg1"/>
              </a:solidFill>
              <a:latin typeface="Verdana" panose="020B0604030504040204" pitchFamily="34" charset="0"/>
              <a:ea typeface="Verdana" panose="020B0604030504040204" pitchFamily="34" charset="0"/>
              <a:cs typeface="Verdana" panose="020B0604030504040204" pitchFamily="34" charset="0"/>
            </a:endParaRPr>
          </a:p>
        </p:txBody>
      </p:sp>
      <p:sp>
        <p:nvSpPr>
          <p:cNvPr id="6" name="object 12"/>
          <p:cNvSpPr/>
          <p:nvPr/>
        </p:nvSpPr>
        <p:spPr>
          <a:xfrm>
            <a:off x="10242773" y="6153222"/>
            <a:ext cx="425227" cy="549401"/>
          </a:xfrm>
          <a:prstGeom prst="rect">
            <a:avLst/>
          </a:prstGeom>
          <a:blipFill>
            <a:blip r:embed="rId2" cstate="print"/>
            <a:stretch>
              <a:fillRect/>
            </a:stretch>
          </a:blipFill>
        </p:spPr>
        <p:txBody>
          <a:bodyPr wrap="square" lIns="0" tIns="0" rIns="0" bIns="0" rtlCol="0">
            <a:noAutofit/>
          </a:bodyPr>
          <a:lstStyle/>
          <a:p>
            <a:endParaRPr/>
          </a:p>
        </p:txBody>
      </p:sp>
      <p:sp>
        <p:nvSpPr>
          <p:cNvPr id="3" name="object 11">
            <a:extLst>
              <a:ext uri="{FF2B5EF4-FFF2-40B4-BE49-F238E27FC236}">
                <a16:creationId xmlns:a16="http://schemas.microsoft.com/office/drawing/2014/main" id="{46DBE57D-BC43-4A76-836D-DA3ECB0D8800}"/>
              </a:ext>
            </a:extLst>
          </p:cNvPr>
          <p:cNvSpPr/>
          <p:nvPr/>
        </p:nvSpPr>
        <p:spPr>
          <a:xfrm flipV="1">
            <a:off x="1524000" y="6049107"/>
            <a:ext cx="9144000" cy="64484"/>
          </a:xfrm>
          <a:custGeom>
            <a:avLst/>
            <a:gdLst/>
            <a:ahLst/>
            <a:cxnLst/>
            <a:rect l="l" t="t" r="r" b="b"/>
            <a:pathLst>
              <a:path w="9144000">
                <a:moveTo>
                  <a:pt x="9144000" y="0"/>
                </a:moveTo>
                <a:lnTo>
                  <a:pt x="20573" y="0"/>
                </a:lnTo>
              </a:path>
              <a:path w="9144000">
                <a:moveTo>
                  <a:pt x="20573" y="1"/>
                </a:moveTo>
                <a:lnTo>
                  <a:pt x="9144000" y="0"/>
                </a:lnTo>
              </a:path>
            </a:pathLst>
          </a:custGeom>
          <a:ln w="28575">
            <a:solidFill>
              <a:srgbClr val="E6031E"/>
            </a:solidFill>
          </a:ln>
        </p:spPr>
        <p:txBody>
          <a:bodyPr wrap="square" lIns="0" tIns="0" rIns="0" bIns="0" rtlCol="0">
            <a:noAutofit/>
          </a:bodyPr>
          <a:lstStyle/>
          <a:p>
            <a:endParaRPr/>
          </a:p>
        </p:txBody>
      </p:sp>
      <p:sp>
        <p:nvSpPr>
          <p:cNvPr id="2" name="CuadroTexto 1">
            <a:extLst>
              <a:ext uri="{FF2B5EF4-FFF2-40B4-BE49-F238E27FC236}">
                <a16:creationId xmlns:a16="http://schemas.microsoft.com/office/drawing/2014/main" id="{4233ED77-700B-3070-AB13-45C8EA6C7C3A}"/>
              </a:ext>
            </a:extLst>
          </p:cNvPr>
          <p:cNvSpPr txBox="1"/>
          <p:nvPr/>
        </p:nvSpPr>
        <p:spPr>
          <a:xfrm>
            <a:off x="1524001" y="1896869"/>
            <a:ext cx="9143999" cy="646331"/>
          </a:xfrm>
          <a:prstGeom prst="rect">
            <a:avLst/>
          </a:prstGeom>
          <a:noFill/>
        </p:spPr>
        <p:txBody>
          <a:bodyPr wrap="square" rtlCol="0">
            <a:spAutoFit/>
          </a:bodyPr>
          <a:lstStyle/>
          <a:p>
            <a:pPr algn="just"/>
            <a:r>
              <a:rPr lang="es-ES" dirty="0">
                <a:latin typeface="Verdana" panose="020B0604030504040204" pitchFamily="34" charset="0"/>
                <a:ea typeface="Verdana" panose="020B0604030504040204" pitchFamily="34" charset="0"/>
                <a:cs typeface="Verdana" panose="020B0604030504040204" pitchFamily="34" charset="0"/>
              </a:rPr>
              <a:t>Existen 2 principios básicos de conteo que son la suma y el producto estas son algunas características generales para ambas:</a:t>
            </a:r>
          </a:p>
        </p:txBody>
      </p:sp>
      <p:sp>
        <p:nvSpPr>
          <p:cNvPr id="5" name="CuadroTexto 4">
            <a:extLst>
              <a:ext uri="{FF2B5EF4-FFF2-40B4-BE49-F238E27FC236}">
                <a16:creationId xmlns:a16="http://schemas.microsoft.com/office/drawing/2014/main" id="{E00DC304-AE09-8E94-4141-2211BDC7989F}"/>
              </a:ext>
            </a:extLst>
          </p:cNvPr>
          <p:cNvSpPr txBox="1"/>
          <p:nvPr/>
        </p:nvSpPr>
        <p:spPr>
          <a:xfrm>
            <a:off x="1524003" y="2649091"/>
            <a:ext cx="9143999" cy="1477328"/>
          </a:xfrm>
          <a:prstGeom prst="rect">
            <a:avLst/>
          </a:prstGeom>
          <a:noFill/>
        </p:spPr>
        <p:txBody>
          <a:bodyPr wrap="square" rtlCol="0">
            <a:spAutoFit/>
          </a:bodyPr>
          <a:lstStyle/>
          <a:p>
            <a:pPr marL="342900" indent="-342900" algn="just">
              <a:buFont typeface="+mj-lt"/>
              <a:buAutoNum type="arabicPeriod"/>
            </a:pPr>
            <a:r>
              <a:rPr lang="es-ES" dirty="0">
                <a:latin typeface="Verdana" panose="020B0604030504040204" pitchFamily="34" charset="0"/>
                <a:ea typeface="Verdana" panose="020B0604030504040204" pitchFamily="34" charset="0"/>
                <a:cs typeface="Verdana" panose="020B0604030504040204" pitchFamily="34" charset="0"/>
              </a:rPr>
              <a:t>Ambas son utilizadas para analizar problemas más complejos, que a menudo se pueden descomponer en partes que pueden resolverse mediante estos dos principios.</a:t>
            </a:r>
          </a:p>
          <a:p>
            <a:pPr marL="342900" indent="-342900" algn="just">
              <a:buFont typeface="+mj-lt"/>
              <a:buAutoNum type="arabicPeriod"/>
            </a:pPr>
            <a:endParaRPr lang="es-ES" dirty="0">
              <a:latin typeface="Verdana" panose="020B0604030504040204" pitchFamily="34" charset="0"/>
              <a:ea typeface="Verdana" panose="020B0604030504040204" pitchFamily="34" charset="0"/>
              <a:cs typeface="Verdana" panose="020B0604030504040204" pitchFamily="34" charset="0"/>
            </a:endParaRPr>
          </a:p>
          <a:p>
            <a:pPr marL="342900" indent="-342900" algn="just">
              <a:buFont typeface="+mj-lt"/>
              <a:buAutoNum type="arabicPeriod"/>
            </a:pPr>
            <a:endParaRPr lang="es-ES" dirty="0">
              <a:latin typeface="Verdana" panose="020B0604030504040204" pitchFamily="34" charset="0"/>
              <a:ea typeface="Verdana" panose="020B0604030504040204" pitchFamily="34" charset="0"/>
              <a:cs typeface="Verdana" panose="020B0604030504040204" pitchFamily="34" charset="0"/>
            </a:endParaRPr>
          </a:p>
        </p:txBody>
      </p:sp>
      <p:sp>
        <p:nvSpPr>
          <p:cNvPr id="7" name="CuadroTexto 6">
            <a:extLst>
              <a:ext uri="{FF2B5EF4-FFF2-40B4-BE49-F238E27FC236}">
                <a16:creationId xmlns:a16="http://schemas.microsoft.com/office/drawing/2014/main" id="{AA983FFE-E324-3406-0529-87FA3EEE92AF}"/>
              </a:ext>
            </a:extLst>
          </p:cNvPr>
          <p:cNvSpPr txBox="1"/>
          <p:nvPr/>
        </p:nvSpPr>
        <p:spPr>
          <a:xfrm>
            <a:off x="1524001" y="3718192"/>
            <a:ext cx="9143999" cy="646331"/>
          </a:xfrm>
          <a:prstGeom prst="rect">
            <a:avLst/>
          </a:prstGeom>
          <a:noFill/>
        </p:spPr>
        <p:txBody>
          <a:bodyPr wrap="square" rtlCol="0">
            <a:spAutoFit/>
          </a:bodyPr>
          <a:lstStyle/>
          <a:p>
            <a:pPr algn="just"/>
            <a:r>
              <a:rPr lang="es-ES" dirty="0">
                <a:latin typeface="Verdana" panose="020B0604030504040204" pitchFamily="34" charset="0"/>
                <a:ea typeface="Verdana" panose="020B0604030504040204" pitchFamily="34" charset="0"/>
                <a:cs typeface="Verdana" panose="020B0604030504040204" pitchFamily="34" charset="0"/>
              </a:rPr>
              <a:t>2. Permiten desarrollar la capacidad de “descomponer” dichos problemas y acomodar las soluciones parciales para llegar a una respuesta final.</a:t>
            </a:r>
          </a:p>
        </p:txBody>
      </p:sp>
      <p:sp>
        <p:nvSpPr>
          <p:cNvPr id="8" name="CuadroTexto 7">
            <a:extLst>
              <a:ext uri="{FF2B5EF4-FFF2-40B4-BE49-F238E27FC236}">
                <a16:creationId xmlns:a16="http://schemas.microsoft.com/office/drawing/2014/main" id="{E65BFF13-A7B8-7042-DB4E-D1CCE33E2C5D}"/>
              </a:ext>
            </a:extLst>
          </p:cNvPr>
          <p:cNvSpPr txBox="1"/>
          <p:nvPr/>
        </p:nvSpPr>
        <p:spPr>
          <a:xfrm>
            <a:off x="1524001" y="4351271"/>
            <a:ext cx="9143999" cy="1200329"/>
          </a:xfrm>
          <a:prstGeom prst="rect">
            <a:avLst/>
          </a:prstGeom>
          <a:noFill/>
        </p:spPr>
        <p:txBody>
          <a:bodyPr wrap="square" rtlCol="0">
            <a:spAutoFit/>
          </a:bodyPr>
          <a:lstStyle/>
          <a:p>
            <a:pPr algn="just"/>
            <a:endParaRPr lang="es-ES" dirty="0">
              <a:latin typeface="Verdana" panose="020B0604030504040204" pitchFamily="34" charset="0"/>
              <a:ea typeface="Verdana" panose="020B0604030504040204" pitchFamily="34" charset="0"/>
              <a:cs typeface="Verdana" panose="020B0604030504040204" pitchFamily="34" charset="0"/>
            </a:endParaRPr>
          </a:p>
          <a:p>
            <a:pPr algn="just"/>
            <a:r>
              <a:rPr lang="es-ES" dirty="0">
                <a:latin typeface="Verdana" panose="020B0604030504040204" pitchFamily="34" charset="0"/>
                <a:ea typeface="Verdana" panose="020B0604030504040204" pitchFamily="34" charset="0"/>
                <a:cs typeface="Verdana" panose="020B0604030504040204" pitchFamily="34" charset="0"/>
              </a:rPr>
              <a:t>3. Todo lo anterior se realiza analizando y resolviendo muchos problemas de enumeración teniendo en cuenta todos y cada uno de los principios utilizados en la solución.</a:t>
            </a:r>
            <a:endParaRPr lang="es-CO" dirty="0">
              <a:latin typeface="Verdana" panose="020B0604030504040204" pitchFamily="34" charset="0"/>
              <a:ea typeface="Verdana" panose="020B0604030504040204" pitchFamily="34" charset="0"/>
              <a:cs typeface="Verdana" panose="020B0604030504040204" pitchFamily="34" charset="0"/>
            </a:endParaRPr>
          </a:p>
        </p:txBody>
      </p:sp>
    </p:spTree>
    <p:extLst>
      <p:ext uri="{BB962C8B-B14F-4D97-AF65-F5344CB8AC3E}">
        <p14:creationId xmlns:p14="http://schemas.microsoft.com/office/powerpoint/2010/main" val="25583794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7"/>
                                        </p:tgtEl>
                                        <p:attrNameLst>
                                          <p:attrName>style.visibility</p:attrName>
                                        </p:attrNameLst>
                                      </p:cBhvr>
                                      <p:to>
                                        <p:strVal val="visible"/>
                                      </p:to>
                                    </p:set>
                                    <p:anim calcmode="lin" valueType="num">
                                      <p:cBhvr additive="base">
                                        <p:cTn id="13" dur="500" fill="hold"/>
                                        <p:tgtEl>
                                          <p:spTgt spid="7"/>
                                        </p:tgtEl>
                                        <p:attrNameLst>
                                          <p:attrName>ppt_x</p:attrName>
                                        </p:attrNameLst>
                                      </p:cBhvr>
                                      <p:tavLst>
                                        <p:tav tm="0">
                                          <p:val>
                                            <p:strVal val="#ppt_x"/>
                                          </p:val>
                                        </p:tav>
                                        <p:tav tm="100000">
                                          <p:val>
                                            <p:strVal val="#ppt_x"/>
                                          </p:val>
                                        </p:tav>
                                      </p:tavLst>
                                    </p:anim>
                                    <p:anim calcmode="lin" valueType="num">
                                      <p:cBhvr additive="base">
                                        <p:cTn id="14"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8"/>
                                        </p:tgtEl>
                                        <p:attrNameLst>
                                          <p:attrName>style.visibility</p:attrName>
                                        </p:attrNameLst>
                                      </p:cBhvr>
                                      <p:to>
                                        <p:strVal val="visible"/>
                                      </p:to>
                                    </p:set>
                                    <p:anim calcmode="lin" valueType="num">
                                      <p:cBhvr additive="base">
                                        <p:cTn id="19" dur="500" fill="hold"/>
                                        <p:tgtEl>
                                          <p:spTgt spid="8"/>
                                        </p:tgtEl>
                                        <p:attrNameLst>
                                          <p:attrName>ppt_x</p:attrName>
                                        </p:attrNameLst>
                                      </p:cBhvr>
                                      <p:tavLst>
                                        <p:tav tm="0">
                                          <p:val>
                                            <p:strVal val="#ppt_x"/>
                                          </p:val>
                                        </p:tav>
                                        <p:tav tm="100000">
                                          <p:val>
                                            <p:strVal val="#ppt_x"/>
                                          </p:val>
                                        </p:tav>
                                      </p:tavLst>
                                    </p:anim>
                                    <p:anim calcmode="lin" valueType="num">
                                      <p:cBhvr additive="base">
                                        <p:cTn id="20" dur="500" fill="hold"/>
                                        <p:tgtEl>
                                          <p:spTgt spid="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7" grpId="0"/>
      <p:bldP spid="8"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uadroTexto 4">
            <a:extLst>
              <a:ext uri="{FF2B5EF4-FFF2-40B4-BE49-F238E27FC236}">
                <a16:creationId xmlns:a16="http://schemas.microsoft.com/office/drawing/2014/main" id="{269A2515-6534-9DF8-FD92-257B45E64BB0}"/>
              </a:ext>
            </a:extLst>
          </p:cNvPr>
          <p:cNvSpPr txBox="1"/>
          <p:nvPr/>
        </p:nvSpPr>
        <p:spPr>
          <a:xfrm>
            <a:off x="1523998" y="1681557"/>
            <a:ext cx="9144001" cy="1200329"/>
          </a:xfrm>
          <a:prstGeom prst="rect">
            <a:avLst/>
          </a:prstGeom>
          <a:noFill/>
        </p:spPr>
        <p:txBody>
          <a:bodyPr wrap="square" rtlCol="0">
            <a:spAutoFit/>
          </a:bodyPr>
          <a:lstStyle/>
          <a:p>
            <a:pPr algn="just"/>
            <a:r>
              <a:rPr lang="es-ES" dirty="0">
                <a:latin typeface="Verdana" panose="020B0604030504040204" pitchFamily="34" charset="0"/>
                <a:ea typeface="Verdana" panose="020B0604030504040204" pitchFamily="34" charset="0"/>
                <a:cs typeface="Verdana" panose="020B0604030504040204" pitchFamily="34" charset="0"/>
              </a:rPr>
              <a:t>Si una primera tarea se puede resolver de n</a:t>
            </a:r>
            <a:r>
              <a:rPr lang="es-ES" baseline="-25000" dirty="0">
                <a:latin typeface="Verdana" panose="020B0604030504040204" pitchFamily="34" charset="0"/>
                <a:ea typeface="Verdana" panose="020B0604030504040204" pitchFamily="34" charset="0"/>
                <a:cs typeface="Verdana" panose="020B0604030504040204" pitchFamily="34" charset="0"/>
              </a:rPr>
              <a:t>1</a:t>
            </a:r>
            <a:r>
              <a:rPr lang="es-ES" dirty="0">
                <a:latin typeface="Verdana" panose="020B0604030504040204" pitchFamily="34" charset="0"/>
                <a:ea typeface="Verdana" panose="020B0604030504040204" pitchFamily="34" charset="0"/>
                <a:cs typeface="Verdana" panose="020B0604030504040204" pitchFamily="34" charset="0"/>
              </a:rPr>
              <a:t> formas y una segunda tarea se puede resolver de n</a:t>
            </a:r>
            <a:r>
              <a:rPr lang="es-ES" baseline="-25000" dirty="0">
                <a:latin typeface="Verdana" panose="020B0604030504040204" pitchFamily="34" charset="0"/>
                <a:ea typeface="Verdana" panose="020B0604030504040204" pitchFamily="34" charset="0"/>
                <a:cs typeface="Verdana" panose="020B0604030504040204" pitchFamily="34" charset="0"/>
              </a:rPr>
              <a:t>2</a:t>
            </a:r>
            <a:r>
              <a:rPr lang="es-ES" dirty="0">
                <a:latin typeface="Verdana" panose="020B0604030504040204" pitchFamily="34" charset="0"/>
                <a:ea typeface="Verdana" panose="020B0604030504040204" pitchFamily="34" charset="0"/>
                <a:cs typeface="Verdana" panose="020B0604030504040204" pitchFamily="34" charset="0"/>
              </a:rPr>
              <a:t> formas y, además, no pueden ser resueltas simultáneamente (incompatibles); entonces esas tareas se pueden resolver de n</a:t>
            </a:r>
            <a:r>
              <a:rPr lang="es-ES" baseline="-25000" dirty="0">
                <a:latin typeface="Verdana" panose="020B0604030504040204" pitchFamily="34" charset="0"/>
                <a:ea typeface="Verdana" panose="020B0604030504040204" pitchFamily="34" charset="0"/>
                <a:cs typeface="Verdana" panose="020B0604030504040204" pitchFamily="34" charset="0"/>
              </a:rPr>
              <a:t>1</a:t>
            </a:r>
            <a:r>
              <a:rPr lang="es-ES" dirty="0">
                <a:latin typeface="Verdana" panose="020B0604030504040204" pitchFamily="34" charset="0"/>
                <a:ea typeface="Verdana" panose="020B0604030504040204" pitchFamily="34" charset="0"/>
                <a:cs typeface="Verdana" panose="020B0604030504040204" pitchFamily="34" charset="0"/>
              </a:rPr>
              <a:t> + n</a:t>
            </a:r>
            <a:r>
              <a:rPr lang="es-ES" baseline="-25000" dirty="0">
                <a:latin typeface="Verdana" panose="020B0604030504040204" pitchFamily="34" charset="0"/>
                <a:ea typeface="Verdana" panose="020B0604030504040204" pitchFamily="34" charset="0"/>
                <a:cs typeface="Verdana" panose="020B0604030504040204" pitchFamily="34" charset="0"/>
              </a:rPr>
              <a:t>2</a:t>
            </a:r>
            <a:r>
              <a:rPr lang="es-ES" dirty="0">
                <a:latin typeface="Verdana" panose="020B0604030504040204" pitchFamily="34" charset="0"/>
                <a:ea typeface="Verdana" panose="020B0604030504040204" pitchFamily="34" charset="0"/>
                <a:cs typeface="Verdana" panose="020B0604030504040204" pitchFamily="34" charset="0"/>
              </a:rPr>
              <a:t> formas de realizar una de las dos tareas.</a:t>
            </a:r>
          </a:p>
        </p:txBody>
      </p:sp>
      <p:sp>
        <p:nvSpPr>
          <p:cNvPr id="4" name="object 9"/>
          <p:cNvSpPr/>
          <p:nvPr/>
        </p:nvSpPr>
        <p:spPr>
          <a:xfrm>
            <a:off x="1524000" y="473139"/>
            <a:ext cx="9144000" cy="649224"/>
          </a:xfrm>
          <a:custGeom>
            <a:avLst/>
            <a:gdLst/>
            <a:ahLst/>
            <a:cxnLst/>
            <a:rect l="l" t="t" r="r" b="b"/>
            <a:pathLst>
              <a:path w="9144000" h="649224">
                <a:moveTo>
                  <a:pt x="9144000" y="649223"/>
                </a:moveTo>
                <a:lnTo>
                  <a:pt x="9144000" y="0"/>
                </a:lnTo>
                <a:lnTo>
                  <a:pt x="0" y="0"/>
                </a:lnTo>
                <a:lnTo>
                  <a:pt x="0" y="649224"/>
                </a:lnTo>
                <a:lnTo>
                  <a:pt x="9144000" y="649223"/>
                </a:lnTo>
                <a:close/>
              </a:path>
            </a:pathLst>
          </a:custGeom>
          <a:solidFill>
            <a:srgbClr val="E6031E"/>
          </a:solidFill>
        </p:spPr>
        <p:txBody>
          <a:bodyPr wrap="square" lIns="0" tIns="0" rIns="0" bIns="0" rtlCol="0">
            <a:noAutofit/>
          </a:bodyPr>
          <a:lstStyle/>
          <a:p>
            <a:pPr algn="ctr"/>
            <a:r>
              <a:rPr lang="es-CO" sz="2400" b="1" dirty="0">
                <a:solidFill>
                  <a:schemeClr val="bg1"/>
                </a:solidFill>
                <a:latin typeface="Verdana" panose="020B0604030504040204" pitchFamily="34" charset="0"/>
                <a:ea typeface="Verdana" panose="020B0604030504040204" pitchFamily="34" charset="0"/>
                <a:cs typeface="Verdana" panose="020B0604030504040204" pitchFamily="34" charset="0"/>
              </a:rPr>
              <a:t>REGLA DE LA SUMA</a:t>
            </a:r>
            <a:endParaRPr sz="2400" b="1" dirty="0">
              <a:solidFill>
                <a:schemeClr val="bg1"/>
              </a:solidFill>
              <a:latin typeface="Verdana" panose="020B0604030504040204" pitchFamily="34" charset="0"/>
              <a:ea typeface="Verdana" panose="020B0604030504040204" pitchFamily="34" charset="0"/>
              <a:cs typeface="Verdana" panose="020B0604030504040204" pitchFamily="34" charset="0"/>
            </a:endParaRPr>
          </a:p>
        </p:txBody>
      </p:sp>
      <p:sp>
        <p:nvSpPr>
          <p:cNvPr id="6" name="object 12"/>
          <p:cNvSpPr/>
          <p:nvPr/>
        </p:nvSpPr>
        <p:spPr>
          <a:xfrm>
            <a:off x="10242773" y="6153222"/>
            <a:ext cx="425227" cy="549401"/>
          </a:xfrm>
          <a:prstGeom prst="rect">
            <a:avLst/>
          </a:prstGeom>
          <a:blipFill>
            <a:blip r:embed="rId2" cstate="print"/>
            <a:stretch>
              <a:fillRect/>
            </a:stretch>
          </a:blipFill>
        </p:spPr>
        <p:txBody>
          <a:bodyPr wrap="square" lIns="0" tIns="0" rIns="0" bIns="0" rtlCol="0">
            <a:noAutofit/>
          </a:bodyPr>
          <a:lstStyle/>
          <a:p>
            <a:endParaRPr/>
          </a:p>
        </p:txBody>
      </p:sp>
      <p:sp>
        <p:nvSpPr>
          <p:cNvPr id="3" name="object 11">
            <a:extLst>
              <a:ext uri="{FF2B5EF4-FFF2-40B4-BE49-F238E27FC236}">
                <a16:creationId xmlns:a16="http://schemas.microsoft.com/office/drawing/2014/main" id="{46DBE57D-BC43-4A76-836D-DA3ECB0D8800}"/>
              </a:ext>
            </a:extLst>
          </p:cNvPr>
          <p:cNvSpPr/>
          <p:nvPr/>
        </p:nvSpPr>
        <p:spPr>
          <a:xfrm flipV="1">
            <a:off x="1524000" y="6049107"/>
            <a:ext cx="9144000" cy="64484"/>
          </a:xfrm>
          <a:custGeom>
            <a:avLst/>
            <a:gdLst/>
            <a:ahLst/>
            <a:cxnLst/>
            <a:rect l="l" t="t" r="r" b="b"/>
            <a:pathLst>
              <a:path w="9144000">
                <a:moveTo>
                  <a:pt x="9144000" y="0"/>
                </a:moveTo>
                <a:lnTo>
                  <a:pt x="20573" y="0"/>
                </a:lnTo>
              </a:path>
              <a:path w="9144000">
                <a:moveTo>
                  <a:pt x="20573" y="1"/>
                </a:moveTo>
                <a:lnTo>
                  <a:pt x="9144000" y="0"/>
                </a:lnTo>
              </a:path>
            </a:pathLst>
          </a:custGeom>
          <a:ln w="28575">
            <a:solidFill>
              <a:srgbClr val="E6031E"/>
            </a:solidFill>
          </a:ln>
        </p:spPr>
        <p:txBody>
          <a:bodyPr wrap="square" lIns="0" tIns="0" rIns="0" bIns="0" rtlCol="0">
            <a:noAutofit/>
          </a:bodyPr>
          <a:lstStyle/>
          <a:p>
            <a:endParaRPr/>
          </a:p>
        </p:txBody>
      </p:sp>
      <p:sp>
        <p:nvSpPr>
          <p:cNvPr id="7" name="CuadroTexto 6">
            <a:extLst>
              <a:ext uri="{FF2B5EF4-FFF2-40B4-BE49-F238E27FC236}">
                <a16:creationId xmlns:a16="http://schemas.microsoft.com/office/drawing/2014/main" id="{81FD0DD9-AFFA-A5CD-EEE2-9F0FDD48B2CF}"/>
              </a:ext>
            </a:extLst>
          </p:cNvPr>
          <p:cNvSpPr txBox="1"/>
          <p:nvPr/>
        </p:nvSpPr>
        <p:spPr>
          <a:xfrm>
            <a:off x="1523997" y="3441080"/>
            <a:ext cx="9143999" cy="646331"/>
          </a:xfrm>
          <a:prstGeom prst="rect">
            <a:avLst/>
          </a:prstGeom>
          <a:noFill/>
        </p:spPr>
        <p:txBody>
          <a:bodyPr wrap="square" rtlCol="0">
            <a:spAutoFit/>
          </a:bodyPr>
          <a:lstStyle/>
          <a:p>
            <a:pPr algn="just"/>
            <a:r>
              <a:rPr lang="es-ES" b="1" dirty="0">
                <a:latin typeface="Verdana" panose="020B0604030504040204" pitchFamily="34" charset="0"/>
                <a:ea typeface="Verdana" panose="020B0604030504040204" pitchFamily="34" charset="0"/>
                <a:cs typeface="Verdana" panose="020B0604030504040204" pitchFamily="34" charset="0"/>
              </a:rPr>
              <a:t>Ejemplo:</a:t>
            </a:r>
            <a:r>
              <a:rPr lang="es-ES" dirty="0">
                <a:latin typeface="Verdana" panose="020B0604030504040204" pitchFamily="34" charset="0"/>
                <a:ea typeface="Verdana" panose="020B0604030504040204" pitchFamily="34" charset="0"/>
                <a:cs typeface="Verdana" panose="020B0604030504040204" pitchFamily="34" charset="0"/>
              </a:rPr>
              <a:t> La biblioteca de una universidad tiene 40 libros de texto de psicología y 50 de antropología.</a:t>
            </a:r>
            <a:endParaRPr lang="es-CO" dirty="0">
              <a:latin typeface="Verdana" panose="020B0604030504040204" pitchFamily="34" charset="0"/>
              <a:ea typeface="Verdana" panose="020B0604030504040204" pitchFamily="34" charset="0"/>
              <a:cs typeface="Verdana" panose="020B0604030504040204" pitchFamily="34" charset="0"/>
            </a:endParaRPr>
          </a:p>
        </p:txBody>
      </p:sp>
      <p:sp>
        <p:nvSpPr>
          <p:cNvPr id="8" name="CuadroTexto 7">
            <a:extLst>
              <a:ext uri="{FF2B5EF4-FFF2-40B4-BE49-F238E27FC236}">
                <a16:creationId xmlns:a16="http://schemas.microsoft.com/office/drawing/2014/main" id="{5408180F-0052-400D-A237-747216F792E2}"/>
              </a:ext>
            </a:extLst>
          </p:cNvPr>
          <p:cNvSpPr txBox="1"/>
          <p:nvPr/>
        </p:nvSpPr>
        <p:spPr>
          <a:xfrm>
            <a:off x="1523998" y="4714778"/>
            <a:ext cx="9143998" cy="923330"/>
          </a:xfrm>
          <a:prstGeom prst="rect">
            <a:avLst/>
          </a:prstGeom>
          <a:noFill/>
        </p:spPr>
        <p:txBody>
          <a:bodyPr wrap="square" rtlCol="0">
            <a:spAutoFit/>
          </a:bodyPr>
          <a:lstStyle/>
          <a:p>
            <a:pPr algn="just"/>
            <a:r>
              <a:rPr lang="es-ES" b="1" dirty="0">
                <a:latin typeface="Verdana" panose="020B0604030504040204" pitchFamily="34" charset="0"/>
                <a:ea typeface="Verdana" panose="020B0604030504040204" pitchFamily="34" charset="0"/>
                <a:cs typeface="Verdana" panose="020B0604030504040204" pitchFamily="34" charset="0"/>
              </a:rPr>
              <a:t>Solución: </a:t>
            </a:r>
            <a:r>
              <a:rPr lang="es-ES" dirty="0">
                <a:latin typeface="Verdana" panose="020B0604030504040204" pitchFamily="34" charset="0"/>
                <a:ea typeface="Verdana" panose="020B0604030504040204" pitchFamily="34" charset="0"/>
                <a:cs typeface="Verdana" panose="020B0604030504040204" pitchFamily="34" charset="0"/>
              </a:rPr>
              <a:t>por la regla de la suma, un estudiante de esta universidad puede elegir entre 40 + 50 = 90 libros de texto para aprender acerca de alguno de estos dos temas.</a:t>
            </a:r>
            <a:endParaRPr lang="es-CO" dirty="0">
              <a:latin typeface="Verdana" panose="020B0604030504040204" pitchFamily="34" charset="0"/>
              <a:ea typeface="Verdana" panose="020B0604030504040204" pitchFamily="34" charset="0"/>
              <a:cs typeface="Verdana" panose="020B0604030504040204" pitchFamily="34" charset="0"/>
            </a:endParaRPr>
          </a:p>
        </p:txBody>
      </p:sp>
    </p:spTree>
    <p:extLst>
      <p:ext uri="{BB962C8B-B14F-4D97-AF65-F5344CB8AC3E}">
        <p14:creationId xmlns:p14="http://schemas.microsoft.com/office/powerpoint/2010/main" val="203780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ppt_x"/>
                                          </p:val>
                                        </p:tav>
                                        <p:tav tm="100000">
                                          <p:val>
                                            <p:strVal val="#ppt_x"/>
                                          </p:val>
                                        </p:tav>
                                      </p:tavLst>
                                    </p:anim>
                                    <p:anim calcmode="lin" valueType="num">
                                      <p:cBhvr additive="base">
                                        <p:cTn id="8"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8"/>
                                        </p:tgtEl>
                                        <p:attrNameLst>
                                          <p:attrName>style.visibility</p:attrName>
                                        </p:attrNameLst>
                                      </p:cBhvr>
                                      <p:to>
                                        <p:strVal val="visible"/>
                                      </p:to>
                                    </p:set>
                                    <p:anim calcmode="lin" valueType="num">
                                      <p:cBhvr additive="base">
                                        <p:cTn id="13" dur="500" fill="hold"/>
                                        <p:tgtEl>
                                          <p:spTgt spid="8"/>
                                        </p:tgtEl>
                                        <p:attrNameLst>
                                          <p:attrName>ppt_x</p:attrName>
                                        </p:attrNameLst>
                                      </p:cBhvr>
                                      <p:tavLst>
                                        <p:tav tm="0">
                                          <p:val>
                                            <p:strVal val="#ppt_x"/>
                                          </p:val>
                                        </p:tav>
                                        <p:tav tm="100000">
                                          <p:val>
                                            <p:strVal val="#ppt_x"/>
                                          </p:val>
                                        </p:tav>
                                      </p:tavLst>
                                    </p:anim>
                                    <p:anim calcmode="lin" valueType="num">
                                      <p:cBhvr additive="base">
                                        <p:cTn id="14" dur="500" fill="hold"/>
                                        <p:tgtEl>
                                          <p:spTgt spid="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9"/>
          <p:cNvSpPr/>
          <p:nvPr/>
        </p:nvSpPr>
        <p:spPr>
          <a:xfrm>
            <a:off x="1524000" y="473139"/>
            <a:ext cx="9144000" cy="649224"/>
          </a:xfrm>
          <a:custGeom>
            <a:avLst/>
            <a:gdLst/>
            <a:ahLst/>
            <a:cxnLst/>
            <a:rect l="l" t="t" r="r" b="b"/>
            <a:pathLst>
              <a:path w="9144000" h="649224">
                <a:moveTo>
                  <a:pt x="9144000" y="649223"/>
                </a:moveTo>
                <a:lnTo>
                  <a:pt x="9144000" y="0"/>
                </a:lnTo>
                <a:lnTo>
                  <a:pt x="0" y="0"/>
                </a:lnTo>
                <a:lnTo>
                  <a:pt x="0" y="649224"/>
                </a:lnTo>
                <a:lnTo>
                  <a:pt x="9144000" y="649223"/>
                </a:lnTo>
                <a:close/>
              </a:path>
            </a:pathLst>
          </a:custGeom>
          <a:solidFill>
            <a:srgbClr val="E6031E"/>
          </a:solidFill>
        </p:spPr>
        <p:txBody>
          <a:bodyPr wrap="square" lIns="0" tIns="0" rIns="0" bIns="0" rtlCol="0">
            <a:noAutofit/>
          </a:bodyPr>
          <a:lstStyle/>
          <a:p>
            <a:pPr algn="ctr"/>
            <a:r>
              <a:rPr lang="es-CO" sz="2400" b="1" dirty="0">
                <a:solidFill>
                  <a:schemeClr val="bg1"/>
                </a:solidFill>
                <a:latin typeface="Verdana" panose="020B0604030504040204" pitchFamily="34" charset="0"/>
                <a:ea typeface="Verdana" panose="020B0604030504040204" pitchFamily="34" charset="0"/>
                <a:cs typeface="Verdana" panose="020B0604030504040204" pitchFamily="34" charset="0"/>
              </a:rPr>
              <a:t>REGLA DE LA SUMA</a:t>
            </a:r>
            <a:endParaRPr sz="2400" b="1" dirty="0">
              <a:solidFill>
                <a:schemeClr val="bg1"/>
              </a:solidFill>
              <a:latin typeface="Verdana" panose="020B0604030504040204" pitchFamily="34" charset="0"/>
              <a:ea typeface="Verdana" panose="020B0604030504040204" pitchFamily="34" charset="0"/>
              <a:cs typeface="Verdana" panose="020B0604030504040204" pitchFamily="34" charset="0"/>
            </a:endParaRPr>
          </a:p>
        </p:txBody>
      </p:sp>
      <p:sp>
        <p:nvSpPr>
          <p:cNvPr id="6" name="object 12"/>
          <p:cNvSpPr/>
          <p:nvPr/>
        </p:nvSpPr>
        <p:spPr>
          <a:xfrm>
            <a:off x="10242773" y="6153222"/>
            <a:ext cx="425227" cy="549401"/>
          </a:xfrm>
          <a:prstGeom prst="rect">
            <a:avLst/>
          </a:prstGeom>
          <a:blipFill>
            <a:blip r:embed="rId2" cstate="print"/>
            <a:stretch>
              <a:fillRect/>
            </a:stretch>
          </a:blipFill>
        </p:spPr>
        <p:txBody>
          <a:bodyPr wrap="square" lIns="0" tIns="0" rIns="0" bIns="0" rtlCol="0">
            <a:noAutofit/>
          </a:bodyPr>
          <a:lstStyle/>
          <a:p>
            <a:endParaRPr/>
          </a:p>
        </p:txBody>
      </p:sp>
      <p:sp>
        <p:nvSpPr>
          <p:cNvPr id="3" name="object 11">
            <a:extLst>
              <a:ext uri="{FF2B5EF4-FFF2-40B4-BE49-F238E27FC236}">
                <a16:creationId xmlns:a16="http://schemas.microsoft.com/office/drawing/2014/main" id="{46DBE57D-BC43-4A76-836D-DA3ECB0D8800}"/>
              </a:ext>
            </a:extLst>
          </p:cNvPr>
          <p:cNvSpPr/>
          <p:nvPr/>
        </p:nvSpPr>
        <p:spPr>
          <a:xfrm flipV="1">
            <a:off x="1524000" y="6049107"/>
            <a:ext cx="9144000" cy="64484"/>
          </a:xfrm>
          <a:custGeom>
            <a:avLst/>
            <a:gdLst/>
            <a:ahLst/>
            <a:cxnLst/>
            <a:rect l="l" t="t" r="r" b="b"/>
            <a:pathLst>
              <a:path w="9144000">
                <a:moveTo>
                  <a:pt x="9144000" y="0"/>
                </a:moveTo>
                <a:lnTo>
                  <a:pt x="20573" y="0"/>
                </a:lnTo>
              </a:path>
              <a:path w="9144000">
                <a:moveTo>
                  <a:pt x="20573" y="1"/>
                </a:moveTo>
                <a:lnTo>
                  <a:pt x="9144000" y="0"/>
                </a:lnTo>
              </a:path>
            </a:pathLst>
          </a:custGeom>
          <a:ln w="28575">
            <a:solidFill>
              <a:srgbClr val="E6031E"/>
            </a:solidFill>
          </a:ln>
        </p:spPr>
        <p:txBody>
          <a:bodyPr wrap="square" lIns="0" tIns="0" rIns="0" bIns="0" rtlCol="0">
            <a:noAutofit/>
          </a:bodyPr>
          <a:lstStyle/>
          <a:p>
            <a:endParaRPr/>
          </a:p>
        </p:txBody>
      </p:sp>
      <p:sp>
        <p:nvSpPr>
          <p:cNvPr id="9" name="CuadroTexto 8">
            <a:extLst>
              <a:ext uri="{FF2B5EF4-FFF2-40B4-BE49-F238E27FC236}">
                <a16:creationId xmlns:a16="http://schemas.microsoft.com/office/drawing/2014/main" id="{31F2CC57-E991-4CCB-C0C0-BB1737706EC6}"/>
              </a:ext>
            </a:extLst>
          </p:cNvPr>
          <p:cNvSpPr txBox="1"/>
          <p:nvPr/>
        </p:nvSpPr>
        <p:spPr>
          <a:xfrm>
            <a:off x="1523999" y="1590516"/>
            <a:ext cx="9143999" cy="1477328"/>
          </a:xfrm>
          <a:prstGeom prst="rect">
            <a:avLst/>
          </a:prstGeom>
          <a:noFill/>
        </p:spPr>
        <p:txBody>
          <a:bodyPr wrap="square" rtlCol="0">
            <a:spAutoFit/>
          </a:bodyPr>
          <a:lstStyle/>
          <a:p>
            <a:pPr algn="just"/>
            <a:r>
              <a:rPr lang="es-ES" b="1" dirty="0">
                <a:latin typeface="Verdana" panose="020B0604030504040204" pitchFamily="34" charset="0"/>
                <a:ea typeface="Verdana" panose="020B0604030504040204" pitchFamily="34" charset="0"/>
                <a:cs typeface="Verdana" panose="020B0604030504040204" pitchFamily="34" charset="0"/>
              </a:rPr>
              <a:t>Ejemplo: </a:t>
            </a:r>
            <a:r>
              <a:rPr lang="es-ES" dirty="0">
                <a:latin typeface="Verdana" panose="020B0604030504040204" pitchFamily="34" charset="0"/>
                <a:ea typeface="Verdana" panose="020B0604030504040204" pitchFamily="34" charset="0"/>
                <a:cs typeface="Verdana" panose="020B0604030504040204" pitchFamily="34" charset="0"/>
              </a:rPr>
              <a:t>Suponga que un miembro de la facultad de matemáticas puede ser escogido como un representante a un comité universitario. ¿Cuántas formas diferentes de asignar este representante hay, conociendo que hay 37 miembros de la facultad de matemáticas y 83 estudiantes de doctorado de ciencias de la computación?</a:t>
            </a:r>
          </a:p>
        </p:txBody>
      </p:sp>
      <p:sp>
        <p:nvSpPr>
          <p:cNvPr id="10" name="CuadroTexto 9">
            <a:extLst>
              <a:ext uri="{FF2B5EF4-FFF2-40B4-BE49-F238E27FC236}">
                <a16:creationId xmlns:a16="http://schemas.microsoft.com/office/drawing/2014/main" id="{66D82E5B-F9EE-E35E-3BC5-8EC0CD336005}"/>
              </a:ext>
            </a:extLst>
          </p:cNvPr>
          <p:cNvSpPr txBox="1"/>
          <p:nvPr/>
        </p:nvSpPr>
        <p:spPr>
          <a:xfrm>
            <a:off x="1523995" y="5191557"/>
            <a:ext cx="9144001" cy="1200329"/>
          </a:xfrm>
          <a:prstGeom prst="rect">
            <a:avLst/>
          </a:prstGeom>
          <a:noFill/>
        </p:spPr>
        <p:txBody>
          <a:bodyPr wrap="square" rtlCol="0">
            <a:spAutoFit/>
          </a:bodyPr>
          <a:lstStyle/>
          <a:p>
            <a:pPr algn="just"/>
            <a:r>
              <a:rPr lang="es-ES" dirty="0">
                <a:latin typeface="Verdana" panose="020B0604030504040204" pitchFamily="34" charset="0"/>
                <a:ea typeface="Verdana" panose="020B0604030504040204" pitchFamily="34" charset="0"/>
                <a:cs typeface="Verdana" panose="020B0604030504040204" pitchFamily="34" charset="0"/>
              </a:rPr>
              <a:t>La regla de la suma puede ampliarse a más de dos tareas siempre que ninguna pareja de tareas pueda ocurrir en forma simultánea (mutuamente excluyente). </a:t>
            </a:r>
            <a:endParaRPr lang="es-CO" dirty="0">
              <a:latin typeface="Verdana" panose="020B0604030504040204" pitchFamily="34" charset="0"/>
              <a:ea typeface="Verdana" panose="020B0604030504040204" pitchFamily="34" charset="0"/>
              <a:cs typeface="Verdana" panose="020B0604030504040204" pitchFamily="34" charset="0"/>
            </a:endParaRPr>
          </a:p>
          <a:p>
            <a:pPr algn="just"/>
            <a:endParaRPr lang="es-CO" dirty="0"/>
          </a:p>
        </p:txBody>
      </p:sp>
      <p:sp>
        <p:nvSpPr>
          <p:cNvPr id="2" name="CuadroTexto 1">
            <a:extLst>
              <a:ext uri="{FF2B5EF4-FFF2-40B4-BE49-F238E27FC236}">
                <a16:creationId xmlns:a16="http://schemas.microsoft.com/office/drawing/2014/main" id="{2A6F0F10-4C53-E3ED-5C7B-F5B8DC945CF8}"/>
              </a:ext>
            </a:extLst>
          </p:cNvPr>
          <p:cNvSpPr txBox="1"/>
          <p:nvPr/>
        </p:nvSpPr>
        <p:spPr>
          <a:xfrm>
            <a:off x="1523996" y="3063694"/>
            <a:ext cx="9144001" cy="2308324"/>
          </a:xfrm>
          <a:prstGeom prst="rect">
            <a:avLst/>
          </a:prstGeom>
          <a:noFill/>
        </p:spPr>
        <p:txBody>
          <a:bodyPr wrap="square" rtlCol="0">
            <a:spAutoFit/>
          </a:bodyPr>
          <a:lstStyle/>
          <a:p>
            <a:pPr algn="just"/>
            <a:r>
              <a:rPr lang="es-MX" b="1" dirty="0">
                <a:latin typeface="Verdana" panose="020B0604030504040204" pitchFamily="34" charset="0"/>
                <a:ea typeface="Verdana" panose="020B0604030504040204" pitchFamily="34" charset="0"/>
                <a:cs typeface="Verdana" panose="020B0604030504040204" pitchFamily="34" charset="0"/>
              </a:rPr>
              <a:t>Solución. </a:t>
            </a:r>
            <a:r>
              <a:rPr lang="es-MX" dirty="0">
                <a:latin typeface="Verdana" panose="020B0604030504040204" pitchFamily="34" charset="0"/>
                <a:ea typeface="Verdana" panose="020B0604030504040204" pitchFamily="34" charset="0"/>
                <a:cs typeface="Verdana" panose="020B0604030504040204" pitchFamily="34" charset="0"/>
              </a:rPr>
              <a:t>Podemos dividir esta tarea en dos:</a:t>
            </a:r>
          </a:p>
          <a:p>
            <a:pPr marL="342900" indent="-342900" algn="just">
              <a:buFont typeface="+mj-lt"/>
              <a:buAutoNum type="arabicPeriod"/>
            </a:pPr>
            <a:r>
              <a:rPr lang="es-MX" dirty="0">
                <a:latin typeface="Verdana" panose="020B0604030504040204" pitchFamily="34" charset="0"/>
                <a:ea typeface="Verdana" panose="020B0604030504040204" pitchFamily="34" charset="0"/>
                <a:cs typeface="Verdana" panose="020B0604030504040204" pitchFamily="34" charset="0"/>
              </a:rPr>
              <a:t>Se puede elegir un miembro de la facultad  de matemáticas, lo que puede hacer de 37 formas distintas.</a:t>
            </a:r>
          </a:p>
          <a:p>
            <a:pPr marL="342900" indent="-342900" algn="just">
              <a:buFont typeface="+mj-lt"/>
              <a:buAutoNum type="arabicPeriod"/>
            </a:pPr>
            <a:r>
              <a:rPr lang="es-MX" dirty="0">
                <a:latin typeface="Verdana" panose="020B0604030504040204" pitchFamily="34" charset="0"/>
                <a:ea typeface="Verdana" panose="020B0604030504040204" pitchFamily="34" charset="0"/>
                <a:cs typeface="Verdana" panose="020B0604030504040204" pitchFamily="34" charset="0"/>
              </a:rPr>
              <a:t>Se puede elegir un estudiante de doctorado, lo que se puede hacer de 83 formas distintas.</a:t>
            </a:r>
          </a:p>
          <a:p>
            <a:pPr algn="just"/>
            <a:r>
              <a:rPr lang="es-MX" dirty="0">
                <a:latin typeface="Verdana" panose="020B0604030504040204" pitchFamily="34" charset="0"/>
                <a:ea typeface="Verdana" panose="020B0604030504040204" pitchFamily="34" charset="0"/>
                <a:cs typeface="Verdana" panose="020B0604030504040204" pitchFamily="34" charset="0"/>
              </a:rPr>
              <a:t>Aplicando la regla de la suma se puede elegir un miembro de comité Univalle  de 37 + 83 formas posibles </a:t>
            </a:r>
            <a:endParaRPr lang="es-CO" dirty="0">
              <a:latin typeface="Verdana" panose="020B0604030504040204" pitchFamily="34" charset="0"/>
              <a:ea typeface="Verdana" panose="020B0604030504040204" pitchFamily="34" charset="0"/>
              <a:cs typeface="Verdana" panose="020B0604030504040204" pitchFamily="34" charset="0"/>
            </a:endParaRPr>
          </a:p>
          <a:p>
            <a:pPr algn="just"/>
            <a:endParaRPr lang="es-CO" dirty="0"/>
          </a:p>
        </p:txBody>
      </p:sp>
    </p:spTree>
    <p:extLst>
      <p:ext uri="{BB962C8B-B14F-4D97-AF65-F5344CB8AC3E}">
        <p14:creationId xmlns:p14="http://schemas.microsoft.com/office/powerpoint/2010/main" val="17500334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500" fill="hold"/>
                                        <p:tgtEl>
                                          <p:spTgt spid="9"/>
                                        </p:tgtEl>
                                        <p:attrNameLst>
                                          <p:attrName>ppt_x</p:attrName>
                                        </p:attrNameLst>
                                      </p:cBhvr>
                                      <p:tavLst>
                                        <p:tav tm="0">
                                          <p:val>
                                            <p:strVal val="#ppt_x"/>
                                          </p:val>
                                        </p:tav>
                                        <p:tav tm="100000">
                                          <p:val>
                                            <p:strVal val="#ppt_x"/>
                                          </p:val>
                                        </p:tav>
                                      </p:tavLst>
                                    </p:anim>
                                    <p:anim calcmode="lin" valueType="num">
                                      <p:cBhvr additive="base">
                                        <p:cTn id="8"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2"/>
                                        </p:tgtEl>
                                        <p:attrNameLst>
                                          <p:attrName>style.visibility</p:attrName>
                                        </p:attrNameLst>
                                      </p:cBhvr>
                                      <p:to>
                                        <p:strVal val="visible"/>
                                      </p:to>
                                    </p:set>
                                    <p:anim calcmode="lin" valueType="num">
                                      <p:cBhvr additive="base">
                                        <p:cTn id="13" dur="500" fill="hold"/>
                                        <p:tgtEl>
                                          <p:spTgt spid="2"/>
                                        </p:tgtEl>
                                        <p:attrNameLst>
                                          <p:attrName>ppt_x</p:attrName>
                                        </p:attrNameLst>
                                      </p:cBhvr>
                                      <p:tavLst>
                                        <p:tav tm="0">
                                          <p:val>
                                            <p:strVal val="#ppt_x"/>
                                          </p:val>
                                        </p:tav>
                                        <p:tav tm="100000">
                                          <p:val>
                                            <p:strVal val="#ppt_x"/>
                                          </p:val>
                                        </p:tav>
                                      </p:tavLst>
                                    </p:anim>
                                    <p:anim calcmode="lin" valueType="num">
                                      <p:cBhvr additive="base">
                                        <p:cTn id="14"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anim calcmode="lin" valueType="num">
                                      <p:cBhvr additive="base">
                                        <p:cTn id="19" dur="500" fill="hold"/>
                                        <p:tgtEl>
                                          <p:spTgt spid="10"/>
                                        </p:tgtEl>
                                        <p:attrNameLst>
                                          <p:attrName>ppt_x</p:attrName>
                                        </p:attrNameLst>
                                      </p:cBhvr>
                                      <p:tavLst>
                                        <p:tav tm="0">
                                          <p:val>
                                            <p:strVal val="#ppt_x"/>
                                          </p:val>
                                        </p:tav>
                                        <p:tav tm="100000">
                                          <p:val>
                                            <p:strVal val="#ppt_x"/>
                                          </p:val>
                                        </p:tav>
                                      </p:tavLst>
                                    </p:anim>
                                    <p:anim calcmode="lin" valueType="num">
                                      <p:cBhvr additive="base">
                                        <p:cTn id="20"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0" grpId="0"/>
      <p:bldP spid="2"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uadroTexto 4">
            <a:extLst>
              <a:ext uri="{FF2B5EF4-FFF2-40B4-BE49-F238E27FC236}">
                <a16:creationId xmlns:a16="http://schemas.microsoft.com/office/drawing/2014/main" id="{269A2515-6534-9DF8-FD92-257B45E64BB0}"/>
              </a:ext>
            </a:extLst>
          </p:cNvPr>
          <p:cNvSpPr txBox="1"/>
          <p:nvPr/>
        </p:nvSpPr>
        <p:spPr>
          <a:xfrm>
            <a:off x="1643277" y="1607216"/>
            <a:ext cx="9144001" cy="646331"/>
          </a:xfrm>
          <a:prstGeom prst="rect">
            <a:avLst/>
          </a:prstGeom>
          <a:noFill/>
        </p:spPr>
        <p:txBody>
          <a:bodyPr wrap="square" rtlCol="0">
            <a:spAutoFit/>
          </a:bodyPr>
          <a:lstStyle/>
          <a:p>
            <a:pPr algn="just"/>
            <a:r>
              <a:rPr lang="es-ES" dirty="0">
                <a:latin typeface="Verdana" panose="020B0604030504040204" pitchFamily="34" charset="0"/>
                <a:ea typeface="Verdana" panose="020B0604030504040204" pitchFamily="34" charset="0"/>
                <a:cs typeface="Verdana" panose="020B0604030504040204" pitchFamily="34" charset="0"/>
              </a:rPr>
              <a:t>Si A</a:t>
            </a:r>
            <a:r>
              <a:rPr lang="es-ES" baseline="-25000" dirty="0">
                <a:latin typeface="Verdana" panose="020B0604030504040204" pitchFamily="34" charset="0"/>
                <a:ea typeface="Verdana" panose="020B0604030504040204" pitchFamily="34" charset="0"/>
                <a:cs typeface="Verdana" panose="020B0604030504040204" pitchFamily="34" charset="0"/>
              </a:rPr>
              <a:t>1</a:t>
            </a:r>
            <a:r>
              <a:rPr lang="es-ES" dirty="0">
                <a:latin typeface="Verdana" panose="020B0604030504040204" pitchFamily="34" charset="0"/>
                <a:ea typeface="Verdana" panose="020B0604030504040204" pitchFamily="34" charset="0"/>
                <a:cs typeface="Verdana" panose="020B0604030504040204" pitchFamily="34" charset="0"/>
              </a:rPr>
              <a:t>, A</a:t>
            </a:r>
            <a:r>
              <a:rPr lang="es-ES" baseline="-25000" dirty="0">
                <a:latin typeface="Verdana" panose="020B0604030504040204" pitchFamily="34" charset="0"/>
                <a:ea typeface="Verdana" panose="020B0604030504040204" pitchFamily="34" charset="0"/>
                <a:cs typeface="Verdana" panose="020B0604030504040204" pitchFamily="34" charset="0"/>
              </a:rPr>
              <a:t>2</a:t>
            </a:r>
            <a:r>
              <a:rPr lang="es-ES" dirty="0">
                <a:latin typeface="Verdana" panose="020B0604030504040204" pitchFamily="34" charset="0"/>
                <a:ea typeface="Verdana" panose="020B0604030504040204" pitchFamily="34" charset="0"/>
                <a:cs typeface="Verdana" panose="020B0604030504040204" pitchFamily="34" charset="0"/>
              </a:rPr>
              <a:t>,..., A</a:t>
            </a:r>
            <a:r>
              <a:rPr lang="es-ES" baseline="-25000" dirty="0">
                <a:latin typeface="Verdana" panose="020B0604030504040204" pitchFamily="34" charset="0"/>
                <a:ea typeface="Verdana" panose="020B0604030504040204" pitchFamily="34" charset="0"/>
                <a:cs typeface="Verdana" panose="020B0604030504040204" pitchFamily="34" charset="0"/>
              </a:rPr>
              <a:t>m</a:t>
            </a:r>
            <a:r>
              <a:rPr lang="es-ES" dirty="0">
                <a:latin typeface="Verdana" panose="020B0604030504040204" pitchFamily="34" charset="0"/>
                <a:ea typeface="Verdana" panose="020B0604030504040204" pitchFamily="34" charset="0"/>
                <a:cs typeface="Verdana" panose="020B0604030504040204" pitchFamily="34" charset="0"/>
              </a:rPr>
              <a:t> son conjuntos disjuntos, entonces el número de elementos en la unión de esos conjuntos es la suma del número de elementos en ellos.</a:t>
            </a:r>
          </a:p>
        </p:txBody>
      </p:sp>
      <p:sp>
        <p:nvSpPr>
          <p:cNvPr id="4" name="object 9"/>
          <p:cNvSpPr/>
          <p:nvPr/>
        </p:nvSpPr>
        <p:spPr>
          <a:xfrm>
            <a:off x="1524000" y="473139"/>
            <a:ext cx="9144000" cy="649224"/>
          </a:xfrm>
          <a:custGeom>
            <a:avLst/>
            <a:gdLst/>
            <a:ahLst/>
            <a:cxnLst/>
            <a:rect l="l" t="t" r="r" b="b"/>
            <a:pathLst>
              <a:path w="9144000" h="649224">
                <a:moveTo>
                  <a:pt x="9144000" y="649223"/>
                </a:moveTo>
                <a:lnTo>
                  <a:pt x="9144000" y="0"/>
                </a:lnTo>
                <a:lnTo>
                  <a:pt x="0" y="0"/>
                </a:lnTo>
                <a:lnTo>
                  <a:pt x="0" y="649224"/>
                </a:lnTo>
                <a:lnTo>
                  <a:pt x="9144000" y="649223"/>
                </a:lnTo>
                <a:close/>
              </a:path>
            </a:pathLst>
          </a:custGeom>
          <a:solidFill>
            <a:srgbClr val="E6031E"/>
          </a:solidFill>
        </p:spPr>
        <p:txBody>
          <a:bodyPr wrap="square" lIns="0" tIns="0" rIns="0" bIns="0" rtlCol="0">
            <a:noAutofit/>
          </a:bodyPr>
          <a:lstStyle/>
          <a:p>
            <a:pPr algn="ctr"/>
            <a:r>
              <a:rPr lang="es-CO" sz="2400" b="1" dirty="0">
                <a:solidFill>
                  <a:schemeClr val="bg1"/>
                </a:solidFill>
                <a:latin typeface="Verdana" panose="020B0604030504040204" pitchFamily="34" charset="0"/>
                <a:ea typeface="Verdana" panose="020B0604030504040204" pitchFamily="34" charset="0"/>
                <a:cs typeface="Verdana" panose="020B0604030504040204" pitchFamily="34" charset="0"/>
              </a:rPr>
              <a:t>EXTENSIÓN DE LA SUMA</a:t>
            </a:r>
            <a:endParaRPr sz="2400" b="1" dirty="0">
              <a:solidFill>
                <a:schemeClr val="bg1"/>
              </a:solidFill>
              <a:latin typeface="Verdana" panose="020B0604030504040204" pitchFamily="34" charset="0"/>
              <a:ea typeface="Verdana" panose="020B0604030504040204" pitchFamily="34" charset="0"/>
              <a:cs typeface="Verdana" panose="020B0604030504040204" pitchFamily="34" charset="0"/>
            </a:endParaRPr>
          </a:p>
        </p:txBody>
      </p:sp>
      <p:sp>
        <p:nvSpPr>
          <p:cNvPr id="6" name="object 12"/>
          <p:cNvSpPr/>
          <p:nvPr/>
        </p:nvSpPr>
        <p:spPr>
          <a:xfrm>
            <a:off x="10242773" y="6153222"/>
            <a:ext cx="425227" cy="549401"/>
          </a:xfrm>
          <a:prstGeom prst="rect">
            <a:avLst/>
          </a:prstGeom>
          <a:blipFill>
            <a:blip r:embed="rId2" cstate="print"/>
            <a:stretch>
              <a:fillRect/>
            </a:stretch>
          </a:blipFill>
        </p:spPr>
        <p:txBody>
          <a:bodyPr wrap="square" lIns="0" tIns="0" rIns="0" bIns="0" rtlCol="0">
            <a:noAutofit/>
          </a:bodyPr>
          <a:lstStyle/>
          <a:p>
            <a:endParaRPr/>
          </a:p>
        </p:txBody>
      </p:sp>
      <p:sp>
        <p:nvSpPr>
          <p:cNvPr id="3" name="object 11">
            <a:extLst>
              <a:ext uri="{FF2B5EF4-FFF2-40B4-BE49-F238E27FC236}">
                <a16:creationId xmlns:a16="http://schemas.microsoft.com/office/drawing/2014/main" id="{46DBE57D-BC43-4A76-836D-DA3ECB0D8800}"/>
              </a:ext>
            </a:extLst>
          </p:cNvPr>
          <p:cNvSpPr/>
          <p:nvPr/>
        </p:nvSpPr>
        <p:spPr>
          <a:xfrm flipV="1">
            <a:off x="1524000" y="6049107"/>
            <a:ext cx="9144000" cy="64484"/>
          </a:xfrm>
          <a:custGeom>
            <a:avLst/>
            <a:gdLst/>
            <a:ahLst/>
            <a:cxnLst/>
            <a:rect l="l" t="t" r="r" b="b"/>
            <a:pathLst>
              <a:path w="9144000">
                <a:moveTo>
                  <a:pt x="9144000" y="0"/>
                </a:moveTo>
                <a:lnTo>
                  <a:pt x="20573" y="0"/>
                </a:lnTo>
              </a:path>
              <a:path w="9144000">
                <a:moveTo>
                  <a:pt x="20573" y="1"/>
                </a:moveTo>
                <a:lnTo>
                  <a:pt x="9144000" y="0"/>
                </a:lnTo>
              </a:path>
            </a:pathLst>
          </a:custGeom>
          <a:ln w="28575">
            <a:solidFill>
              <a:srgbClr val="E6031E"/>
            </a:solidFill>
          </a:ln>
        </p:spPr>
        <p:txBody>
          <a:bodyPr wrap="square" lIns="0" tIns="0" rIns="0" bIns="0" rtlCol="0">
            <a:noAutofit/>
          </a:bodyPr>
          <a:lstStyle/>
          <a:p>
            <a:endParaRPr/>
          </a:p>
        </p:txBody>
      </p:sp>
      <p:pic>
        <p:nvPicPr>
          <p:cNvPr id="8" name="Imagen 7">
            <a:extLst>
              <a:ext uri="{FF2B5EF4-FFF2-40B4-BE49-F238E27FC236}">
                <a16:creationId xmlns:a16="http://schemas.microsoft.com/office/drawing/2014/main" id="{B13C1CEA-348E-01F0-EDDD-562367A0A64F}"/>
              </a:ext>
            </a:extLst>
          </p:cNvPr>
          <p:cNvPicPr>
            <a:picLocks noChangeAspect="1"/>
          </p:cNvPicPr>
          <p:nvPr/>
        </p:nvPicPr>
        <p:blipFill rotWithShape="1">
          <a:blip r:embed="rId3"/>
          <a:srcRect l="6848" t="36322" r="32500" b="39486"/>
          <a:stretch/>
        </p:blipFill>
        <p:spPr>
          <a:xfrm>
            <a:off x="1805608" y="2823863"/>
            <a:ext cx="8580783" cy="1971768"/>
          </a:xfrm>
          <a:prstGeom prst="rect">
            <a:avLst/>
          </a:prstGeom>
        </p:spPr>
      </p:pic>
    </p:spTree>
    <p:extLst>
      <p:ext uri="{BB962C8B-B14F-4D97-AF65-F5344CB8AC3E}">
        <p14:creationId xmlns:p14="http://schemas.microsoft.com/office/powerpoint/2010/main" val="410899805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9"/>
          <p:cNvSpPr/>
          <p:nvPr/>
        </p:nvSpPr>
        <p:spPr>
          <a:xfrm>
            <a:off x="1524000" y="473139"/>
            <a:ext cx="9144000" cy="649224"/>
          </a:xfrm>
          <a:custGeom>
            <a:avLst/>
            <a:gdLst/>
            <a:ahLst/>
            <a:cxnLst/>
            <a:rect l="l" t="t" r="r" b="b"/>
            <a:pathLst>
              <a:path w="9144000" h="649224">
                <a:moveTo>
                  <a:pt x="9144000" y="649223"/>
                </a:moveTo>
                <a:lnTo>
                  <a:pt x="9144000" y="0"/>
                </a:lnTo>
                <a:lnTo>
                  <a:pt x="0" y="0"/>
                </a:lnTo>
                <a:lnTo>
                  <a:pt x="0" y="649224"/>
                </a:lnTo>
                <a:lnTo>
                  <a:pt x="9144000" y="649223"/>
                </a:lnTo>
                <a:close/>
              </a:path>
            </a:pathLst>
          </a:custGeom>
          <a:solidFill>
            <a:srgbClr val="E6031E"/>
          </a:solidFill>
        </p:spPr>
        <p:txBody>
          <a:bodyPr wrap="square" lIns="0" tIns="0" rIns="0" bIns="0" rtlCol="0">
            <a:noAutofit/>
          </a:bodyPr>
          <a:lstStyle/>
          <a:p>
            <a:pPr algn="ctr"/>
            <a:r>
              <a:rPr lang="es-CO" sz="2400" b="1" dirty="0">
                <a:solidFill>
                  <a:schemeClr val="bg1"/>
                </a:solidFill>
                <a:latin typeface="Verdana" panose="020B0604030504040204" pitchFamily="34" charset="0"/>
                <a:ea typeface="Verdana" panose="020B0604030504040204" pitchFamily="34" charset="0"/>
                <a:cs typeface="Verdana" panose="020B0604030504040204" pitchFamily="34" charset="0"/>
              </a:rPr>
              <a:t>EXTENSIÓN DE LA SUMA</a:t>
            </a:r>
            <a:endParaRPr sz="2400" b="1" dirty="0">
              <a:solidFill>
                <a:schemeClr val="bg1"/>
              </a:solidFill>
              <a:latin typeface="Verdana" panose="020B0604030504040204" pitchFamily="34" charset="0"/>
              <a:ea typeface="Verdana" panose="020B0604030504040204" pitchFamily="34" charset="0"/>
              <a:cs typeface="Verdana" panose="020B0604030504040204" pitchFamily="34" charset="0"/>
            </a:endParaRPr>
          </a:p>
        </p:txBody>
      </p:sp>
      <p:sp>
        <p:nvSpPr>
          <p:cNvPr id="6" name="object 12"/>
          <p:cNvSpPr/>
          <p:nvPr/>
        </p:nvSpPr>
        <p:spPr>
          <a:xfrm>
            <a:off x="10242773" y="6153222"/>
            <a:ext cx="425227" cy="549401"/>
          </a:xfrm>
          <a:prstGeom prst="rect">
            <a:avLst/>
          </a:prstGeom>
          <a:blipFill>
            <a:blip r:embed="rId2" cstate="print"/>
            <a:stretch>
              <a:fillRect/>
            </a:stretch>
          </a:blipFill>
        </p:spPr>
        <p:txBody>
          <a:bodyPr wrap="square" lIns="0" tIns="0" rIns="0" bIns="0" rtlCol="0">
            <a:noAutofit/>
          </a:bodyPr>
          <a:lstStyle/>
          <a:p>
            <a:endParaRPr/>
          </a:p>
        </p:txBody>
      </p:sp>
      <p:sp>
        <p:nvSpPr>
          <p:cNvPr id="3" name="object 11">
            <a:extLst>
              <a:ext uri="{FF2B5EF4-FFF2-40B4-BE49-F238E27FC236}">
                <a16:creationId xmlns:a16="http://schemas.microsoft.com/office/drawing/2014/main" id="{46DBE57D-BC43-4A76-836D-DA3ECB0D8800}"/>
              </a:ext>
            </a:extLst>
          </p:cNvPr>
          <p:cNvSpPr/>
          <p:nvPr/>
        </p:nvSpPr>
        <p:spPr>
          <a:xfrm flipV="1">
            <a:off x="1524000" y="6049107"/>
            <a:ext cx="9144000" cy="64484"/>
          </a:xfrm>
          <a:custGeom>
            <a:avLst/>
            <a:gdLst/>
            <a:ahLst/>
            <a:cxnLst/>
            <a:rect l="l" t="t" r="r" b="b"/>
            <a:pathLst>
              <a:path w="9144000">
                <a:moveTo>
                  <a:pt x="9144000" y="0"/>
                </a:moveTo>
                <a:lnTo>
                  <a:pt x="20573" y="0"/>
                </a:lnTo>
              </a:path>
              <a:path w="9144000">
                <a:moveTo>
                  <a:pt x="20573" y="1"/>
                </a:moveTo>
                <a:lnTo>
                  <a:pt x="9144000" y="0"/>
                </a:lnTo>
              </a:path>
            </a:pathLst>
          </a:custGeom>
          <a:ln w="28575">
            <a:solidFill>
              <a:srgbClr val="E6031E"/>
            </a:solidFill>
          </a:ln>
        </p:spPr>
        <p:txBody>
          <a:bodyPr wrap="square" lIns="0" tIns="0" rIns="0" bIns="0" rtlCol="0">
            <a:noAutofit/>
          </a:bodyPr>
          <a:lstStyle/>
          <a:p>
            <a:endParaRPr/>
          </a:p>
        </p:txBody>
      </p:sp>
      <p:sp>
        <p:nvSpPr>
          <p:cNvPr id="7" name="CuadroTexto 6">
            <a:extLst>
              <a:ext uri="{FF2B5EF4-FFF2-40B4-BE49-F238E27FC236}">
                <a16:creationId xmlns:a16="http://schemas.microsoft.com/office/drawing/2014/main" id="{81FD0DD9-AFFA-A5CD-EEE2-9F0FDD48B2CF}"/>
              </a:ext>
            </a:extLst>
          </p:cNvPr>
          <p:cNvSpPr txBox="1"/>
          <p:nvPr/>
        </p:nvSpPr>
        <p:spPr>
          <a:xfrm>
            <a:off x="1311387" y="1785241"/>
            <a:ext cx="9143999" cy="1200329"/>
          </a:xfrm>
          <a:prstGeom prst="rect">
            <a:avLst/>
          </a:prstGeom>
          <a:noFill/>
        </p:spPr>
        <p:txBody>
          <a:bodyPr wrap="square" rtlCol="0">
            <a:spAutoFit/>
          </a:bodyPr>
          <a:lstStyle/>
          <a:p>
            <a:pPr algn="just"/>
            <a:r>
              <a:rPr lang="es-ES" b="1" dirty="0">
                <a:latin typeface="Verdana" panose="020B0604030504040204" pitchFamily="34" charset="0"/>
                <a:ea typeface="Verdana" panose="020B0604030504040204" pitchFamily="34" charset="0"/>
                <a:cs typeface="Verdana" panose="020B0604030504040204" pitchFamily="34" charset="0"/>
              </a:rPr>
              <a:t>Ejemplo: </a:t>
            </a:r>
            <a:r>
              <a:rPr lang="es-ES" dirty="0">
                <a:latin typeface="Verdana" panose="020B0604030504040204" pitchFamily="34" charset="0"/>
                <a:ea typeface="Verdana" panose="020B0604030504040204" pitchFamily="34" charset="0"/>
                <a:cs typeface="Verdana" panose="020B0604030504040204" pitchFamily="34" charset="0"/>
              </a:rPr>
              <a:t>Un instructor de ciencias de la computación que tiene 5 libros de nivel introductorio acerca de ASP, BASIC, FORTRAN y PASCAL, puede recomendar cualquiera de estos 20 libros a un estudiante interesado en aprender un primer lenguaje de programación. </a:t>
            </a:r>
          </a:p>
        </p:txBody>
      </p:sp>
      <p:sp>
        <p:nvSpPr>
          <p:cNvPr id="2" name="CuadroTexto 1">
            <a:extLst>
              <a:ext uri="{FF2B5EF4-FFF2-40B4-BE49-F238E27FC236}">
                <a16:creationId xmlns:a16="http://schemas.microsoft.com/office/drawing/2014/main" id="{CAE59B57-BA10-8DE8-B48B-55618896CF6D}"/>
              </a:ext>
            </a:extLst>
          </p:cNvPr>
          <p:cNvSpPr txBox="1"/>
          <p:nvPr/>
        </p:nvSpPr>
        <p:spPr>
          <a:xfrm>
            <a:off x="1311387" y="3501918"/>
            <a:ext cx="9143999" cy="646331"/>
          </a:xfrm>
          <a:prstGeom prst="rect">
            <a:avLst/>
          </a:prstGeom>
          <a:noFill/>
        </p:spPr>
        <p:txBody>
          <a:bodyPr wrap="square" rtlCol="0">
            <a:spAutoFit/>
          </a:bodyPr>
          <a:lstStyle/>
          <a:p>
            <a:pPr algn="just"/>
            <a:r>
              <a:rPr lang="es-ES" b="1" dirty="0">
                <a:latin typeface="Verdana" panose="020B0604030504040204" pitchFamily="34" charset="0"/>
                <a:ea typeface="Verdana" panose="020B0604030504040204" pitchFamily="34" charset="0"/>
                <a:cs typeface="Verdana" panose="020B0604030504040204" pitchFamily="34" charset="0"/>
              </a:rPr>
              <a:t>Solución. </a:t>
            </a:r>
          </a:p>
          <a:p>
            <a:pPr algn="just"/>
            <a:r>
              <a:rPr lang="es-ES" dirty="0">
                <a:latin typeface="Verdana" panose="020B0604030504040204" pitchFamily="34" charset="0"/>
                <a:ea typeface="Verdana" panose="020B0604030504040204" pitchFamily="34" charset="0"/>
                <a:cs typeface="Verdana" panose="020B0604030504040204" pitchFamily="34" charset="0"/>
              </a:rPr>
              <a:t>Por la regla de la suma 5 + 5 + 5 + 5 = 20 </a:t>
            </a:r>
            <a:endParaRPr lang="es-CO" dirty="0">
              <a:latin typeface="Verdana" panose="020B0604030504040204" pitchFamily="34" charset="0"/>
              <a:ea typeface="Verdana" panose="020B0604030504040204" pitchFamily="34" charset="0"/>
              <a:cs typeface="Verdana" panose="020B0604030504040204" pitchFamily="34" charset="0"/>
            </a:endParaRPr>
          </a:p>
        </p:txBody>
      </p:sp>
    </p:spTree>
    <p:extLst>
      <p:ext uri="{BB962C8B-B14F-4D97-AF65-F5344CB8AC3E}">
        <p14:creationId xmlns:p14="http://schemas.microsoft.com/office/powerpoint/2010/main" val="8113235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ppt_x"/>
                                          </p:val>
                                        </p:tav>
                                        <p:tav tm="100000">
                                          <p:val>
                                            <p:strVal val="#ppt_x"/>
                                          </p:val>
                                        </p:tav>
                                      </p:tavLst>
                                    </p:anim>
                                    <p:anim calcmode="lin" valueType="num">
                                      <p:cBhvr additive="base">
                                        <p:cTn id="8"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2"/>
                                        </p:tgtEl>
                                        <p:attrNameLst>
                                          <p:attrName>style.visibility</p:attrName>
                                        </p:attrNameLst>
                                      </p:cBhvr>
                                      <p:to>
                                        <p:strVal val="visible"/>
                                      </p:to>
                                    </p:set>
                                    <p:anim calcmode="lin" valueType="num">
                                      <p:cBhvr additive="base">
                                        <p:cTn id="13" dur="500" fill="hold"/>
                                        <p:tgtEl>
                                          <p:spTgt spid="2"/>
                                        </p:tgtEl>
                                        <p:attrNameLst>
                                          <p:attrName>ppt_x</p:attrName>
                                        </p:attrNameLst>
                                      </p:cBhvr>
                                      <p:tavLst>
                                        <p:tav tm="0">
                                          <p:val>
                                            <p:strVal val="#ppt_x"/>
                                          </p:val>
                                        </p:tav>
                                        <p:tav tm="100000">
                                          <p:val>
                                            <p:strVal val="#ppt_x"/>
                                          </p:val>
                                        </p:tav>
                                      </p:tavLst>
                                    </p:anim>
                                    <p:anim calcmode="lin" valueType="num">
                                      <p:cBhvr additive="base">
                                        <p:cTn id="14"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2"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9"/>
          <p:cNvSpPr/>
          <p:nvPr/>
        </p:nvSpPr>
        <p:spPr>
          <a:xfrm>
            <a:off x="1524000" y="473139"/>
            <a:ext cx="9144000" cy="649224"/>
          </a:xfrm>
          <a:custGeom>
            <a:avLst/>
            <a:gdLst/>
            <a:ahLst/>
            <a:cxnLst/>
            <a:rect l="l" t="t" r="r" b="b"/>
            <a:pathLst>
              <a:path w="9144000" h="649224">
                <a:moveTo>
                  <a:pt x="9144000" y="649223"/>
                </a:moveTo>
                <a:lnTo>
                  <a:pt x="9144000" y="0"/>
                </a:lnTo>
                <a:lnTo>
                  <a:pt x="0" y="0"/>
                </a:lnTo>
                <a:lnTo>
                  <a:pt x="0" y="649224"/>
                </a:lnTo>
                <a:lnTo>
                  <a:pt x="9144000" y="649223"/>
                </a:lnTo>
                <a:close/>
              </a:path>
            </a:pathLst>
          </a:custGeom>
          <a:solidFill>
            <a:srgbClr val="E6031E"/>
          </a:solidFill>
        </p:spPr>
        <p:txBody>
          <a:bodyPr wrap="square" lIns="0" tIns="0" rIns="0" bIns="0" rtlCol="0">
            <a:noAutofit/>
          </a:bodyPr>
          <a:lstStyle/>
          <a:p>
            <a:pPr algn="ctr"/>
            <a:r>
              <a:rPr lang="es-CO" sz="2400" b="1" dirty="0">
                <a:solidFill>
                  <a:schemeClr val="bg1"/>
                </a:solidFill>
                <a:latin typeface="Verdana" panose="020B0604030504040204" pitchFamily="34" charset="0"/>
                <a:ea typeface="Verdana" panose="020B0604030504040204" pitchFamily="34" charset="0"/>
                <a:cs typeface="Verdana" panose="020B0604030504040204" pitchFamily="34" charset="0"/>
              </a:rPr>
              <a:t>EXTENSIÓN DE LA SUMA</a:t>
            </a:r>
            <a:endParaRPr sz="2400" b="1" dirty="0">
              <a:solidFill>
                <a:schemeClr val="bg1"/>
              </a:solidFill>
              <a:latin typeface="Verdana" panose="020B0604030504040204" pitchFamily="34" charset="0"/>
              <a:ea typeface="Verdana" panose="020B0604030504040204" pitchFamily="34" charset="0"/>
              <a:cs typeface="Verdana" panose="020B0604030504040204" pitchFamily="34" charset="0"/>
            </a:endParaRPr>
          </a:p>
        </p:txBody>
      </p:sp>
      <p:sp>
        <p:nvSpPr>
          <p:cNvPr id="6" name="object 12"/>
          <p:cNvSpPr/>
          <p:nvPr/>
        </p:nvSpPr>
        <p:spPr>
          <a:xfrm>
            <a:off x="10242773" y="6153222"/>
            <a:ext cx="425227" cy="549401"/>
          </a:xfrm>
          <a:prstGeom prst="rect">
            <a:avLst/>
          </a:prstGeom>
          <a:blipFill>
            <a:blip r:embed="rId2" cstate="print"/>
            <a:stretch>
              <a:fillRect/>
            </a:stretch>
          </a:blipFill>
        </p:spPr>
        <p:txBody>
          <a:bodyPr wrap="square" lIns="0" tIns="0" rIns="0" bIns="0" rtlCol="0">
            <a:noAutofit/>
          </a:bodyPr>
          <a:lstStyle/>
          <a:p>
            <a:endParaRPr/>
          </a:p>
        </p:txBody>
      </p:sp>
      <p:sp>
        <p:nvSpPr>
          <p:cNvPr id="3" name="object 11">
            <a:extLst>
              <a:ext uri="{FF2B5EF4-FFF2-40B4-BE49-F238E27FC236}">
                <a16:creationId xmlns:a16="http://schemas.microsoft.com/office/drawing/2014/main" id="{46DBE57D-BC43-4A76-836D-DA3ECB0D8800}"/>
              </a:ext>
            </a:extLst>
          </p:cNvPr>
          <p:cNvSpPr/>
          <p:nvPr/>
        </p:nvSpPr>
        <p:spPr>
          <a:xfrm flipV="1">
            <a:off x="1524000" y="6049107"/>
            <a:ext cx="9144000" cy="64484"/>
          </a:xfrm>
          <a:custGeom>
            <a:avLst/>
            <a:gdLst/>
            <a:ahLst/>
            <a:cxnLst/>
            <a:rect l="l" t="t" r="r" b="b"/>
            <a:pathLst>
              <a:path w="9144000">
                <a:moveTo>
                  <a:pt x="9144000" y="0"/>
                </a:moveTo>
                <a:lnTo>
                  <a:pt x="20573" y="0"/>
                </a:lnTo>
              </a:path>
              <a:path w="9144000">
                <a:moveTo>
                  <a:pt x="20573" y="1"/>
                </a:moveTo>
                <a:lnTo>
                  <a:pt x="9144000" y="0"/>
                </a:lnTo>
              </a:path>
            </a:pathLst>
          </a:custGeom>
          <a:ln w="28575">
            <a:solidFill>
              <a:srgbClr val="E6031E"/>
            </a:solidFill>
          </a:ln>
        </p:spPr>
        <p:txBody>
          <a:bodyPr wrap="square" lIns="0" tIns="0" rIns="0" bIns="0" rtlCol="0">
            <a:noAutofit/>
          </a:bodyPr>
          <a:lstStyle/>
          <a:p>
            <a:endParaRPr/>
          </a:p>
        </p:txBody>
      </p:sp>
      <p:sp>
        <p:nvSpPr>
          <p:cNvPr id="9" name="CuadroTexto 8">
            <a:extLst>
              <a:ext uri="{FF2B5EF4-FFF2-40B4-BE49-F238E27FC236}">
                <a16:creationId xmlns:a16="http://schemas.microsoft.com/office/drawing/2014/main" id="{31F2CC57-E991-4CCB-C0C0-BB1737706EC6}"/>
              </a:ext>
            </a:extLst>
          </p:cNvPr>
          <p:cNvSpPr txBox="1"/>
          <p:nvPr/>
        </p:nvSpPr>
        <p:spPr>
          <a:xfrm>
            <a:off x="1404731" y="1826818"/>
            <a:ext cx="9143999" cy="923330"/>
          </a:xfrm>
          <a:prstGeom prst="rect">
            <a:avLst/>
          </a:prstGeom>
          <a:noFill/>
        </p:spPr>
        <p:txBody>
          <a:bodyPr wrap="square" rtlCol="0">
            <a:spAutoFit/>
          </a:bodyPr>
          <a:lstStyle/>
          <a:p>
            <a:pPr algn="just"/>
            <a:r>
              <a:rPr lang="es-ES" b="1" dirty="0">
                <a:latin typeface="Verdana" panose="020B0604030504040204" pitchFamily="34" charset="0"/>
                <a:ea typeface="Verdana" panose="020B0604030504040204" pitchFamily="34" charset="0"/>
                <a:cs typeface="Verdana" panose="020B0604030504040204" pitchFamily="34" charset="0"/>
              </a:rPr>
              <a:t>Ejemplo: </a:t>
            </a:r>
            <a:r>
              <a:rPr lang="es-ES" dirty="0">
                <a:latin typeface="Verdana" panose="020B0604030504040204" pitchFamily="34" charset="0"/>
                <a:ea typeface="Verdana" panose="020B0604030504040204" pitchFamily="34" charset="0"/>
                <a:cs typeface="Verdana" panose="020B0604030504040204" pitchFamily="34" charset="0"/>
              </a:rPr>
              <a:t>Un estudiante puede escoger un proyecto de computación de una de 3 listas donde las 3 listas contienen 23, 15 y 19 proyectos posibles respectivamente. ¿Cuántos posibles proyectos hay para escogerse?</a:t>
            </a:r>
          </a:p>
        </p:txBody>
      </p:sp>
      <p:sp>
        <p:nvSpPr>
          <p:cNvPr id="2" name="CuadroTexto 1">
            <a:extLst>
              <a:ext uri="{FF2B5EF4-FFF2-40B4-BE49-F238E27FC236}">
                <a16:creationId xmlns:a16="http://schemas.microsoft.com/office/drawing/2014/main" id="{BF01EC6D-A824-2475-01CD-EEEDCC29E4FE}"/>
              </a:ext>
            </a:extLst>
          </p:cNvPr>
          <p:cNvSpPr txBox="1"/>
          <p:nvPr/>
        </p:nvSpPr>
        <p:spPr>
          <a:xfrm>
            <a:off x="1404731" y="3356309"/>
            <a:ext cx="9143999" cy="923330"/>
          </a:xfrm>
          <a:prstGeom prst="rect">
            <a:avLst/>
          </a:prstGeom>
          <a:noFill/>
        </p:spPr>
        <p:txBody>
          <a:bodyPr wrap="square" rtlCol="0">
            <a:spAutoFit/>
          </a:bodyPr>
          <a:lstStyle/>
          <a:p>
            <a:pPr algn="just"/>
            <a:r>
              <a:rPr lang="es-ES" b="1" dirty="0">
                <a:latin typeface="Verdana" panose="020B0604030504040204" pitchFamily="34" charset="0"/>
                <a:ea typeface="Verdana" panose="020B0604030504040204" pitchFamily="34" charset="0"/>
                <a:cs typeface="Verdana" panose="020B0604030504040204" pitchFamily="34" charset="0"/>
              </a:rPr>
              <a:t>Solución. </a:t>
            </a:r>
            <a:r>
              <a:rPr lang="es-ES" dirty="0">
                <a:latin typeface="Verdana" panose="020B0604030504040204" pitchFamily="34" charset="0"/>
                <a:ea typeface="Verdana" panose="020B0604030504040204" pitchFamily="34" charset="0"/>
                <a:cs typeface="Verdana" panose="020B0604030504040204" pitchFamily="34" charset="0"/>
              </a:rPr>
              <a:t>De la primera lista se puede elegir 23 formas distintas de trabajo. De la segunda lista puede elegir 15 formas de trabajo y de la tercera lista puede elegir 19 formas de trabajo.</a:t>
            </a:r>
          </a:p>
        </p:txBody>
      </p:sp>
      <p:sp>
        <p:nvSpPr>
          <p:cNvPr id="8" name="CuadroTexto 7">
            <a:extLst>
              <a:ext uri="{FF2B5EF4-FFF2-40B4-BE49-F238E27FC236}">
                <a16:creationId xmlns:a16="http://schemas.microsoft.com/office/drawing/2014/main" id="{68D21A5D-CE7E-92D0-604B-BE9B5EB5DD20}"/>
              </a:ext>
            </a:extLst>
          </p:cNvPr>
          <p:cNvSpPr txBox="1"/>
          <p:nvPr/>
        </p:nvSpPr>
        <p:spPr>
          <a:xfrm>
            <a:off x="1404731" y="4551818"/>
            <a:ext cx="9143999" cy="646331"/>
          </a:xfrm>
          <a:prstGeom prst="rect">
            <a:avLst/>
          </a:prstGeom>
          <a:noFill/>
        </p:spPr>
        <p:txBody>
          <a:bodyPr wrap="square" rtlCol="0">
            <a:spAutoFit/>
          </a:bodyPr>
          <a:lstStyle/>
          <a:p>
            <a:pPr algn="just"/>
            <a:r>
              <a:rPr lang="es-ES" dirty="0">
                <a:latin typeface="Verdana" panose="020B0604030504040204" pitchFamily="34" charset="0"/>
                <a:ea typeface="Verdana" panose="020B0604030504040204" pitchFamily="34" charset="0"/>
                <a:cs typeface="Verdana" panose="020B0604030504040204" pitchFamily="34" charset="0"/>
              </a:rPr>
              <a:t>De acuerdo con la regla de la suma existe 23 + 15 + 19 = 57 proyectos posibles a elegir.</a:t>
            </a:r>
          </a:p>
        </p:txBody>
      </p:sp>
    </p:spTree>
    <p:extLst>
      <p:ext uri="{BB962C8B-B14F-4D97-AF65-F5344CB8AC3E}">
        <p14:creationId xmlns:p14="http://schemas.microsoft.com/office/powerpoint/2010/main" val="28427425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500" fill="hold"/>
                                        <p:tgtEl>
                                          <p:spTgt spid="9"/>
                                        </p:tgtEl>
                                        <p:attrNameLst>
                                          <p:attrName>ppt_x</p:attrName>
                                        </p:attrNameLst>
                                      </p:cBhvr>
                                      <p:tavLst>
                                        <p:tav tm="0">
                                          <p:val>
                                            <p:strVal val="#ppt_x"/>
                                          </p:val>
                                        </p:tav>
                                        <p:tav tm="100000">
                                          <p:val>
                                            <p:strVal val="#ppt_x"/>
                                          </p:val>
                                        </p:tav>
                                      </p:tavLst>
                                    </p:anim>
                                    <p:anim calcmode="lin" valueType="num">
                                      <p:cBhvr additive="base">
                                        <p:cTn id="8"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2"/>
                                        </p:tgtEl>
                                        <p:attrNameLst>
                                          <p:attrName>style.visibility</p:attrName>
                                        </p:attrNameLst>
                                      </p:cBhvr>
                                      <p:to>
                                        <p:strVal val="visible"/>
                                      </p:to>
                                    </p:set>
                                    <p:anim calcmode="lin" valueType="num">
                                      <p:cBhvr additive="base">
                                        <p:cTn id="13" dur="500" fill="hold"/>
                                        <p:tgtEl>
                                          <p:spTgt spid="2"/>
                                        </p:tgtEl>
                                        <p:attrNameLst>
                                          <p:attrName>ppt_x</p:attrName>
                                        </p:attrNameLst>
                                      </p:cBhvr>
                                      <p:tavLst>
                                        <p:tav tm="0">
                                          <p:val>
                                            <p:strVal val="#ppt_x"/>
                                          </p:val>
                                        </p:tav>
                                        <p:tav tm="100000">
                                          <p:val>
                                            <p:strVal val="#ppt_x"/>
                                          </p:val>
                                        </p:tav>
                                      </p:tavLst>
                                    </p:anim>
                                    <p:anim calcmode="lin" valueType="num">
                                      <p:cBhvr additive="base">
                                        <p:cTn id="14"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8"/>
                                        </p:tgtEl>
                                        <p:attrNameLst>
                                          <p:attrName>style.visibility</p:attrName>
                                        </p:attrNameLst>
                                      </p:cBhvr>
                                      <p:to>
                                        <p:strVal val="visible"/>
                                      </p:to>
                                    </p:set>
                                    <p:anim calcmode="lin" valueType="num">
                                      <p:cBhvr additive="base">
                                        <p:cTn id="19" dur="500" fill="hold"/>
                                        <p:tgtEl>
                                          <p:spTgt spid="8"/>
                                        </p:tgtEl>
                                        <p:attrNameLst>
                                          <p:attrName>ppt_x</p:attrName>
                                        </p:attrNameLst>
                                      </p:cBhvr>
                                      <p:tavLst>
                                        <p:tav tm="0">
                                          <p:val>
                                            <p:strVal val="#ppt_x"/>
                                          </p:val>
                                        </p:tav>
                                        <p:tav tm="100000">
                                          <p:val>
                                            <p:strVal val="#ppt_x"/>
                                          </p:val>
                                        </p:tav>
                                      </p:tavLst>
                                    </p:anim>
                                    <p:anim calcmode="lin" valueType="num">
                                      <p:cBhvr additive="base">
                                        <p:cTn id="20" dur="500" fill="hold"/>
                                        <p:tgtEl>
                                          <p:spTgt spid="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2" grpId="0"/>
      <p:bldP spid="8"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uadroTexto 4">
            <a:extLst>
              <a:ext uri="{FF2B5EF4-FFF2-40B4-BE49-F238E27FC236}">
                <a16:creationId xmlns:a16="http://schemas.microsoft.com/office/drawing/2014/main" id="{269A2515-6534-9DF8-FD92-257B45E64BB0}"/>
              </a:ext>
            </a:extLst>
          </p:cNvPr>
          <p:cNvSpPr txBox="1"/>
          <p:nvPr/>
        </p:nvSpPr>
        <p:spPr>
          <a:xfrm>
            <a:off x="1524000" y="1630194"/>
            <a:ext cx="9144001" cy="1200329"/>
          </a:xfrm>
          <a:prstGeom prst="rect">
            <a:avLst/>
          </a:prstGeom>
          <a:noFill/>
        </p:spPr>
        <p:txBody>
          <a:bodyPr wrap="square" rtlCol="0">
            <a:spAutoFit/>
          </a:bodyPr>
          <a:lstStyle/>
          <a:p>
            <a:pPr algn="just"/>
            <a:r>
              <a:rPr lang="es-ES" dirty="0">
                <a:latin typeface="Verdana" panose="020B0604030504040204" pitchFamily="34" charset="0"/>
                <a:ea typeface="Verdana" panose="020B0604030504040204" pitchFamily="34" charset="0"/>
                <a:cs typeface="Verdana" panose="020B0604030504040204" pitchFamily="34" charset="0"/>
              </a:rPr>
              <a:t>Suponga que un procedimiento puede ser dividido en dos tareas. Si hay n</a:t>
            </a:r>
            <a:r>
              <a:rPr lang="es-ES" baseline="-25000" dirty="0">
                <a:latin typeface="Verdana" panose="020B0604030504040204" pitchFamily="34" charset="0"/>
                <a:ea typeface="Verdana" panose="020B0604030504040204" pitchFamily="34" charset="0"/>
                <a:cs typeface="Verdana" panose="020B0604030504040204" pitchFamily="34" charset="0"/>
              </a:rPr>
              <a:t>1</a:t>
            </a:r>
            <a:r>
              <a:rPr lang="es-ES" dirty="0">
                <a:latin typeface="Verdana" panose="020B0604030504040204" pitchFamily="34" charset="0"/>
                <a:ea typeface="Verdana" panose="020B0604030504040204" pitchFamily="34" charset="0"/>
                <a:cs typeface="Verdana" panose="020B0604030504040204" pitchFamily="34" charset="0"/>
              </a:rPr>
              <a:t> formas de resolver la primera tarea y n</a:t>
            </a:r>
            <a:r>
              <a:rPr lang="es-ES" baseline="-25000" dirty="0">
                <a:latin typeface="Verdana" panose="020B0604030504040204" pitchFamily="34" charset="0"/>
                <a:ea typeface="Verdana" panose="020B0604030504040204" pitchFamily="34" charset="0"/>
                <a:cs typeface="Verdana" panose="020B0604030504040204" pitchFamily="34" charset="0"/>
              </a:rPr>
              <a:t>2</a:t>
            </a:r>
            <a:r>
              <a:rPr lang="es-ES" dirty="0">
                <a:latin typeface="Verdana" panose="020B0604030504040204" pitchFamily="34" charset="0"/>
                <a:ea typeface="Verdana" panose="020B0604030504040204" pitchFamily="34" charset="0"/>
                <a:cs typeface="Verdana" panose="020B0604030504040204" pitchFamily="34" charset="0"/>
              </a:rPr>
              <a:t> formas de resolver la segunda tarea después de que la primera tarea ha sido resuelta, entonces hay n</a:t>
            </a:r>
            <a:r>
              <a:rPr lang="es-ES" baseline="-25000" dirty="0">
                <a:latin typeface="Verdana" panose="020B0604030504040204" pitchFamily="34" charset="0"/>
                <a:ea typeface="Verdana" panose="020B0604030504040204" pitchFamily="34" charset="0"/>
                <a:cs typeface="Verdana" panose="020B0604030504040204" pitchFamily="34" charset="0"/>
              </a:rPr>
              <a:t>1</a:t>
            </a:r>
            <a:r>
              <a:rPr lang="es-ES" dirty="0">
                <a:latin typeface="Verdana" panose="020B0604030504040204" pitchFamily="34" charset="0"/>
                <a:ea typeface="Verdana" panose="020B0604030504040204" pitchFamily="34" charset="0"/>
                <a:cs typeface="Verdana" panose="020B0604030504040204" pitchFamily="34" charset="0"/>
              </a:rPr>
              <a:t>.n</a:t>
            </a:r>
            <a:r>
              <a:rPr lang="es-ES" baseline="-25000" dirty="0">
                <a:latin typeface="Verdana" panose="020B0604030504040204" pitchFamily="34" charset="0"/>
                <a:ea typeface="Verdana" panose="020B0604030504040204" pitchFamily="34" charset="0"/>
                <a:cs typeface="Verdana" panose="020B0604030504040204" pitchFamily="34" charset="0"/>
              </a:rPr>
              <a:t>2</a:t>
            </a:r>
            <a:r>
              <a:rPr lang="es-ES" dirty="0">
                <a:latin typeface="Verdana" panose="020B0604030504040204" pitchFamily="34" charset="0"/>
                <a:ea typeface="Verdana" panose="020B0604030504040204" pitchFamily="34" charset="0"/>
                <a:cs typeface="Verdana" panose="020B0604030504040204" pitchFamily="34" charset="0"/>
              </a:rPr>
              <a:t> formas de resolver el procedimiento. </a:t>
            </a:r>
          </a:p>
        </p:txBody>
      </p:sp>
      <p:sp>
        <p:nvSpPr>
          <p:cNvPr id="4" name="object 9"/>
          <p:cNvSpPr/>
          <p:nvPr/>
        </p:nvSpPr>
        <p:spPr>
          <a:xfrm>
            <a:off x="1524000" y="473139"/>
            <a:ext cx="9144000" cy="649224"/>
          </a:xfrm>
          <a:custGeom>
            <a:avLst/>
            <a:gdLst/>
            <a:ahLst/>
            <a:cxnLst/>
            <a:rect l="l" t="t" r="r" b="b"/>
            <a:pathLst>
              <a:path w="9144000" h="649224">
                <a:moveTo>
                  <a:pt x="9144000" y="649223"/>
                </a:moveTo>
                <a:lnTo>
                  <a:pt x="9144000" y="0"/>
                </a:lnTo>
                <a:lnTo>
                  <a:pt x="0" y="0"/>
                </a:lnTo>
                <a:lnTo>
                  <a:pt x="0" y="649224"/>
                </a:lnTo>
                <a:lnTo>
                  <a:pt x="9144000" y="649223"/>
                </a:lnTo>
                <a:close/>
              </a:path>
            </a:pathLst>
          </a:custGeom>
          <a:solidFill>
            <a:srgbClr val="E6031E"/>
          </a:solidFill>
        </p:spPr>
        <p:txBody>
          <a:bodyPr wrap="square" lIns="0" tIns="0" rIns="0" bIns="0" rtlCol="0">
            <a:noAutofit/>
          </a:bodyPr>
          <a:lstStyle/>
          <a:p>
            <a:pPr algn="ctr"/>
            <a:r>
              <a:rPr lang="es-CO" sz="2400" b="1" dirty="0">
                <a:solidFill>
                  <a:schemeClr val="bg1"/>
                </a:solidFill>
                <a:latin typeface="Verdana" panose="020B0604030504040204" pitchFamily="34" charset="0"/>
                <a:ea typeface="Verdana" panose="020B0604030504040204" pitchFamily="34" charset="0"/>
                <a:cs typeface="Verdana" panose="020B0604030504040204" pitchFamily="34" charset="0"/>
              </a:rPr>
              <a:t>REGLA DEL PRODUCTO</a:t>
            </a:r>
            <a:endParaRPr sz="2400" b="1" dirty="0">
              <a:solidFill>
                <a:schemeClr val="bg1"/>
              </a:solidFill>
              <a:latin typeface="Verdana" panose="020B0604030504040204" pitchFamily="34" charset="0"/>
              <a:ea typeface="Verdana" panose="020B0604030504040204" pitchFamily="34" charset="0"/>
              <a:cs typeface="Verdana" panose="020B0604030504040204" pitchFamily="34" charset="0"/>
            </a:endParaRPr>
          </a:p>
        </p:txBody>
      </p:sp>
      <p:sp>
        <p:nvSpPr>
          <p:cNvPr id="6" name="object 12"/>
          <p:cNvSpPr/>
          <p:nvPr/>
        </p:nvSpPr>
        <p:spPr>
          <a:xfrm>
            <a:off x="10242773" y="6153222"/>
            <a:ext cx="425227" cy="549401"/>
          </a:xfrm>
          <a:prstGeom prst="rect">
            <a:avLst/>
          </a:prstGeom>
          <a:blipFill>
            <a:blip r:embed="rId2" cstate="print"/>
            <a:stretch>
              <a:fillRect/>
            </a:stretch>
          </a:blipFill>
        </p:spPr>
        <p:txBody>
          <a:bodyPr wrap="square" lIns="0" tIns="0" rIns="0" bIns="0" rtlCol="0">
            <a:noAutofit/>
          </a:bodyPr>
          <a:lstStyle/>
          <a:p>
            <a:endParaRPr/>
          </a:p>
        </p:txBody>
      </p:sp>
      <p:sp>
        <p:nvSpPr>
          <p:cNvPr id="3" name="object 11">
            <a:extLst>
              <a:ext uri="{FF2B5EF4-FFF2-40B4-BE49-F238E27FC236}">
                <a16:creationId xmlns:a16="http://schemas.microsoft.com/office/drawing/2014/main" id="{46DBE57D-BC43-4A76-836D-DA3ECB0D8800}"/>
              </a:ext>
            </a:extLst>
          </p:cNvPr>
          <p:cNvSpPr/>
          <p:nvPr/>
        </p:nvSpPr>
        <p:spPr>
          <a:xfrm flipV="1">
            <a:off x="1524000" y="6049107"/>
            <a:ext cx="9144000" cy="64484"/>
          </a:xfrm>
          <a:custGeom>
            <a:avLst/>
            <a:gdLst/>
            <a:ahLst/>
            <a:cxnLst/>
            <a:rect l="l" t="t" r="r" b="b"/>
            <a:pathLst>
              <a:path w="9144000">
                <a:moveTo>
                  <a:pt x="9144000" y="0"/>
                </a:moveTo>
                <a:lnTo>
                  <a:pt x="20573" y="0"/>
                </a:lnTo>
              </a:path>
              <a:path w="9144000">
                <a:moveTo>
                  <a:pt x="20573" y="1"/>
                </a:moveTo>
                <a:lnTo>
                  <a:pt x="9144000" y="0"/>
                </a:lnTo>
              </a:path>
            </a:pathLst>
          </a:custGeom>
          <a:ln w="28575">
            <a:solidFill>
              <a:srgbClr val="E6031E"/>
            </a:solidFill>
          </a:ln>
        </p:spPr>
        <p:txBody>
          <a:bodyPr wrap="square" lIns="0" tIns="0" rIns="0" bIns="0" rtlCol="0">
            <a:noAutofit/>
          </a:bodyPr>
          <a:lstStyle/>
          <a:p>
            <a:endParaRPr/>
          </a:p>
        </p:txBody>
      </p:sp>
      <p:pic>
        <p:nvPicPr>
          <p:cNvPr id="2" name="Imagen 1">
            <a:extLst>
              <a:ext uri="{FF2B5EF4-FFF2-40B4-BE49-F238E27FC236}">
                <a16:creationId xmlns:a16="http://schemas.microsoft.com/office/drawing/2014/main" id="{44E86958-824A-601F-3950-65FC4CE7ED53}"/>
              </a:ext>
            </a:extLst>
          </p:cNvPr>
          <p:cNvPicPr>
            <a:picLocks noChangeAspect="1"/>
          </p:cNvPicPr>
          <p:nvPr/>
        </p:nvPicPr>
        <p:blipFill rotWithShape="1">
          <a:blip r:embed="rId3"/>
          <a:srcRect l="9502" t="43598" r="9530" b="32457"/>
          <a:stretch/>
        </p:blipFill>
        <p:spPr bwMode="auto">
          <a:xfrm>
            <a:off x="1536673" y="3429000"/>
            <a:ext cx="8918713" cy="1676015"/>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69366197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9"/>
          <p:cNvSpPr/>
          <p:nvPr/>
        </p:nvSpPr>
        <p:spPr>
          <a:xfrm>
            <a:off x="1524000" y="473139"/>
            <a:ext cx="9144000" cy="649224"/>
          </a:xfrm>
          <a:custGeom>
            <a:avLst/>
            <a:gdLst/>
            <a:ahLst/>
            <a:cxnLst/>
            <a:rect l="l" t="t" r="r" b="b"/>
            <a:pathLst>
              <a:path w="9144000" h="649224">
                <a:moveTo>
                  <a:pt x="9144000" y="649223"/>
                </a:moveTo>
                <a:lnTo>
                  <a:pt x="9144000" y="0"/>
                </a:lnTo>
                <a:lnTo>
                  <a:pt x="0" y="0"/>
                </a:lnTo>
                <a:lnTo>
                  <a:pt x="0" y="649224"/>
                </a:lnTo>
                <a:lnTo>
                  <a:pt x="9144000" y="649223"/>
                </a:lnTo>
                <a:close/>
              </a:path>
            </a:pathLst>
          </a:custGeom>
          <a:solidFill>
            <a:srgbClr val="E6031E"/>
          </a:solidFill>
        </p:spPr>
        <p:txBody>
          <a:bodyPr wrap="square" lIns="0" tIns="0" rIns="0" bIns="0" rtlCol="0">
            <a:noAutofit/>
          </a:bodyPr>
          <a:lstStyle/>
          <a:p>
            <a:pPr algn="ctr"/>
            <a:r>
              <a:rPr lang="es-CO" sz="2400" b="1" dirty="0">
                <a:solidFill>
                  <a:schemeClr val="bg1"/>
                </a:solidFill>
                <a:latin typeface="Verdana" panose="020B0604030504040204" pitchFamily="34" charset="0"/>
                <a:ea typeface="Verdana" panose="020B0604030504040204" pitchFamily="34" charset="0"/>
                <a:cs typeface="Verdana" panose="020B0604030504040204" pitchFamily="34" charset="0"/>
              </a:rPr>
              <a:t>REGLA DEL PRODUCTO</a:t>
            </a:r>
            <a:endParaRPr sz="2400" b="1" dirty="0">
              <a:solidFill>
                <a:schemeClr val="bg1"/>
              </a:solidFill>
              <a:latin typeface="Verdana" panose="020B0604030504040204" pitchFamily="34" charset="0"/>
              <a:ea typeface="Verdana" panose="020B0604030504040204" pitchFamily="34" charset="0"/>
              <a:cs typeface="Verdana" panose="020B0604030504040204" pitchFamily="34" charset="0"/>
            </a:endParaRPr>
          </a:p>
        </p:txBody>
      </p:sp>
      <p:sp>
        <p:nvSpPr>
          <p:cNvPr id="6" name="object 12"/>
          <p:cNvSpPr/>
          <p:nvPr/>
        </p:nvSpPr>
        <p:spPr>
          <a:xfrm>
            <a:off x="10242773" y="6153222"/>
            <a:ext cx="425227" cy="549401"/>
          </a:xfrm>
          <a:prstGeom prst="rect">
            <a:avLst/>
          </a:prstGeom>
          <a:blipFill>
            <a:blip r:embed="rId2" cstate="print"/>
            <a:stretch>
              <a:fillRect/>
            </a:stretch>
          </a:blipFill>
        </p:spPr>
        <p:txBody>
          <a:bodyPr wrap="square" lIns="0" tIns="0" rIns="0" bIns="0" rtlCol="0">
            <a:noAutofit/>
          </a:bodyPr>
          <a:lstStyle/>
          <a:p>
            <a:endParaRPr/>
          </a:p>
        </p:txBody>
      </p:sp>
      <p:sp>
        <p:nvSpPr>
          <p:cNvPr id="3" name="object 11">
            <a:extLst>
              <a:ext uri="{FF2B5EF4-FFF2-40B4-BE49-F238E27FC236}">
                <a16:creationId xmlns:a16="http://schemas.microsoft.com/office/drawing/2014/main" id="{46DBE57D-BC43-4A76-836D-DA3ECB0D8800}"/>
              </a:ext>
            </a:extLst>
          </p:cNvPr>
          <p:cNvSpPr/>
          <p:nvPr/>
        </p:nvSpPr>
        <p:spPr>
          <a:xfrm flipV="1">
            <a:off x="1524000" y="6049107"/>
            <a:ext cx="9144000" cy="64484"/>
          </a:xfrm>
          <a:custGeom>
            <a:avLst/>
            <a:gdLst/>
            <a:ahLst/>
            <a:cxnLst/>
            <a:rect l="l" t="t" r="r" b="b"/>
            <a:pathLst>
              <a:path w="9144000">
                <a:moveTo>
                  <a:pt x="9144000" y="0"/>
                </a:moveTo>
                <a:lnTo>
                  <a:pt x="20573" y="0"/>
                </a:lnTo>
              </a:path>
              <a:path w="9144000">
                <a:moveTo>
                  <a:pt x="20573" y="1"/>
                </a:moveTo>
                <a:lnTo>
                  <a:pt x="9144000" y="0"/>
                </a:lnTo>
              </a:path>
            </a:pathLst>
          </a:custGeom>
          <a:ln w="28575">
            <a:solidFill>
              <a:srgbClr val="E6031E"/>
            </a:solidFill>
          </a:ln>
        </p:spPr>
        <p:txBody>
          <a:bodyPr wrap="square" lIns="0" tIns="0" rIns="0" bIns="0" rtlCol="0">
            <a:noAutofit/>
          </a:bodyPr>
          <a:lstStyle/>
          <a:p>
            <a:endParaRPr/>
          </a:p>
        </p:txBody>
      </p:sp>
      <p:sp>
        <p:nvSpPr>
          <p:cNvPr id="7" name="CuadroTexto 6">
            <a:extLst>
              <a:ext uri="{FF2B5EF4-FFF2-40B4-BE49-F238E27FC236}">
                <a16:creationId xmlns:a16="http://schemas.microsoft.com/office/drawing/2014/main" id="{81FD0DD9-AFFA-A5CD-EEE2-9F0FDD48B2CF}"/>
              </a:ext>
            </a:extLst>
          </p:cNvPr>
          <p:cNvSpPr txBox="1"/>
          <p:nvPr/>
        </p:nvSpPr>
        <p:spPr>
          <a:xfrm>
            <a:off x="1523999" y="1785241"/>
            <a:ext cx="9143999" cy="1200329"/>
          </a:xfrm>
          <a:prstGeom prst="rect">
            <a:avLst/>
          </a:prstGeom>
          <a:noFill/>
        </p:spPr>
        <p:txBody>
          <a:bodyPr wrap="square" rtlCol="0">
            <a:spAutoFit/>
          </a:bodyPr>
          <a:lstStyle/>
          <a:p>
            <a:pPr algn="just"/>
            <a:r>
              <a:rPr lang="es-ES" b="1" dirty="0">
                <a:latin typeface="Verdana" panose="020B0604030504040204" pitchFamily="34" charset="0"/>
                <a:ea typeface="Verdana" panose="020B0604030504040204" pitchFamily="34" charset="0"/>
                <a:cs typeface="Verdana" panose="020B0604030504040204" pitchFamily="34" charset="0"/>
              </a:rPr>
              <a:t>Ejemplo: </a:t>
            </a:r>
            <a:r>
              <a:rPr lang="es-ES" dirty="0">
                <a:latin typeface="Verdana" panose="020B0604030504040204" pitchFamily="34" charset="0"/>
                <a:ea typeface="Verdana" panose="020B0604030504040204" pitchFamily="34" charset="0"/>
                <a:cs typeface="Verdana" panose="020B0604030504040204" pitchFamily="34" charset="0"/>
              </a:rPr>
              <a:t>El club de teatro de la universidad central realiza ensayos para una obra que se montará en primavera. Si 6 hombres y 8 mujeres ensayan para los papeles principales (masculino y femenino), por la regla del producto, el director puede elegir a la pareja principal de 6 x 8 = 48 formas</a:t>
            </a:r>
            <a:endParaRPr lang="es-CO" dirty="0">
              <a:latin typeface="Verdana" panose="020B0604030504040204" pitchFamily="34" charset="0"/>
              <a:ea typeface="Verdana" panose="020B0604030504040204" pitchFamily="34" charset="0"/>
              <a:cs typeface="Verdana" panose="020B0604030504040204" pitchFamily="34" charset="0"/>
            </a:endParaRPr>
          </a:p>
        </p:txBody>
      </p:sp>
      <p:sp>
        <p:nvSpPr>
          <p:cNvPr id="9" name="CuadroTexto 8">
            <a:extLst>
              <a:ext uri="{FF2B5EF4-FFF2-40B4-BE49-F238E27FC236}">
                <a16:creationId xmlns:a16="http://schemas.microsoft.com/office/drawing/2014/main" id="{31F2CC57-E991-4CCB-C0C0-BB1737706EC6}"/>
              </a:ext>
            </a:extLst>
          </p:cNvPr>
          <p:cNvSpPr txBox="1"/>
          <p:nvPr/>
        </p:nvSpPr>
        <p:spPr>
          <a:xfrm>
            <a:off x="1523998" y="3724235"/>
            <a:ext cx="9143999" cy="923330"/>
          </a:xfrm>
          <a:prstGeom prst="rect">
            <a:avLst/>
          </a:prstGeom>
          <a:noFill/>
        </p:spPr>
        <p:txBody>
          <a:bodyPr wrap="square" rtlCol="0">
            <a:spAutoFit/>
          </a:bodyPr>
          <a:lstStyle/>
          <a:p>
            <a:pPr algn="just"/>
            <a:r>
              <a:rPr lang="es-ES" b="1" dirty="0">
                <a:latin typeface="Verdana" panose="020B0604030504040204" pitchFamily="34" charset="0"/>
                <a:ea typeface="Verdana" panose="020B0604030504040204" pitchFamily="34" charset="0"/>
                <a:cs typeface="Verdana" panose="020B0604030504040204" pitchFamily="34" charset="0"/>
              </a:rPr>
              <a:t>Ejemplo:</a:t>
            </a:r>
            <a:r>
              <a:rPr lang="es-ES" dirty="0">
                <a:latin typeface="Verdana" panose="020B0604030504040204" pitchFamily="34" charset="0"/>
                <a:ea typeface="Verdana" panose="020B0604030504040204" pitchFamily="34" charset="0"/>
                <a:cs typeface="Verdana" panose="020B0604030504040204" pitchFamily="34" charset="0"/>
              </a:rPr>
              <a:t> Las sillas de un auditorio han sido etiquetadas con una letra y un entero positivo que no excede el 100. ¿Cuál es el mayor número de sillas que pueden ser etiquetadas de forma distinta usando el alfabeto inglés?</a:t>
            </a:r>
          </a:p>
        </p:txBody>
      </p:sp>
      <p:sp>
        <p:nvSpPr>
          <p:cNvPr id="2" name="CuadroTexto 1">
            <a:extLst>
              <a:ext uri="{FF2B5EF4-FFF2-40B4-BE49-F238E27FC236}">
                <a16:creationId xmlns:a16="http://schemas.microsoft.com/office/drawing/2014/main" id="{46C801E0-134D-B3FD-B5D5-55E366B18231}"/>
              </a:ext>
            </a:extLst>
          </p:cNvPr>
          <p:cNvSpPr txBox="1"/>
          <p:nvPr/>
        </p:nvSpPr>
        <p:spPr>
          <a:xfrm>
            <a:off x="1523997" y="4924565"/>
            <a:ext cx="9143999" cy="923330"/>
          </a:xfrm>
          <a:prstGeom prst="rect">
            <a:avLst/>
          </a:prstGeom>
          <a:noFill/>
        </p:spPr>
        <p:txBody>
          <a:bodyPr wrap="square" rtlCol="0">
            <a:spAutoFit/>
          </a:bodyPr>
          <a:lstStyle/>
          <a:p>
            <a:pPr algn="just"/>
            <a:r>
              <a:rPr lang="es-ES" b="1" dirty="0">
                <a:latin typeface="Verdana" panose="020B0604030504040204" pitchFamily="34" charset="0"/>
                <a:ea typeface="Verdana" panose="020B0604030504040204" pitchFamily="34" charset="0"/>
                <a:cs typeface="Verdana" panose="020B0604030504040204" pitchFamily="34" charset="0"/>
              </a:rPr>
              <a:t>Solución. Se identifica las dos tareas T1 </a:t>
            </a:r>
            <a:r>
              <a:rPr lang="es-ES" dirty="0">
                <a:latin typeface="Verdana" panose="020B0604030504040204" pitchFamily="34" charset="0"/>
                <a:ea typeface="Verdana" panose="020B0604030504040204" pitchFamily="34" charset="0"/>
                <a:cs typeface="Verdana" panose="020B0604030504040204" pitchFamily="34" charset="0"/>
              </a:rPr>
              <a:t>: etiquetar sillas y T2: un número entero positivo menor o igual que 100.</a:t>
            </a:r>
          </a:p>
          <a:p>
            <a:pPr algn="just"/>
            <a:r>
              <a:rPr lang="es-ES" b="1" dirty="0">
                <a:latin typeface="Verdana" panose="020B0604030504040204" pitchFamily="34" charset="0"/>
                <a:ea typeface="Verdana" panose="020B0604030504040204" pitchFamily="34" charset="0"/>
                <a:cs typeface="Verdana" panose="020B0604030504040204" pitchFamily="34" charset="0"/>
              </a:rPr>
              <a:t>26 * 100 = 2600 etiquetas diferentes</a:t>
            </a:r>
          </a:p>
        </p:txBody>
      </p:sp>
    </p:spTree>
    <p:extLst>
      <p:ext uri="{BB962C8B-B14F-4D97-AF65-F5344CB8AC3E}">
        <p14:creationId xmlns:p14="http://schemas.microsoft.com/office/powerpoint/2010/main" val="40307999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ppt_x"/>
                                          </p:val>
                                        </p:tav>
                                        <p:tav tm="100000">
                                          <p:val>
                                            <p:strVal val="#ppt_x"/>
                                          </p:val>
                                        </p:tav>
                                      </p:tavLst>
                                    </p:anim>
                                    <p:anim calcmode="lin" valueType="num">
                                      <p:cBhvr additive="base">
                                        <p:cTn id="8"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9"/>
                                        </p:tgtEl>
                                        <p:attrNameLst>
                                          <p:attrName>style.visibility</p:attrName>
                                        </p:attrNameLst>
                                      </p:cBhvr>
                                      <p:to>
                                        <p:strVal val="visible"/>
                                      </p:to>
                                    </p:set>
                                    <p:anim calcmode="lin" valueType="num">
                                      <p:cBhvr additive="base">
                                        <p:cTn id="13" dur="500" fill="hold"/>
                                        <p:tgtEl>
                                          <p:spTgt spid="9"/>
                                        </p:tgtEl>
                                        <p:attrNameLst>
                                          <p:attrName>ppt_x</p:attrName>
                                        </p:attrNameLst>
                                      </p:cBhvr>
                                      <p:tavLst>
                                        <p:tav tm="0">
                                          <p:val>
                                            <p:strVal val="#ppt_x"/>
                                          </p:val>
                                        </p:tav>
                                        <p:tav tm="100000">
                                          <p:val>
                                            <p:strVal val="#ppt_x"/>
                                          </p:val>
                                        </p:tav>
                                      </p:tavLst>
                                    </p:anim>
                                    <p:anim calcmode="lin" valueType="num">
                                      <p:cBhvr additive="base">
                                        <p:cTn id="14"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2"/>
                                        </p:tgtEl>
                                        <p:attrNameLst>
                                          <p:attrName>style.visibility</p:attrName>
                                        </p:attrNameLst>
                                      </p:cBhvr>
                                      <p:to>
                                        <p:strVal val="visible"/>
                                      </p:to>
                                    </p:set>
                                    <p:anim calcmode="lin" valueType="num">
                                      <p:cBhvr additive="base">
                                        <p:cTn id="19" dur="500" fill="hold"/>
                                        <p:tgtEl>
                                          <p:spTgt spid="2"/>
                                        </p:tgtEl>
                                        <p:attrNameLst>
                                          <p:attrName>ppt_x</p:attrName>
                                        </p:attrNameLst>
                                      </p:cBhvr>
                                      <p:tavLst>
                                        <p:tav tm="0">
                                          <p:val>
                                            <p:strVal val="#ppt_x"/>
                                          </p:val>
                                        </p:tav>
                                        <p:tav tm="100000">
                                          <p:val>
                                            <p:strVal val="#ppt_x"/>
                                          </p:val>
                                        </p:tav>
                                      </p:tavLst>
                                    </p:anim>
                                    <p:anim calcmode="lin" valueType="num">
                                      <p:cBhvr additive="base">
                                        <p:cTn id="20"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9" grpId="0"/>
      <p:bldP spid="2"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uadroTexto 4">
            <a:extLst>
              <a:ext uri="{FF2B5EF4-FFF2-40B4-BE49-F238E27FC236}">
                <a16:creationId xmlns:a16="http://schemas.microsoft.com/office/drawing/2014/main" id="{269A2515-6534-9DF8-FD92-257B45E64BB0}"/>
              </a:ext>
            </a:extLst>
          </p:cNvPr>
          <p:cNvSpPr txBox="1"/>
          <p:nvPr/>
        </p:nvSpPr>
        <p:spPr>
          <a:xfrm>
            <a:off x="1524000" y="1324421"/>
            <a:ext cx="9144001" cy="646331"/>
          </a:xfrm>
          <a:prstGeom prst="rect">
            <a:avLst/>
          </a:prstGeom>
          <a:noFill/>
        </p:spPr>
        <p:txBody>
          <a:bodyPr wrap="square" rtlCol="0">
            <a:spAutoFit/>
          </a:bodyPr>
          <a:lstStyle/>
          <a:p>
            <a:pPr algn="just"/>
            <a:r>
              <a:rPr lang="es-ES" b="1" dirty="0">
                <a:latin typeface="Verdana" panose="020B0604030504040204" pitchFamily="34" charset="0"/>
                <a:ea typeface="Verdana" panose="020B0604030504040204" pitchFamily="34" charset="0"/>
                <a:cs typeface="Verdana" panose="020B0604030504040204" pitchFamily="34" charset="0"/>
              </a:rPr>
              <a:t>Ejemplo: </a:t>
            </a:r>
            <a:r>
              <a:rPr lang="es-ES" dirty="0">
                <a:latin typeface="Verdana" panose="020B0604030504040204" pitchFamily="34" charset="0"/>
                <a:ea typeface="Verdana" panose="020B0604030504040204" pitchFamily="34" charset="0"/>
                <a:cs typeface="Verdana" panose="020B0604030504040204" pitchFamily="34" charset="0"/>
              </a:rPr>
              <a:t>En un centro de cómputo hay 32 microcomputadores. Cada uno tiene 24 puertos. ¿Cuántos puertos diferentes hay en el centro de cómputo? </a:t>
            </a:r>
          </a:p>
        </p:txBody>
      </p:sp>
      <p:sp>
        <p:nvSpPr>
          <p:cNvPr id="4" name="object 9"/>
          <p:cNvSpPr/>
          <p:nvPr/>
        </p:nvSpPr>
        <p:spPr>
          <a:xfrm>
            <a:off x="1524000" y="473139"/>
            <a:ext cx="9144000" cy="649224"/>
          </a:xfrm>
          <a:custGeom>
            <a:avLst/>
            <a:gdLst/>
            <a:ahLst/>
            <a:cxnLst/>
            <a:rect l="l" t="t" r="r" b="b"/>
            <a:pathLst>
              <a:path w="9144000" h="649224">
                <a:moveTo>
                  <a:pt x="9144000" y="649223"/>
                </a:moveTo>
                <a:lnTo>
                  <a:pt x="9144000" y="0"/>
                </a:lnTo>
                <a:lnTo>
                  <a:pt x="0" y="0"/>
                </a:lnTo>
                <a:lnTo>
                  <a:pt x="0" y="649224"/>
                </a:lnTo>
                <a:lnTo>
                  <a:pt x="9144000" y="649223"/>
                </a:lnTo>
                <a:close/>
              </a:path>
            </a:pathLst>
          </a:custGeom>
          <a:solidFill>
            <a:srgbClr val="E6031E"/>
          </a:solidFill>
        </p:spPr>
        <p:txBody>
          <a:bodyPr wrap="square" lIns="0" tIns="0" rIns="0" bIns="0" rtlCol="0">
            <a:noAutofit/>
          </a:bodyPr>
          <a:lstStyle/>
          <a:p>
            <a:pPr algn="ctr"/>
            <a:r>
              <a:rPr lang="es-CO" sz="2400" b="1" dirty="0">
                <a:solidFill>
                  <a:schemeClr val="bg1"/>
                </a:solidFill>
                <a:latin typeface="Verdana" panose="020B0604030504040204" pitchFamily="34" charset="0"/>
                <a:ea typeface="Verdana" panose="020B0604030504040204" pitchFamily="34" charset="0"/>
                <a:cs typeface="Verdana" panose="020B0604030504040204" pitchFamily="34" charset="0"/>
              </a:rPr>
              <a:t>REGLA DEL PRODUCTO</a:t>
            </a:r>
            <a:endParaRPr sz="2400" b="1" dirty="0">
              <a:solidFill>
                <a:schemeClr val="bg1"/>
              </a:solidFill>
              <a:latin typeface="Verdana" panose="020B0604030504040204" pitchFamily="34" charset="0"/>
              <a:ea typeface="Verdana" panose="020B0604030504040204" pitchFamily="34" charset="0"/>
              <a:cs typeface="Verdana" panose="020B0604030504040204" pitchFamily="34" charset="0"/>
            </a:endParaRPr>
          </a:p>
        </p:txBody>
      </p:sp>
      <p:sp>
        <p:nvSpPr>
          <p:cNvPr id="6" name="object 12"/>
          <p:cNvSpPr/>
          <p:nvPr/>
        </p:nvSpPr>
        <p:spPr>
          <a:xfrm>
            <a:off x="10242773" y="6153222"/>
            <a:ext cx="425227" cy="549401"/>
          </a:xfrm>
          <a:prstGeom prst="rect">
            <a:avLst/>
          </a:prstGeom>
          <a:blipFill>
            <a:blip r:embed="rId2" cstate="print"/>
            <a:stretch>
              <a:fillRect/>
            </a:stretch>
          </a:blipFill>
        </p:spPr>
        <p:txBody>
          <a:bodyPr wrap="square" lIns="0" tIns="0" rIns="0" bIns="0" rtlCol="0">
            <a:noAutofit/>
          </a:bodyPr>
          <a:lstStyle/>
          <a:p>
            <a:endParaRPr/>
          </a:p>
        </p:txBody>
      </p:sp>
      <p:sp>
        <p:nvSpPr>
          <p:cNvPr id="3" name="object 11">
            <a:extLst>
              <a:ext uri="{FF2B5EF4-FFF2-40B4-BE49-F238E27FC236}">
                <a16:creationId xmlns:a16="http://schemas.microsoft.com/office/drawing/2014/main" id="{46DBE57D-BC43-4A76-836D-DA3ECB0D8800}"/>
              </a:ext>
            </a:extLst>
          </p:cNvPr>
          <p:cNvSpPr/>
          <p:nvPr/>
        </p:nvSpPr>
        <p:spPr>
          <a:xfrm flipV="1">
            <a:off x="1524000" y="6049107"/>
            <a:ext cx="9144000" cy="64484"/>
          </a:xfrm>
          <a:custGeom>
            <a:avLst/>
            <a:gdLst/>
            <a:ahLst/>
            <a:cxnLst/>
            <a:rect l="l" t="t" r="r" b="b"/>
            <a:pathLst>
              <a:path w="9144000">
                <a:moveTo>
                  <a:pt x="9144000" y="0"/>
                </a:moveTo>
                <a:lnTo>
                  <a:pt x="20573" y="0"/>
                </a:lnTo>
              </a:path>
              <a:path w="9144000">
                <a:moveTo>
                  <a:pt x="20573" y="1"/>
                </a:moveTo>
                <a:lnTo>
                  <a:pt x="9144000" y="0"/>
                </a:lnTo>
              </a:path>
            </a:pathLst>
          </a:custGeom>
          <a:ln w="28575">
            <a:solidFill>
              <a:srgbClr val="E6031E"/>
            </a:solidFill>
          </a:ln>
        </p:spPr>
        <p:txBody>
          <a:bodyPr wrap="square" lIns="0" tIns="0" rIns="0" bIns="0" rtlCol="0">
            <a:noAutofit/>
          </a:bodyPr>
          <a:lstStyle/>
          <a:p>
            <a:endParaRPr/>
          </a:p>
        </p:txBody>
      </p:sp>
      <p:sp>
        <p:nvSpPr>
          <p:cNvPr id="7" name="CuadroTexto 6">
            <a:extLst>
              <a:ext uri="{FF2B5EF4-FFF2-40B4-BE49-F238E27FC236}">
                <a16:creationId xmlns:a16="http://schemas.microsoft.com/office/drawing/2014/main" id="{81FD0DD9-AFFA-A5CD-EEE2-9F0FDD48B2CF}"/>
              </a:ext>
            </a:extLst>
          </p:cNvPr>
          <p:cNvSpPr txBox="1"/>
          <p:nvPr/>
        </p:nvSpPr>
        <p:spPr>
          <a:xfrm>
            <a:off x="1524000" y="3354902"/>
            <a:ext cx="9143999" cy="646331"/>
          </a:xfrm>
          <a:prstGeom prst="rect">
            <a:avLst/>
          </a:prstGeom>
          <a:noFill/>
        </p:spPr>
        <p:txBody>
          <a:bodyPr wrap="square" rtlCol="0">
            <a:spAutoFit/>
          </a:bodyPr>
          <a:lstStyle/>
          <a:p>
            <a:pPr algn="just"/>
            <a:r>
              <a:rPr lang="es-ES" b="1" dirty="0">
                <a:latin typeface="Verdana" panose="020B0604030504040204" pitchFamily="34" charset="0"/>
                <a:ea typeface="Verdana" panose="020B0604030504040204" pitchFamily="34" charset="0"/>
                <a:cs typeface="Verdana" panose="020B0604030504040204" pitchFamily="34" charset="0"/>
              </a:rPr>
              <a:t>Ejemplo: </a:t>
            </a:r>
            <a:r>
              <a:rPr lang="es-ES" dirty="0">
                <a:latin typeface="Verdana" panose="020B0604030504040204" pitchFamily="34" charset="0"/>
                <a:ea typeface="Verdana" panose="020B0604030504040204" pitchFamily="34" charset="0"/>
                <a:cs typeface="Verdana" panose="020B0604030504040204" pitchFamily="34" charset="0"/>
              </a:rPr>
              <a:t>¿Cuántas cadenas de longitud 4 pueden formarse mediante las letras ABCDE si no se permiten repeticiones?</a:t>
            </a:r>
            <a:endParaRPr lang="es-CO" dirty="0">
              <a:latin typeface="Verdana" panose="020B0604030504040204" pitchFamily="34" charset="0"/>
              <a:ea typeface="Verdana" panose="020B0604030504040204" pitchFamily="34" charset="0"/>
              <a:cs typeface="Verdana" panose="020B0604030504040204" pitchFamily="34" charset="0"/>
            </a:endParaRPr>
          </a:p>
        </p:txBody>
      </p:sp>
      <p:sp>
        <p:nvSpPr>
          <p:cNvPr id="9" name="CuadroTexto 8">
            <a:extLst>
              <a:ext uri="{FF2B5EF4-FFF2-40B4-BE49-F238E27FC236}">
                <a16:creationId xmlns:a16="http://schemas.microsoft.com/office/drawing/2014/main" id="{31F2CC57-E991-4CCB-C0C0-BB1737706EC6}"/>
              </a:ext>
            </a:extLst>
          </p:cNvPr>
          <p:cNvSpPr txBox="1"/>
          <p:nvPr/>
        </p:nvSpPr>
        <p:spPr>
          <a:xfrm>
            <a:off x="1524000" y="4923718"/>
            <a:ext cx="9143999" cy="923330"/>
          </a:xfrm>
          <a:prstGeom prst="rect">
            <a:avLst/>
          </a:prstGeom>
          <a:noFill/>
        </p:spPr>
        <p:txBody>
          <a:bodyPr wrap="square" rtlCol="0">
            <a:spAutoFit/>
          </a:bodyPr>
          <a:lstStyle/>
          <a:p>
            <a:pPr algn="just"/>
            <a:r>
              <a:rPr lang="es-ES" b="1" dirty="0">
                <a:latin typeface="Verdana" panose="020B0604030504040204" pitchFamily="34" charset="0"/>
                <a:ea typeface="Verdana" panose="020B0604030504040204" pitchFamily="34" charset="0"/>
                <a:cs typeface="Verdana" panose="020B0604030504040204" pitchFamily="34" charset="0"/>
              </a:rPr>
              <a:t>Ejemplo: </a:t>
            </a:r>
            <a:r>
              <a:rPr lang="es-ES" dirty="0">
                <a:latin typeface="Verdana" panose="020B0604030504040204" pitchFamily="34" charset="0"/>
                <a:ea typeface="Verdana" panose="020B0604030504040204" pitchFamily="34" charset="0"/>
                <a:cs typeface="Verdana" panose="020B0604030504040204" pitchFamily="34" charset="0"/>
              </a:rPr>
              <a:t>En una imagen digital queremos codificar la cantidad de luz en cada punto como una cadena de 8 bits. ¿Cuántos valores son posibles en cada punto? </a:t>
            </a:r>
          </a:p>
        </p:txBody>
      </p:sp>
      <p:sp>
        <p:nvSpPr>
          <p:cNvPr id="2" name="CuadroTexto 1">
            <a:extLst>
              <a:ext uri="{FF2B5EF4-FFF2-40B4-BE49-F238E27FC236}">
                <a16:creationId xmlns:a16="http://schemas.microsoft.com/office/drawing/2014/main" id="{A1C5C10C-8419-E5C8-87CD-56109CF30D91}"/>
              </a:ext>
            </a:extLst>
          </p:cNvPr>
          <p:cNvSpPr txBox="1"/>
          <p:nvPr/>
        </p:nvSpPr>
        <p:spPr>
          <a:xfrm>
            <a:off x="5247858" y="4237756"/>
            <a:ext cx="9143999" cy="646331"/>
          </a:xfrm>
          <a:prstGeom prst="rect">
            <a:avLst/>
          </a:prstGeom>
          <a:noFill/>
        </p:spPr>
        <p:txBody>
          <a:bodyPr wrap="square" rtlCol="0">
            <a:spAutoFit/>
          </a:bodyPr>
          <a:lstStyle/>
          <a:p>
            <a:pPr algn="just"/>
            <a:r>
              <a:rPr lang="es-MX" dirty="0">
                <a:latin typeface="Verdana" panose="020B0604030504040204" pitchFamily="34" charset="0"/>
                <a:ea typeface="Verdana" panose="020B0604030504040204" pitchFamily="34" charset="0"/>
                <a:cs typeface="Verdana" panose="020B0604030504040204" pitchFamily="34" charset="0"/>
              </a:rPr>
              <a:t>5*4*3*2 = 120</a:t>
            </a:r>
          </a:p>
          <a:p>
            <a:pPr algn="just"/>
            <a:endParaRPr lang="es-CO" dirty="0">
              <a:latin typeface="Verdana" panose="020B0604030504040204" pitchFamily="34" charset="0"/>
              <a:ea typeface="Verdana" panose="020B0604030504040204" pitchFamily="34" charset="0"/>
              <a:cs typeface="Verdana" panose="020B0604030504040204" pitchFamily="34" charset="0"/>
            </a:endParaRPr>
          </a:p>
        </p:txBody>
      </p:sp>
      <p:sp>
        <p:nvSpPr>
          <p:cNvPr id="8" name="CuadroTexto 7">
            <a:extLst>
              <a:ext uri="{FF2B5EF4-FFF2-40B4-BE49-F238E27FC236}">
                <a16:creationId xmlns:a16="http://schemas.microsoft.com/office/drawing/2014/main" id="{E0401242-91EE-6E6D-4D3A-395C5201B9AA}"/>
              </a:ext>
            </a:extLst>
          </p:cNvPr>
          <p:cNvSpPr txBox="1"/>
          <p:nvPr/>
        </p:nvSpPr>
        <p:spPr>
          <a:xfrm>
            <a:off x="1523999" y="2220555"/>
            <a:ext cx="9143999" cy="1200329"/>
          </a:xfrm>
          <a:prstGeom prst="rect">
            <a:avLst/>
          </a:prstGeom>
          <a:noFill/>
        </p:spPr>
        <p:txBody>
          <a:bodyPr wrap="square" rtlCol="0">
            <a:spAutoFit/>
          </a:bodyPr>
          <a:lstStyle/>
          <a:p>
            <a:pPr algn="just"/>
            <a:r>
              <a:rPr lang="es-MX" dirty="0">
                <a:latin typeface="Verdana" panose="020B0604030504040204" pitchFamily="34" charset="0"/>
                <a:ea typeface="Verdana" panose="020B0604030504040204" pitchFamily="34" charset="0"/>
                <a:cs typeface="Verdana" panose="020B0604030504040204" pitchFamily="34" charset="0"/>
              </a:rPr>
              <a:t>T1= Selecciona un microcomputador</a:t>
            </a:r>
          </a:p>
          <a:p>
            <a:pPr algn="just"/>
            <a:r>
              <a:rPr lang="es-MX" dirty="0">
                <a:latin typeface="Verdana" panose="020B0604030504040204" pitchFamily="34" charset="0"/>
                <a:ea typeface="Verdana" panose="020B0604030504040204" pitchFamily="34" charset="0"/>
                <a:cs typeface="Verdana" panose="020B0604030504040204" pitchFamily="34" charset="0"/>
              </a:rPr>
              <a:t>T2 = selecciona un puerto </a:t>
            </a:r>
          </a:p>
          <a:p>
            <a:pPr algn="just"/>
            <a:r>
              <a:rPr lang="es-MX" dirty="0">
                <a:latin typeface="Verdana" panose="020B0604030504040204" pitchFamily="34" charset="0"/>
                <a:ea typeface="Verdana" panose="020B0604030504040204" pitchFamily="34" charset="0"/>
                <a:cs typeface="Verdana" panose="020B0604030504040204" pitchFamily="34" charset="0"/>
              </a:rPr>
              <a:t>32 * 24 = 768 puertos</a:t>
            </a:r>
          </a:p>
          <a:p>
            <a:pPr algn="just"/>
            <a:endParaRPr lang="es-CO" dirty="0">
              <a:latin typeface="Verdana" panose="020B0604030504040204" pitchFamily="34" charset="0"/>
              <a:ea typeface="Verdana" panose="020B0604030504040204" pitchFamily="34" charset="0"/>
              <a:cs typeface="Verdana" panose="020B0604030504040204" pitchFamily="34" charset="0"/>
            </a:endParaRPr>
          </a:p>
        </p:txBody>
      </p:sp>
    </p:spTree>
    <p:extLst>
      <p:ext uri="{BB962C8B-B14F-4D97-AF65-F5344CB8AC3E}">
        <p14:creationId xmlns:p14="http://schemas.microsoft.com/office/powerpoint/2010/main" val="36670782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8"/>
                                        </p:tgtEl>
                                        <p:attrNameLst>
                                          <p:attrName>style.visibility</p:attrName>
                                        </p:attrNameLst>
                                      </p:cBhvr>
                                      <p:to>
                                        <p:strVal val="visible"/>
                                      </p:to>
                                    </p:set>
                                    <p:anim calcmode="lin" valueType="num">
                                      <p:cBhvr additive="base">
                                        <p:cTn id="13" dur="500" fill="hold"/>
                                        <p:tgtEl>
                                          <p:spTgt spid="8"/>
                                        </p:tgtEl>
                                        <p:attrNameLst>
                                          <p:attrName>ppt_x</p:attrName>
                                        </p:attrNameLst>
                                      </p:cBhvr>
                                      <p:tavLst>
                                        <p:tav tm="0">
                                          <p:val>
                                            <p:strVal val="#ppt_x"/>
                                          </p:val>
                                        </p:tav>
                                        <p:tav tm="100000">
                                          <p:val>
                                            <p:strVal val="#ppt_x"/>
                                          </p:val>
                                        </p:tav>
                                      </p:tavLst>
                                    </p:anim>
                                    <p:anim calcmode="lin" valueType="num">
                                      <p:cBhvr additive="base">
                                        <p:cTn id="14"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anim calcmode="lin" valueType="num">
                                      <p:cBhvr additive="base">
                                        <p:cTn id="19" dur="500" fill="hold"/>
                                        <p:tgtEl>
                                          <p:spTgt spid="7"/>
                                        </p:tgtEl>
                                        <p:attrNameLst>
                                          <p:attrName>ppt_x</p:attrName>
                                        </p:attrNameLst>
                                      </p:cBhvr>
                                      <p:tavLst>
                                        <p:tav tm="0">
                                          <p:val>
                                            <p:strVal val="#ppt_x"/>
                                          </p:val>
                                        </p:tav>
                                        <p:tav tm="100000">
                                          <p:val>
                                            <p:strVal val="#ppt_x"/>
                                          </p:val>
                                        </p:tav>
                                      </p:tavLst>
                                    </p:anim>
                                    <p:anim calcmode="lin" valueType="num">
                                      <p:cBhvr additive="base">
                                        <p:cTn id="20"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2"/>
                                        </p:tgtEl>
                                        <p:attrNameLst>
                                          <p:attrName>style.visibility</p:attrName>
                                        </p:attrNameLst>
                                      </p:cBhvr>
                                      <p:to>
                                        <p:strVal val="visible"/>
                                      </p:to>
                                    </p:set>
                                    <p:anim calcmode="lin" valueType="num">
                                      <p:cBhvr additive="base">
                                        <p:cTn id="25" dur="500" fill="hold"/>
                                        <p:tgtEl>
                                          <p:spTgt spid="2"/>
                                        </p:tgtEl>
                                        <p:attrNameLst>
                                          <p:attrName>ppt_x</p:attrName>
                                        </p:attrNameLst>
                                      </p:cBhvr>
                                      <p:tavLst>
                                        <p:tav tm="0">
                                          <p:val>
                                            <p:strVal val="#ppt_x"/>
                                          </p:val>
                                        </p:tav>
                                        <p:tav tm="100000">
                                          <p:val>
                                            <p:strVal val="#ppt_x"/>
                                          </p:val>
                                        </p:tav>
                                      </p:tavLst>
                                    </p:anim>
                                    <p:anim calcmode="lin" valueType="num">
                                      <p:cBhvr additive="base">
                                        <p:cTn id="26"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9"/>
                                        </p:tgtEl>
                                        <p:attrNameLst>
                                          <p:attrName>style.visibility</p:attrName>
                                        </p:attrNameLst>
                                      </p:cBhvr>
                                      <p:to>
                                        <p:strVal val="visible"/>
                                      </p:to>
                                    </p:set>
                                    <p:anim calcmode="lin" valueType="num">
                                      <p:cBhvr additive="base">
                                        <p:cTn id="31" dur="500" fill="hold"/>
                                        <p:tgtEl>
                                          <p:spTgt spid="9"/>
                                        </p:tgtEl>
                                        <p:attrNameLst>
                                          <p:attrName>ppt_x</p:attrName>
                                        </p:attrNameLst>
                                      </p:cBhvr>
                                      <p:tavLst>
                                        <p:tav tm="0">
                                          <p:val>
                                            <p:strVal val="#ppt_x"/>
                                          </p:val>
                                        </p:tav>
                                        <p:tav tm="100000">
                                          <p:val>
                                            <p:strVal val="#ppt_x"/>
                                          </p:val>
                                        </p:tav>
                                      </p:tavLst>
                                    </p:anim>
                                    <p:anim calcmode="lin" valueType="num">
                                      <p:cBhvr additive="base">
                                        <p:cTn id="32" dur="500" fill="hold"/>
                                        <p:tgtEl>
                                          <p:spTgt spid="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7" grpId="0"/>
      <p:bldP spid="9" grpId="0"/>
      <p:bldP spid="2" grpId="0"/>
      <p:bldP spid="8"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9"/>
          <p:cNvSpPr/>
          <p:nvPr/>
        </p:nvSpPr>
        <p:spPr>
          <a:xfrm>
            <a:off x="1524000" y="473139"/>
            <a:ext cx="9144000" cy="649224"/>
          </a:xfrm>
          <a:custGeom>
            <a:avLst/>
            <a:gdLst/>
            <a:ahLst/>
            <a:cxnLst/>
            <a:rect l="l" t="t" r="r" b="b"/>
            <a:pathLst>
              <a:path w="9144000" h="649224">
                <a:moveTo>
                  <a:pt x="9144000" y="649223"/>
                </a:moveTo>
                <a:lnTo>
                  <a:pt x="9144000" y="0"/>
                </a:lnTo>
                <a:lnTo>
                  <a:pt x="0" y="0"/>
                </a:lnTo>
                <a:lnTo>
                  <a:pt x="0" y="649224"/>
                </a:lnTo>
                <a:lnTo>
                  <a:pt x="9144000" y="649223"/>
                </a:lnTo>
                <a:close/>
              </a:path>
            </a:pathLst>
          </a:custGeom>
          <a:solidFill>
            <a:srgbClr val="E6031E"/>
          </a:solidFill>
        </p:spPr>
        <p:txBody>
          <a:bodyPr wrap="square" lIns="0" tIns="0" rIns="0" bIns="0" rtlCol="0">
            <a:noAutofit/>
          </a:bodyPr>
          <a:lstStyle/>
          <a:p>
            <a:pPr algn="ctr"/>
            <a:r>
              <a:rPr lang="es-CO" sz="2400" b="1" dirty="0">
                <a:solidFill>
                  <a:schemeClr val="bg1"/>
                </a:solidFill>
                <a:latin typeface="Verdana" panose="020B0604030504040204" pitchFamily="34" charset="0"/>
                <a:ea typeface="Verdana" panose="020B0604030504040204" pitchFamily="34" charset="0"/>
                <a:cs typeface="Verdana" panose="020B0604030504040204" pitchFamily="34" charset="0"/>
              </a:rPr>
              <a:t>REGLA DEL PRODUCTO</a:t>
            </a:r>
            <a:endParaRPr sz="2400" b="1" dirty="0">
              <a:solidFill>
                <a:schemeClr val="bg1"/>
              </a:solidFill>
              <a:latin typeface="Verdana" panose="020B0604030504040204" pitchFamily="34" charset="0"/>
              <a:ea typeface="Verdana" panose="020B0604030504040204" pitchFamily="34" charset="0"/>
              <a:cs typeface="Verdana" panose="020B0604030504040204" pitchFamily="34" charset="0"/>
            </a:endParaRPr>
          </a:p>
        </p:txBody>
      </p:sp>
      <p:sp>
        <p:nvSpPr>
          <p:cNvPr id="6" name="object 12"/>
          <p:cNvSpPr/>
          <p:nvPr/>
        </p:nvSpPr>
        <p:spPr>
          <a:xfrm>
            <a:off x="10242773" y="6153222"/>
            <a:ext cx="425227" cy="549401"/>
          </a:xfrm>
          <a:prstGeom prst="rect">
            <a:avLst/>
          </a:prstGeom>
          <a:blipFill>
            <a:blip r:embed="rId2" cstate="print"/>
            <a:stretch>
              <a:fillRect/>
            </a:stretch>
          </a:blipFill>
        </p:spPr>
        <p:txBody>
          <a:bodyPr wrap="square" lIns="0" tIns="0" rIns="0" bIns="0" rtlCol="0">
            <a:noAutofit/>
          </a:bodyPr>
          <a:lstStyle/>
          <a:p>
            <a:endParaRPr/>
          </a:p>
        </p:txBody>
      </p:sp>
      <p:sp>
        <p:nvSpPr>
          <p:cNvPr id="3" name="object 11">
            <a:extLst>
              <a:ext uri="{FF2B5EF4-FFF2-40B4-BE49-F238E27FC236}">
                <a16:creationId xmlns:a16="http://schemas.microsoft.com/office/drawing/2014/main" id="{46DBE57D-BC43-4A76-836D-DA3ECB0D8800}"/>
              </a:ext>
            </a:extLst>
          </p:cNvPr>
          <p:cNvSpPr/>
          <p:nvPr/>
        </p:nvSpPr>
        <p:spPr>
          <a:xfrm flipV="1">
            <a:off x="1524000" y="6049107"/>
            <a:ext cx="9144000" cy="64484"/>
          </a:xfrm>
          <a:custGeom>
            <a:avLst/>
            <a:gdLst/>
            <a:ahLst/>
            <a:cxnLst/>
            <a:rect l="l" t="t" r="r" b="b"/>
            <a:pathLst>
              <a:path w="9144000">
                <a:moveTo>
                  <a:pt x="9144000" y="0"/>
                </a:moveTo>
                <a:lnTo>
                  <a:pt x="20573" y="0"/>
                </a:lnTo>
              </a:path>
              <a:path w="9144000">
                <a:moveTo>
                  <a:pt x="20573" y="1"/>
                </a:moveTo>
                <a:lnTo>
                  <a:pt x="9144000" y="0"/>
                </a:lnTo>
              </a:path>
            </a:pathLst>
          </a:custGeom>
          <a:ln w="28575">
            <a:solidFill>
              <a:srgbClr val="E6031E"/>
            </a:solidFill>
          </a:ln>
        </p:spPr>
        <p:txBody>
          <a:bodyPr wrap="square" lIns="0" tIns="0" rIns="0" bIns="0" rtlCol="0">
            <a:noAutofit/>
          </a:bodyPr>
          <a:lstStyle/>
          <a:p>
            <a:endParaRPr/>
          </a:p>
        </p:txBody>
      </p:sp>
      <p:sp>
        <p:nvSpPr>
          <p:cNvPr id="9" name="CuadroTexto 8">
            <a:extLst>
              <a:ext uri="{FF2B5EF4-FFF2-40B4-BE49-F238E27FC236}">
                <a16:creationId xmlns:a16="http://schemas.microsoft.com/office/drawing/2014/main" id="{31F2CC57-E991-4CCB-C0C0-BB1737706EC6}"/>
              </a:ext>
            </a:extLst>
          </p:cNvPr>
          <p:cNvSpPr txBox="1"/>
          <p:nvPr/>
        </p:nvSpPr>
        <p:spPr>
          <a:xfrm>
            <a:off x="1524001" y="1696914"/>
            <a:ext cx="9143999" cy="923330"/>
          </a:xfrm>
          <a:prstGeom prst="rect">
            <a:avLst/>
          </a:prstGeom>
          <a:noFill/>
        </p:spPr>
        <p:txBody>
          <a:bodyPr wrap="square" rtlCol="0">
            <a:spAutoFit/>
          </a:bodyPr>
          <a:lstStyle/>
          <a:p>
            <a:pPr algn="just"/>
            <a:r>
              <a:rPr lang="es-ES" b="1" dirty="0">
                <a:latin typeface="Verdana" panose="020B0604030504040204" pitchFamily="34" charset="0"/>
                <a:ea typeface="Verdana" panose="020B0604030504040204" pitchFamily="34" charset="0"/>
                <a:cs typeface="Verdana" panose="020B0604030504040204" pitchFamily="34" charset="0"/>
              </a:rPr>
              <a:t>Ejemplo: </a:t>
            </a:r>
            <a:r>
              <a:rPr lang="es-ES" dirty="0">
                <a:latin typeface="Verdana" panose="020B0604030504040204" pitchFamily="34" charset="0"/>
                <a:ea typeface="Verdana" panose="020B0604030504040204" pitchFamily="34" charset="0"/>
                <a:cs typeface="Verdana" panose="020B0604030504040204" pitchFamily="34" charset="0"/>
              </a:rPr>
              <a:t>En una imagen digital queremos codificar la cantidad de luz en cada punto como una cadena de 8 bits. ¿Cuántos valores son posibles en cada punto? </a:t>
            </a:r>
          </a:p>
        </p:txBody>
      </p:sp>
      <p:sp>
        <p:nvSpPr>
          <p:cNvPr id="2" name="CuadroTexto 1">
            <a:extLst>
              <a:ext uri="{FF2B5EF4-FFF2-40B4-BE49-F238E27FC236}">
                <a16:creationId xmlns:a16="http://schemas.microsoft.com/office/drawing/2014/main" id="{A1C5C10C-8419-E5C8-87CD-56109CF30D91}"/>
              </a:ext>
            </a:extLst>
          </p:cNvPr>
          <p:cNvSpPr txBox="1"/>
          <p:nvPr/>
        </p:nvSpPr>
        <p:spPr>
          <a:xfrm>
            <a:off x="1524000" y="3627896"/>
            <a:ext cx="9143999" cy="923330"/>
          </a:xfrm>
          <a:prstGeom prst="rect">
            <a:avLst/>
          </a:prstGeom>
          <a:noFill/>
        </p:spPr>
        <p:txBody>
          <a:bodyPr wrap="square" rtlCol="0">
            <a:spAutoFit/>
          </a:bodyPr>
          <a:lstStyle/>
          <a:p>
            <a:pPr algn="just"/>
            <a:r>
              <a:rPr lang="es-MX" b="1" dirty="0">
                <a:latin typeface="Verdana" panose="020B0604030504040204" pitchFamily="34" charset="0"/>
                <a:ea typeface="Verdana" panose="020B0604030504040204" pitchFamily="34" charset="0"/>
                <a:cs typeface="Verdana" panose="020B0604030504040204" pitchFamily="34" charset="0"/>
              </a:rPr>
              <a:t>Solución. </a:t>
            </a:r>
          </a:p>
          <a:p>
            <a:pPr algn="just"/>
            <a:r>
              <a:rPr lang="es-MX" dirty="0">
                <a:latin typeface="Verdana" panose="020B0604030504040204" pitchFamily="34" charset="0"/>
                <a:ea typeface="Verdana" panose="020B0604030504040204" pitchFamily="34" charset="0"/>
                <a:cs typeface="Verdana" panose="020B0604030504040204" pitchFamily="34" charset="0"/>
              </a:rPr>
              <a:t>	</a:t>
            </a:r>
          </a:p>
          <a:p>
            <a:pPr algn="just"/>
            <a:r>
              <a:rPr lang="es-MX" dirty="0">
                <a:latin typeface="Verdana" panose="020B0604030504040204" pitchFamily="34" charset="0"/>
                <a:ea typeface="Verdana" panose="020B0604030504040204" pitchFamily="34" charset="0"/>
                <a:cs typeface="Verdana" panose="020B0604030504040204" pitchFamily="34" charset="0"/>
              </a:rPr>
              <a:t>2*2*2*2*2*2*2*2 = </a:t>
            </a:r>
            <a:r>
              <a:rPr lang="es-CO" dirty="0">
                <a:latin typeface="Verdana" panose="020B0604030504040204" pitchFamily="34" charset="0"/>
                <a:ea typeface="Verdana" panose="020B0604030504040204" pitchFamily="34" charset="0"/>
              </a:rPr>
              <a:t>2</a:t>
            </a:r>
            <a:r>
              <a:rPr lang="es-CO" baseline="30000" dirty="0">
                <a:latin typeface="Verdana" panose="020B0604030504040204" pitchFamily="34" charset="0"/>
                <a:ea typeface="Verdana" panose="020B0604030504040204" pitchFamily="34" charset="0"/>
              </a:rPr>
              <a:t>8</a:t>
            </a:r>
            <a:endParaRPr lang="es-MX" dirty="0">
              <a:latin typeface="Verdana" panose="020B0604030504040204" pitchFamily="34" charset="0"/>
              <a:ea typeface="Verdana" panose="020B0604030504040204" pitchFamily="34" charset="0"/>
              <a:cs typeface="Verdana" panose="020B0604030504040204" pitchFamily="34" charset="0"/>
            </a:endParaRPr>
          </a:p>
        </p:txBody>
      </p:sp>
    </p:spTree>
    <p:extLst>
      <p:ext uri="{BB962C8B-B14F-4D97-AF65-F5344CB8AC3E}">
        <p14:creationId xmlns:p14="http://schemas.microsoft.com/office/powerpoint/2010/main" val="26087911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500" fill="hold"/>
                                        <p:tgtEl>
                                          <p:spTgt spid="9"/>
                                        </p:tgtEl>
                                        <p:attrNameLst>
                                          <p:attrName>ppt_x</p:attrName>
                                        </p:attrNameLst>
                                      </p:cBhvr>
                                      <p:tavLst>
                                        <p:tav tm="0">
                                          <p:val>
                                            <p:strVal val="#ppt_x"/>
                                          </p:val>
                                        </p:tav>
                                        <p:tav tm="100000">
                                          <p:val>
                                            <p:strVal val="#ppt_x"/>
                                          </p:val>
                                        </p:tav>
                                      </p:tavLst>
                                    </p:anim>
                                    <p:anim calcmode="lin" valueType="num">
                                      <p:cBhvr additive="base">
                                        <p:cTn id="8"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2"/>
                                        </p:tgtEl>
                                        <p:attrNameLst>
                                          <p:attrName>style.visibility</p:attrName>
                                        </p:attrNameLst>
                                      </p:cBhvr>
                                      <p:to>
                                        <p:strVal val="visible"/>
                                      </p:to>
                                    </p:set>
                                    <p:anim calcmode="lin" valueType="num">
                                      <p:cBhvr additive="base">
                                        <p:cTn id="13" dur="500" fill="hold"/>
                                        <p:tgtEl>
                                          <p:spTgt spid="2"/>
                                        </p:tgtEl>
                                        <p:attrNameLst>
                                          <p:attrName>ppt_x</p:attrName>
                                        </p:attrNameLst>
                                      </p:cBhvr>
                                      <p:tavLst>
                                        <p:tav tm="0">
                                          <p:val>
                                            <p:strVal val="#ppt_x"/>
                                          </p:val>
                                        </p:tav>
                                        <p:tav tm="100000">
                                          <p:val>
                                            <p:strVal val="#ppt_x"/>
                                          </p:val>
                                        </p:tav>
                                      </p:tavLst>
                                    </p:anim>
                                    <p:anim calcmode="lin" valueType="num">
                                      <p:cBhvr additive="base">
                                        <p:cTn id="14"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2"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9"/>
          <p:cNvSpPr/>
          <p:nvPr/>
        </p:nvSpPr>
        <p:spPr>
          <a:xfrm>
            <a:off x="1524000" y="473139"/>
            <a:ext cx="9144000" cy="649224"/>
          </a:xfrm>
          <a:custGeom>
            <a:avLst/>
            <a:gdLst/>
            <a:ahLst/>
            <a:cxnLst/>
            <a:rect l="l" t="t" r="r" b="b"/>
            <a:pathLst>
              <a:path w="9144000" h="649224">
                <a:moveTo>
                  <a:pt x="9144000" y="649223"/>
                </a:moveTo>
                <a:lnTo>
                  <a:pt x="9144000" y="0"/>
                </a:lnTo>
                <a:lnTo>
                  <a:pt x="0" y="0"/>
                </a:lnTo>
                <a:lnTo>
                  <a:pt x="0" y="649224"/>
                </a:lnTo>
                <a:lnTo>
                  <a:pt x="9144000" y="649223"/>
                </a:lnTo>
                <a:close/>
              </a:path>
            </a:pathLst>
          </a:custGeom>
          <a:solidFill>
            <a:srgbClr val="E6031E"/>
          </a:solidFill>
        </p:spPr>
        <p:txBody>
          <a:bodyPr wrap="square" lIns="0" tIns="0" rIns="0" bIns="0" rtlCol="0">
            <a:noAutofit/>
          </a:bodyPr>
          <a:lstStyle/>
          <a:p>
            <a:pPr algn="ctr"/>
            <a:r>
              <a:rPr lang="es-CO" sz="2400" b="1" dirty="0">
                <a:solidFill>
                  <a:schemeClr val="bg1"/>
                </a:solidFill>
                <a:latin typeface="Verdana" panose="020B0604030504040204" pitchFamily="34" charset="0"/>
                <a:ea typeface="Verdana" panose="020B0604030504040204" pitchFamily="34" charset="0"/>
                <a:cs typeface="Verdana" panose="020B0604030504040204" pitchFamily="34" charset="0"/>
              </a:rPr>
              <a:t>EXTENSIÓN DEL PRODUCTO</a:t>
            </a:r>
            <a:endParaRPr sz="2400" b="1" dirty="0">
              <a:solidFill>
                <a:schemeClr val="bg1"/>
              </a:solidFill>
              <a:latin typeface="Verdana" panose="020B0604030504040204" pitchFamily="34" charset="0"/>
              <a:ea typeface="Verdana" panose="020B0604030504040204" pitchFamily="34" charset="0"/>
              <a:cs typeface="Verdana" panose="020B0604030504040204" pitchFamily="34" charset="0"/>
            </a:endParaRPr>
          </a:p>
        </p:txBody>
      </p:sp>
      <p:sp>
        <p:nvSpPr>
          <p:cNvPr id="6" name="object 12"/>
          <p:cNvSpPr/>
          <p:nvPr/>
        </p:nvSpPr>
        <p:spPr>
          <a:xfrm>
            <a:off x="10242773" y="6153222"/>
            <a:ext cx="425227" cy="549401"/>
          </a:xfrm>
          <a:prstGeom prst="rect">
            <a:avLst/>
          </a:prstGeom>
          <a:blipFill>
            <a:blip r:embed="rId2" cstate="print"/>
            <a:stretch>
              <a:fillRect/>
            </a:stretch>
          </a:blipFill>
        </p:spPr>
        <p:txBody>
          <a:bodyPr wrap="square" lIns="0" tIns="0" rIns="0" bIns="0" rtlCol="0">
            <a:noAutofit/>
          </a:bodyPr>
          <a:lstStyle/>
          <a:p>
            <a:endParaRPr/>
          </a:p>
        </p:txBody>
      </p:sp>
      <p:sp>
        <p:nvSpPr>
          <p:cNvPr id="3" name="object 11">
            <a:extLst>
              <a:ext uri="{FF2B5EF4-FFF2-40B4-BE49-F238E27FC236}">
                <a16:creationId xmlns:a16="http://schemas.microsoft.com/office/drawing/2014/main" id="{46DBE57D-BC43-4A76-836D-DA3ECB0D8800}"/>
              </a:ext>
            </a:extLst>
          </p:cNvPr>
          <p:cNvSpPr/>
          <p:nvPr/>
        </p:nvSpPr>
        <p:spPr>
          <a:xfrm flipV="1">
            <a:off x="1524000" y="6049107"/>
            <a:ext cx="9144000" cy="64484"/>
          </a:xfrm>
          <a:custGeom>
            <a:avLst/>
            <a:gdLst/>
            <a:ahLst/>
            <a:cxnLst/>
            <a:rect l="l" t="t" r="r" b="b"/>
            <a:pathLst>
              <a:path w="9144000">
                <a:moveTo>
                  <a:pt x="9144000" y="0"/>
                </a:moveTo>
                <a:lnTo>
                  <a:pt x="20573" y="0"/>
                </a:lnTo>
              </a:path>
              <a:path w="9144000">
                <a:moveTo>
                  <a:pt x="20573" y="1"/>
                </a:moveTo>
                <a:lnTo>
                  <a:pt x="9144000" y="0"/>
                </a:lnTo>
              </a:path>
            </a:pathLst>
          </a:custGeom>
          <a:ln w="28575">
            <a:solidFill>
              <a:srgbClr val="E6031E"/>
            </a:solidFill>
          </a:ln>
        </p:spPr>
        <p:txBody>
          <a:bodyPr wrap="square" lIns="0" tIns="0" rIns="0" bIns="0" rtlCol="0">
            <a:noAutofit/>
          </a:bodyPr>
          <a:lstStyle/>
          <a:p>
            <a:endParaRPr/>
          </a:p>
        </p:txBody>
      </p:sp>
      <p:sp>
        <p:nvSpPr>
          <p:cNvPr id="2" name="CuadroTexto 1">
            <a:extLst>
              <a:ext uri="{FF2B5EF4-FFF2-40B4-BE49-F238E27FC236}">
                <a16:creationId xmlns:a16="http://schemas.microsoft.com/office/drawing/2014/main" id="{48841838-5861-63D0-E654-3592BDB26C4F}"/>
              </a:ext>
            </a:extLst>
          </p:cNvPr>
          <p:cNvSpPr txBox="1"/>
          <p:nvPr/>
        </p:nvSpPr>
        <p:spPr>
          <a:xfrm>
            <a:off x="1523999" y="1530537"/>
            <a:ext cx="9144001" cy="1200329"/>
          </a:xfrm>
          <a:prstGeom prst="rect">
            <a:avLst/>
          </a:prstGeom>
          <a:noFill/>
        </p:spPr>
        <p:txBody>
          <a:bodyPr wrap="square" rtlCol="0">
            <a:spAutoFit/>
          </a:bodyPr>
          <a:lstStyle/>
          <a:p>
            <a:pPr algn="just"/>
            <a:r>
              <a:rPr lang="es-ES" dirty="0">
                <a:latin typeface="Verdana" panose="020B0604030504040204" pitchFamily="34" charset="0"/>
                <a:ea typeface="Verdana" panose="020B0604030504040204" pitchFamily="34" charset="0"/>
                <a:cs typeface="Verdana" panose="020B0604030504040204" pitchFamily="34" charset="0"/>
              </a:rPr>
              <a:t>Suponga que un procedimiento se puede resolver dividiéndolo en T</a:t>
            </a:r>
            <a:r>
              <a:rPr lang="es-ES" baseline="-25000" dirty="0">
                <a:latin typeface="Verdana" panose="020B0604030504040204" pitchFamily="34" charset="0"/>
                <a:ea typeface="Verdana" panose="020B0604030504040204" pitchFamily="34" charset="0"/>
                <a:cs typeface="Verdana" panose="020B0604030504040204" pitchFamily="34" charset="0"/>
              </a:rPr>
              <a:t>1</a:t>
            </a:r>
            <a:r>
              <a:rPr lang="es-ES" dirty="0">
                <a:latin typeface="Verdana" panose="020B0604030504040204" pitchFamily="34" charset="0"/>
                <a:ea typeface="Verdana" panose="020B0604030504040204" pitchFamily="34" charset="0"/>
                <a:cs typeface="Verdana" panose="020B0604030504040204" pitchFamily="34" charset="0"/>
              </a:rPr>
              <a:t>, T</a:t>
            </a:r>
            <a:r>
              <a:rPr lang="es-ES" baseline="-25000" dirty="0">
                <a:latin typeface="Verdana" panose="020B0604030504040204" pitchFamily="34" charset="0"/>
                <a:ea typeface="Verdana" panose="020B0604030504040204" pitchFamily="34" charset="0"/>
                <a:cs typeface="Verdana" panose="020B0604030504040204" pitchFamily="34" charset="0"/>
              </a:rPr>
              <a:t>2, </a:t>
            </a:r>
            <a:r>
              <a:rPr lang="es-ES" dirty="0">
                <a:latin typeface="Verdana" panose="020B0604030504040204" pitchFamily="34" charset="0"/>
                <a:ea typeface="Verdana" panose="020B0604030504040204" pitchFamily="34" charset="0"/>
                <a:cs typeface="Verdana" panose="020B0604030504040204" pitchFamily="34" charset="0"/>
              </a:rPr>
              <a:t>..., T</a:t>
            </a:r>
            <a:r>
              <a:rPr lang="es-ES" baseline="-25000" dirty="0">
                <a:latin typeface="Verdana" panose="020B0604030504040204" pitchFamily="34" charset="0"/>
                <a:ea typeface="Verdana" panose="020B0604030504040204" pitchFamily="34" charset="0"/>
                <a:cs typeface="Verdana" panose="020B0604030504040204" pitchFamily="34" charset="0"/>
              </a:rPr>
              <a:t>m</a:t>
            </a:r>
            <a:r>
              <a:rPr lang="es-ES" dirty="0">
                <a:latin typeface="Verdana" panose="020B0604030504040204" pitchFamily="34" charset="0"/>
                <a:ea typeface="Verdana" panose="020B0604030504040204" pitchFamily="34" charset="0"/>
                <a:cs typeface="Verdana" panose="020B0604030504040204" pitchFamily="34" charset="0"/>
              </a:rPr>
              <a:t> tareas. Si la tarea T</a:t>
            </a:r>
            <a:r>
              <a:rPr lang="es-ES" baseline="-25000" dirty="0">
                <a:latin typeface="Verdana" panose="020B0604030504040204" pitchFamily="34" charset="0"/>
                <a:ea typeface="Verdana" panose="020B0604030504040204" pitchFamily="34" charset="0"/>
                <a:cs typeface="Verdana" panose="020B0604030504040204" pitchFamily="34" charset="0"/>
              </a:rPr>
              <a:t>i</a:t>
            </a:r>
            <a:r>
              <a:rPr lang="es-ES" dirty="0">
                <a:latin typeface="Verdana" panose="020B0604030504040204" pitchFamily="34" charset="0"/>
                <a:ea typeface="Verdana" panose="020B0604030504040204" pitchFamily="34" charset="0"/>
                <a:cs typeface="Verdana" panose="020B0604030504040204" pitchFamily="34" charset="0"/>
              </a:rPr>
              <a:t> puede ser resuelta en n</a:t>
            </a:r>
            <a:r>
              <a:rPr lang="es-ES" baseline="-25000" dirty="0">
                <a:latin typeface="Verdana" panose="020B0604030504040204" pitchFamily="34" charset="0"/>
                <a:ea typeface="Verdana" panose="020B0604030504040204" pitchFamily="34" charset="0"/>
                <a:cs typeface="Verdana" panose="020B0604030504040204" pitchFamily="34" charset="0"/>
              </a:rPr>
              <a:t>i</a:t>
            </a:r>
            <a:r>
              <a:rPr lang="es-ES" dirty="0">
                <a:latin typeface="Verdana" panose="020B0604030504040204" pitchFamily="34" charset="0"/>
                <a:ea typeface="Verdana" panose="020B0604030504040204" pitchFamily="34" charset="0"/>
                <a:cs typeface="Verdana" panose="020B0604030504040204" pitchFamily="34" charset="0"/>
              </a:rPr>
              <a:t> formas luego de que las tareas T</a:t>
            </a:r>
            <a:r>
              <a:rPr lang="es-ES" baseline="-25000" dirty="0">
                <a:latin typeface="Verdana" panose="020B0604030504040204" pitchFamily="34" charset="0"/>
                <a:ea typeface="Verdana" panose="020B0604030504040204" pitchFamily="34" charset="0"/>
                <a:cs typeface="Verdana" panose="020B0604030504040204" pitchFamily="34" charset="0"/>
              </a:rPr>
              <a:t>1</a:t>
            </a:r>
            <a:r>
              <a:rPr lang="es-ES" dirty="0">
                <a:latin typeface="Verdana" panose="020B0604030504040204" pitchFamily="34" charset="0"/>
                <a:ea typeface="Verdana" panose="020B0604030504040204" pitchFamily="34" charset="0"/>
                <a:cs typeface="Verdana" panose="020B0604030504040204" pitchFamily="34" charset="0"/>
              </a:rPr>
              <a:t>, T</a:t>
            </a:r>
            <a:r>
              <a:rPr lang="es-ES" baseline="-25000" dirty="0">
                <a:latin typeface="Verdana" panose="020B0604030504040204" pitchFamily="34" charset="0"/>
                <a:ea typeface="Verdana" panose="020B0604030504040204" pitchFamily="34" charset="0"/>
                <a:cs typeface="Verdana" panose="020B0604030504040204" pitchFamily="34" charset="0"/>
              </a:rPr>
              <a:t>2</a:t>
            </a:r>
            <a:r>
              <a:rPr lang="es-ES" dirty="0">
                <a:latin typeface="Verdana" panose="020B0604030504040204" pitchFamily="34" charset="0"/>
                <a:ea typeface="Verdana" panose="020B0604030504040204" pitchFamily="34" charset="0"/>
                <a:cs typeface="Verdana" panose="020B0604030504040204" pitchFamily="34" charset="0"/>
              </a:rPr>
              <a:t>,..., T</a:t>
            </a:r>
            <a:r>
              <a:rPr lang="es-ES" baseline="-25000" dirty="0">
                <a:latin typeface="Verdana" panose="020B0604030504040204" pitchFamily="34" charset="0"/>
                <a:ea typeface="Verdana" panose="020B0604030504040204" pitchFamily="34" charset="0"/>
                <a:cs typeface="Verdana" panose="020B0604030504040204" pitchFamily="34" charset="0"/>
              </a:rPr>
              <a:t>i-1</a:t>
            </a:r>
            <a:r>
              <a:rPr lang="es-ES" dirty="0">
                <a:latin typeface="Verdana" panose="020B0604030504040204" pitchFamily="34" charset="0"/>
                <a:ea typeface="Verdana" panose="020B0604030504040204" pitchFamily="34" charset="0"/>
                <a:cs typeface="Verdana" panose="020B0604030504040204" pitchFamily="34" charset="0"/>
              </a:rPr>
              <a:t> han sido resueltas, entonces hay n</a:t>
            </a:r>
            <a:r>
              <a:rPr lang="es-ES" baseline="-25000" dirty="0">
                <a:latin typeface="Verdana" panose="020B0604030504040204" pitchFamily="34" charset="0"/>
                <a:ea typeface="Verdana" panose="020B0604030504040204" pitchFamily="34" charset="0"/>
                <a:cs typeface="Verdana" panose="020B0604030504040204" pitchFamily="34" charset="0"/>
              </a:rPr>
              <a:t>1</a:t>
            </a:r>
            <a:r>
              <a:rPr lang="es-ES" dirty="0">
                <a:latin typeface="Verdana" panose="020B0604030504040204" pitchFamily="34" charset="0"/>
                <a:ea typeface="Verdana" panose="020B0604030504040204" pitchFamily="34" charset="0"/>
                <a:cs typeface="Verdana" panose="020B0604030504040204" pitchFamily="34" charset="0"/>
              </a:rPr>
              <a:t>.n</a:t>
            </a:r>
            <a:r>
              <a:rPr lang="es-ES" baseline="-25000" dirty="0">
                <a:latin typeface="Verdana" panose="020B0604030504040204" pitchFamily="34" charset="0"/>
                <a:ea typeface="Verdana" panose="020B0604030504040204" pitchFamily="34" charset="0"/>
                <a:cs typeface="Verdana" panose="020B0604030504040204" pitchFamily="34" charset="0"/>
              </a:rPr>
              <a:t>2</a:t>
            </a:r>
            <a:r>
              <a:rPr lang="es-ES" dirty="0">
                <a:latin typeface="Verdana" panose="020B0604030504040204" pitchFamily="34" charset="0"/>
                <a:ea typeface="Verdana" panose="020B0604030504040204" pitchFamily="34" charset="0"/>
                <a:cs typeface="Verdana" panose="020B0604030504040204" pitchFamily="34" charset="0"/>
              </a:rPr>
              <a:t>.....n</a:t>
            </a:r>
            <a:r>
              <a:rPr lang="es-ES" baseline="-25000" dirty="0">
                <a:latin typeface="Verdana" panose="020B0604030504040204" pitchFamily="34" charset="0"/>
                <a:ea typeface="Verdana" panose="020B0604030504040204" pitchFamily="34" charset="0"/>
                <a:cs typeface="Verdana" panose="020B0604030504040204" pitchFamily="34" charset="0"/>
              </a:rPr>
              <a:t>m</a:t>
            </a:r>
            <a:r>
              <a:rPr lang="es-ES" dirty="0">
                <a:latin typeface="Verdana" panose="020B0604030504040204" pitchFamily="34" charset="0"/>
                <a:ea typeface="Verdana" panose="020B0604030504040204" pitchFamily="34" charset="0"/>
                <a:cs typeface="Verdana" panose="020B0604030504040204" pitchFamily="34" charset="0"/>
              </a:rPr>
              <a:t> formas de resolver el procedimiento.</a:t>
            </a:r>
            <a:endParaRPr lang="es-CO" dirty="0">
              <a:latin typeface="Verdana" panose="020B0604030504040204" pitchFamily="34" charset="0"/>
              <a:ea typeface="Verdana" panose="020B0604030504040204" pitchFamily="34" charset="0"/>
              <a:cs typeface="Verdana" panose="020B0604030504040204" pitchFamily="34" charset="0"/>
            </a:endParaRPr>
          </a:p>
        </p:txBody>
      </p:sp>
      <p:sp>
        <p:nvSpPr>
          <p:cNvPr id="8" name="CuadroTexto 7">
            <a:extLst>
              <a:ext uri="{FF2B5EF4-FFF2-40B4-BE49-F238E27FC236}">
                <a16:creationId xmlns:a16="http://schemas.microsoft.com/office/drawing/2014/main" id="{932481B4-8543-947D-05DB-233EB2D975E5}"/>
              </a:ext>
            </a:extLst>
          </p:cNvPr>
          <p:cNvSpPr txBox="1"/>
          <p:nvPr/>
        </p:nvSpPr>
        <p:spPr>
          <a:xfrm>
            <a:off x="1523999" y="3233582"/>
            <a:ext cx="9144000" cy="646331"/>
          </a:xfrm>
          <a:prstGeom prst="rect">
            <a:avLst/>
          </a:prstGeom>
          <a:noFill/>
        </p:spPr>
        <p:txBody>
          <a:bodyPr wrap="square" rtlCol="0">
            <a:spAutoFit/>
          </a:bodyPr>
          <a:lstStyle/>
          <a:p>
            <a:pPr algn="just"/>
            <a:r>
              <a:rPr lang="es-ES" b="1" dirty="0">
                <a:latin typeface="Verdana" panose="020B0604030504040204" pitchFamily="34" charset="0"/>
                <a:ea typeface="Verdana" panose="020B0604030504040204" pitchFamily="34" charset="0"/>
                <a:cs typeface="Verdana" panose="020B0604030504040204" pitchFamily="34" charset="0"/>
              </a:rPr>
              <a:t>Ejemplo:</a:t>
            </a:r>
            <a:r>
              <a:rPr lang="es-ES" dirty="0">
                <a:latin typeface="Verdana" panose="020B0604030504040204" pitchFamily="34" charset="0"/>
                <a:ea typeface="Verdana" panose="020B0604030504040204" pitchFamily="34" charset="0"/>
                <a:cs typeface="Verdana" panose="020B0604030504040204" pitchFamily="34" charset="0"/>
              </a:rPr>
              <a:t> ¿Cuántas cadenas diferentes de bits de longitud 7 se pueden encontrar?</a:t>
            </a:r>
            <a:endParaRPr lang="es-CO" dirty="0">
              <a:latin typeface="Verdana" panose="020B0604030504040204" pitchFamily="34" charset="0"/>
              <a:ea typeface="Verdana" panose="020B0604030504040204" pitchFamily="34" charset="0"/>
              <a:cs typeface="Verdana" panose="020B0604030504040204" pitchFamily="34" charset="0"/>
            </a:endParaRPr>
          </a:p>
        </p:txBody>
      </p:sp>
      <p:sp>
        <p:nvSpPr>
          <p:cNvPr id="10" name="CuadroTexto 9">
            <a:extLst>
              <a:ext uri="{FF2B5EF4-FFF2-40B4-BE49-F238E27FC236}">
                <a16:creationId xmlns:a16="http://schemas.microsoft.com/office/drawing/2014/main" id="{16D9C4FC-1CEA-3A24-3261-17D8E2A6B428}"/>
              </a:ext>
            </a:extLst>
          </p:cNvPr>
          <p:cNvSpPr txBox="1"/>
          <p:nvPr/>
        </p:nvSpPr>
        <p:spPr>
          <a:xfrm>
            <a:off x="1523999" y="4089904"/>
            <a:ext cx="9144000" cy="923330"/>
          </a:xfrm>
          <a:prstGeom prst="rect">
            <a:avLst/>
          </a:prstGeom>
          <a:noFill/>
        </p:spPr>
        <p:txBody>
          <a:bodyPr wrap="square" rtlCol="0">
            <a:spAutoFit/>
          </a:bodyPr>
          <a:lstStyle/>
          <a:p>
            <a:pPr algn="just"/>
            <a:r>
              <a:rPr lang="es-ES" b="1" dirty="0">
                <a:latin typeface="Verdana" panose="020B0604030504040204" pitchFamily="34" charset="0"/>
                <a:ea typeface="Verdana" panose="020B0604030504040204" pitchFamily="34" charset="0"/>
                <a:cs typeface="Verdana" panose="020B0604030504040204" pitchFamily="34" charset="0"/>
              </a:rPr>
              <a:t>Ejemplo: </a:t>
            </a:r>
            <a:r>
              <a:rPr lang="es-ES" dirty="0">
                <a:latin typeface="Verdana" panose="020B0604030504040204" pitchFamily="34" charset="0"/>
                <a:ea typeface="Verdana" panose="020B0604030504040204" pitchFamily="34" charset="0"/>
                <a:cs typeface="Verdana" panose="020B0604030504040204" pitchFamily="34" charset="0"/>
              </a:rPr>
              <a:t>Si las placas de los automóviles se identifican con una secuencia de tres letras y a continuación una secuencia de tres dígitos. ¿Cuántas posibles placas pueden ser asignadas? </a:t>
            </a:r>
            <a:endParaRPr lang="es-CO" dirty="0">
              <a:latin typeface="Verdana" panose="020B0604030504040204" pitchFamily="34" charset="0"/>
              <a:ea typeface="Verdana" panose="020B0604030504040204" pitchFamily="34" charset="0"/>
              <a:cs typeface="Verdana" panose="020B0604030504040204" pitchFamily="34" charset="0"/>
            </a:endParaRPr>
          </a:p>
        </p:txBody>
      </p:sp>
      <p:sp>
        <p:nvSpPr>
          <p:cNvPr id="11" name="CuadroTexto 10">
            <a:extLst>
              <a:ext uri="{FF2B5EF4-FFF2-40B4-BE49-F238E27FC236}">
                <a16:creationId xmlns:a16="http://schemas.microsoft.com/office/drawing/2014/main" id="{8F816975-A86E-D9C7-92BD-0D3171339D96}"/>
              </a:ext>
            </a:extLst>
          </p:cNvPr>
          <p:cNvSpPr txBox="1"/>
          <p:nvPr/>
        </p:nvSpPr>
        <p:spPr>
          <a:xfrm>
            <a:off x="1523999" y="5223225"/>
            <a:ext cx="9144000" cy="646331"/>
          </a:xfrm>
          <a:prstGeom prst="rect">
            <a:avLst/>
          </a:prstGeom>
          <a:noFill/>
        </p:spPr>
        <p:txBody>
          <a:bodyPr wrap="square" rtlCol="0">
            <a:spAutoFit/>
          </a:bodyPr>
          <a:lstStyle/>
          <a:p>
            <a:pPr algn="just"/>
            <a:r>
              <a:rPr lang="es-ES" dirty="0">
                <a:latin typeface="Verdana" panose="020B0604030504040204" pitchFamily="34" charset="0"/>
                <a:ea typeface="Verdana" panose="020B0604030504040204" pitchFamily="34" charset="0"/>
                <a:cs typeface="Verdana" panose="020B0604030504040204" pitchFamily="34" charset="0"/>
              </a:rPr>
              <a:t>A veces es necesario combinar varios tipos diferentes de principios de conteo en la solución de un problema.</a:t>
            </a:r>
            <a:endParaRPr lang="es-CO" dirty="0">
              <a:latin typeface="Verdana" panose="020B0604030504040204" pitchFamily="34" charset="0"/>
              <a:ea typeface="Verdana" panose="020B0604030504040204" pitchFamily="34" charset="0"/>
              <a:cs typeface="Verdana" panose="020B0604030504040204" pitchFamily="34" charset="0"/>
            </a:endParaRPr>
          </a:p>
        </p:txBody>
      </p:sp>
    </p:spTree>
    <p:extLst>
      <p:ext uri="{BB962C8B-B14F-4D97-AF65-F5344CB8AC3E}">
        <p14:creationId xmlns:p14="http://schemas.microsoft.com/office/powerpoint/2010/main" val="5864815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ppt_x"/>
                                          </p:val>
                                        </p:tav>
                                        <p:tav tm="100000">
                                          <p:val>
                                            <p:strVal val="#ppt_x"/>
                                          </p:val>
                                        </p:tav>
                                      </p:tavLst>
                                    </p:anim>
                                    <p:anim calcmode="lin" valueType="num">
                                      <p:cBhvr additive="base">
                                        <p:cTn id="8"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0"/>
                                        </p:tgtEl>
                                        <p:attrNameLst>
                                          <p:attrName>style.visibility</p:attrName>
                                        </p:attrNameLst>
                                      </p:cBhvr>
                                      <p:to>
                                        <p:strVal val="visible"/>
                                      </p:to>
                                    </p:set>
                                    <p:anim calcmode="lin" valueType="num">
                                      <p:cBhvr additive="base">
                                        <p:cTn id="13" dur="500" fill="hold"/>
                                        <p:tgtEl>
                                          <p:spTgt spid="10"/>
                                        </p:tgtEl>
                                        <p:attrNameLst>
                                          <p:attrName>ppt_x</p:attrName>
                                        </p:attrNameLst>
                                      </p:cBhvr>
                                      <p:tavLst>
                                        <p:tav tm="0">
                                          <p:val>
                                            <p:strVal val="#ppt_x"/>
                                          </p:val>
                                        </p:tav>
                                        <p:tav tm="100000">
                                          <p:val>
                                            <p:strVal val="#ppt_x"/>
                                          </p:val>
                                        </p:tav>
                                      </p:tavLst>
                                    </p:anim>
                                    <p:anim calcmode="lin" valueType="num">
                                      <p:cBhvr additive="base">
                                        <p:cTn id="14"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1"/>
                                        </p:tgtEl>
                                        <p:attrNameLst>
                                          <p:attrName>style.visibility</p:attrName>
                                        </p:attrNameLst>
                                      </p:cBhvr>
                                      <p:to>
                                        <p:strVal val="visible"/>
                                      </p:to>
                                    </p:set>
                                    <p:anim calcmode="lin" valueType="num">
                                      <p:cBhvr additive="base">
                                        <p:cTn id="19" dur="500" fill="hold"/>
                                        <p:tgtEl>
                                          <p:spTgt spid="11"/>
                                        </p:tgtEl>
                                        <p:attrNameLst>
                                          <p:attrName>ppt_x</p:attrName>
                                        </p:attrNameLst>
                                      </p:cBhvr>
                                      <p:tavLst>
                                        <p:tav tm="0">
                                          <p:val>
                                            <p:strVal val="#ppt_x"/>
                                          </p:val>
                                        </p:tav>
                                        <p:tav tm="100000">
                                          <p:val>
                                            <p:strVal val="#ppt_x"/>
                                          </p:val>
                                        </p:tav>
                                      </p:tavLst>
                                    </p:anim>
                                    <p:anim calcmode="lin" valueType="num">
                                      <p:cBhvr additive="base">
                                        <p:cTn id="20"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10" grpId="0"/>
      <p:bldP spid="11"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9"/>
          <p:cNvSpPr/>
          <p:nvPr/>
        </p:nvSpPr>
        <p:spPr>
          <a:xfrm>
            <a:off x="1524000" y="473139"/>
            <a:ext cx="9144000" cy="649224"/>
          </a:xfrm>
          <a:custGeom>
            <a:avLst/>
            <a:gdLst/>
            <a:ahLst/>
            <a:cxnLst/>
            <a:rect l="l" t="t" r="r" b="b"/>
            <a:pathLst>
              <a:path w="9144000" h="649224">
                <a:moveTo>
                  <a:pt x="9144000" y="649223"/>
                </a:moveTo>
                <a:lnTo>
                  <a:pt x="9144000" y="0"/>
                </a:lnTo>
                <a:lnTo>
                  <a:pt x="0" y="0"/>
                </a:lnTo>
                <a:lnTo>
                  <a:pt x="0" y="649224"/>
                </a:lnTo>
                <a:lnTo>
                  <a:pt x="9144000" y="649223"/>
                </a:lnTo>
                <a:close/>
              </a:path>
            </a:pathLst>
          </a:custGeom>
          <a:solidFill>
            <a:srgbClr val="E6031E"/>
          </a:solidFill>
        </p:spPr>
        <p:txBody>
          <a:bodyPr wrap="square" lIns="0" tIns="0" rIns="0" bIns="0" rtlCol="0">
            <a:noAutofit/>
          </a:bodyPr>
          <a:lstStyle/>
          <a:p>
            <a:pPr algn="ctr"/>
            <a:r>
              <a:rPr lang="es-CO" sz="2400" b="1" dirty="0">
                <a:solidFill>
                  <a:schemeClr val="bg1"/>
                </a:solidFill>
                <a:latin typeface="Verdana" panose="020B0604030504040204" pitchFamily="34" charset="0"/>
                <a:ea typeface="Verdana" panose="020B0604030504040204" pitchFamily="34" charset="0"/>
                <a:cs typeface="Verdana" panose="020B0604030504040204" pitchFamily="34" charset="0"/>
              </a:rPr>
              <a:t>EXTENSIÓN DEL PRODUCTO</a:t>
            </a:r>
            <a:endParaRPr sz="2400" b="1" dirty="0">
              <a:solidFill>
                <a:schemeClr val="bg1"/>
              </a:solidFill>
              <a:latin typeface="Verdana" panose="020B0604030504040204" pitchFamily="34" charset="0"/>
              <a:ea typeface="Verdana" panose="020B0604030504040204" pitchFamily="34" charset="0"/>
              <a:cs typeface="Verdana" panose="020B0604030504040204" pitchFamily="34" charset="0"/>
            </a:endParaRPr>
          </a:p>
        </p:txBody>
      </p:sp>
      <p:sp>
        <p:nvSpPr>
          <p:cNvPr id="6" name="object 12"/>
          <p:cNvSpPr/>
          <p:nvPr/>
        </p:nvSpPr>
        <p:spPr>
          <a:xfrm>
            <a:off x="10242773" y="6153222"/>
            <a:ext cx="425227" cy="549401"/>
          </a:xfrm>
          <a:prstGeom prst="rect">
            <a:avLst/>
          </a:prstGeom>
          <a:blipFill>
            <a:blip r:embed="rId2" cstate="print"/>
            <a:stretch>
              <a:fillRect/>
            </a:stretch>
          </a:blipFill>
        </p:spPr>
        <p:txBody>
          <a:bodyPr wrap="square" lIns="0" tIns="0" rIns="0" bIns="0" rtlCol="0">
            <a:noAutofit/>
          </a:bodyPr>
          <a:lstStyle/>
          <a:p>
            <a:endParaRPr/>
          </a:p>
        </p:txBody>
      </p:sp>
      <p:sp>
        <p:nvSpPr>
          <p:cNvPr id="3" name="object 11">
            <a:extLst>
              <a:ext uri="{FF2B5EF4-FFF2-40B4-BE49-F238E27FC236}">
                <a16:creationId xmlns:a16="http://schemas.microsoft.com/office/drawing/2014/main" id="{46DBE57D-BC43-4A76-836D-DA3ECB0D8800}"/>
              </a:ext>
            </a:extLst>
          </p:cNvPr>
          <p:cNvSpPr/>
          <p:nvPr/>
        </p:nvSpPr>
        <p:spPr>
          <a:xfrm flipV="1">
            <a:off x="1524000" y="6049107"/>
            <a:ext cx="9144000" cy="64484"/>
          </a:xfrm>
          <a:custGeom>
            <a:avLst/>
            <a:gdLst/>
            <a:ahLst/>
            <a:cxnLst/>
            <a:rect l="l" t="t" r="r" b="b"/>
            <a:pathLst>
              <a:path w="9144000">
                <a:moveTo>
                  <a:pt x="9144000" y="0"/>
                </a:moveTo>
                <a:lnTo>
                  <a:pt x="20573" y="0"/>
                </a:lnTo>
              </a:path>
              <a:path w="9144000">
                <a:moveTo>
                  <a:pt x="20573" y="1"/>
                </a:moveTo>
                <a:lnTo>
                  <a:pt x="9144000" y="0"/>
                </a:lnTo>
              </a:path>
            </a:pathLst>
          </a:custGeom>
          <a:ln w="28575">
            <a:solidFill>
              <a:srgbClr val="E6031E"/>
            </a:solidFill>
          </a:ln>
        </p:spPr>
        <p:txBody>
          <a:bodyPr wrap="square" lIns="0" tIns="0" rIns="0" bIns="0" rtlCol="0">
            <a:noAutofit/>
          </a:bodyPr>
          <a:lstStyle/>
          <a:p>
            <a:endParaRPr/>
          </a:p>
        </p:txBody>
      </p:sp>
      <p:sp>
        <p:nvSpPr>
          <p:cNvPr id="2" name="CuadroTexto 1">
            <a:extLst>
              <a:ext uri="{FF2B5EF4-FFF2-40B4-BE49-F238E27FC236}">
                <a16:creationId xmlns:a16="http://schemas.microsoft.com/office/drawing/2014/main" id="{48841838-5861-63D0-E654-3592BDB26C4F}"/>
              </a:ext>
            </a:extLst>
          </p:cNvPr>
          <p:cNvSpPr txBox="1"/>
          <p:nvPr/>
        </p:nvSpPr>
        <p:spPr>
          <a:xfrm>
            <a:off x="1523999" y="1530537"/>
            <a:ext cx="9144001" cy="1200329"/>
          </a:xfrm>
          <a:prstGeom prst="rect">
            <a:avLst/>
          </a:prstGeom>
          <a:noFill/>
        </p:spPr>
        <p:txBody>
          <a:bodyPr wrap="square" rtlCol="0">
            <a:spAutoFit/>
          </a:bodyPr>
          <a:lstStyle/>
          <a:p>
            <a:pPr algn="just"/>
            <a:r>
              <a:rPr lang="es-ES" dirty="0">
                <a:latin typeface="Verdana" panose="020B0604030504040204" pitchFamily="34" charset="0"/>
                <a:ea typeface="Verdana" panose="020B0604030504040204" pitchFamily="34" charset="0"/>
                <a:cs typeface="Verdana" panose="020B0604030504040204" pitchFamily="34" charset="0"/>
              </a:rPr>
              <a:t>Suponga que un procedimiento se puede resolver dividiéndolo en T</a:t>
            </a:r>
            <a:r>
              <a:rPr lang="es-ES" baseline="-25000" dirty="0">
                <a:latin typeface="Verdana" panose="020B0604030504040204" pitchFamily="34" charset="0"/>
                <a:ea typeface="Verdana" panose="020B0604030504040204" pitchFamily="34" charset="0"/>
                <a:cs typeface="Verdana" panose="020B0604030504040204" pitchFamily="34" charset="0"/>
              </a:rPr>
              <a:t>1</a:t>
            </a:r>
            <a:r>
              <a:rPr lang="es-ES" dirty="0">
                <a:latin typeface="Verdana" panose="020B0604030504040204" pitchFamily="34" charset="0"/>
                <a:ea typeface="Verdana" panose="020B0604030504040204" pitchFamily="34" charset="0"/>
                <a:cs typeface="Verdana" panose="020B0604030504040204" pitchFamily="34" charset="0"/>
              </a:rPr>
              <a:t>, T</a:t>
            </a:r>
            <a:r>
              <a:rPr lang="es-ES" baseline="-25000" dirty="0">
                <a:latin typeface="Verdana" panose="020B0604030504040204" pitchFamily="34" charset="0"/>
                <a:ea typeface="Verdana" panose="020B0604030504040204" pitchFamily="34" charset="0"/>
                <a:cs typeface="Verdana" panose="020B0604030504040204" pitchFamily="34" charset="0"/>
              </a:rPr>
              <a:t>2, </a:t>
            </a:r>
            <a:r>
              <a:rPr lang="es-ES" dirty="0">
                <a:latin typeface="Verdana" panose="020B0604030504040204" pitchFamily="34" charset="0"/>
                <a:ea typeface="Verdana" panose="020B0604030504040204" pitchFamily="34" charset="0"/>
                <a:cs typeface="Verdana" panose="020B0604030504040204" pitchFamily="34" charset="0"/>
              </a:rPr>
              <a:t>..., T</a:t>
            </a:r>
            <a:r>
              <a:rPr lang="es-ES" baseline="-25000" dirty="0">
                <a:latin typeface="Verdana" panose="020B0604030504040204" pitchFamily="34" charset="0"/>
                <a:ea typeface="Verdana" panose="020B0604030504040204" pitchFamily="34" charset="0"/>
                <a:cs typeface="Verdana" panose="020B0604030504040204" pitchFamily="34" charset="0"/>
              </a:rPr>
              <a:t>m</a:t>
            </a:r>
            <a:r>
              <a:rPr lang="es-ES" dirty="0">
                <a:latin typeface="Verdana" panose="020B0604030504040204" pitchFamily="34" charset="0"/>
                <a:ea typeface="Verdana" panose="020B0604030504040204" pitchFamily="34" charset="0"/>
                <a:cs typeface="Verdana" panose="020B0604030504040204" pitchFamily="34" charset="0"/>
              </a:rPr>
              <a:t> tareas. Si la tarea T</a:t>
            </a:r>
            <a:r>
              <a:rPr lang="es-ES" baseline="-25000" dirty="0">
                <a:latin typeface="Verdana" panose="020B0604030504040204" pitchFamily="34" charset="0"/>
                <a:ea typeface="Verdana" panose="020B0604030504040204" pitchFamily="34" charset="0"/>
                <a:cs typeface="Verdana" panose="020B0604030504040204" pitchFamily="34" charset="0"/>
              </a:rPr>
              <a:t>i</a:t>
            </a:r>
            <a:r>
              <a:rPr lang="es-ES" dirty="0">
                <a:latin typeface="Verdana" panose="020B0604030504040204" pitchFamily="34" charset="0"/>
                <a:ea typeface="Verdana" panose="020B0604030504040204" pitchFamily="34" charset="0"/>
                <a:cs typeface="Verdana" panose="020B0604030504040204" pitchFamily="34" charset="0"/>
              </a:rPr>
              <a:t> puede ser resuelta en n</a:t>
            </a:r>
            <a:r>
              <a:rPr lang="es-ES" baseline="-25000" dirty="0">
                <a:latin typeface="Verdana" panose="020B0604030504040204" pitchFamily="34" charset="0"/>
                <a:ea typeface="Verdana" panose="020B0604030504040204" pitchFamily="34" charset="0"/>
                <a:cs typeface="Verdana" panose="020B0604030504040204" pitchFamily="34" charset="0"/>
              </a:rPr>
              <a:t>i</a:t>
            </a:r>
            <a:r>
              <a:rPr lang="es-ES" dirty="0">
                <a:latin typeface="Verdana" panose="020B0604030504040204" pitchFamily="34" charset="0"/>
                <a:ea typeface="Verdana" panose="020B0604030504040204" pitchFamily="34" charset="0"/>
                <a:cs typeface="Verdana" panose="020B0604030504040204" pitchFamily="34" charset="0"/>
              </a:rPr>
              <a:t> formas luego de que las tareas T</a:t>
            </a:r>
            <a:r>
              <a:rPr lang="es-ES" baseline="-25000" dirty="0">
                <a:latin typeface="Verdana" panose="020B0604030504040204" pitchFamily="34" charset="0"/>
                <a:ea typeface="Verdana" panose="020B0604030504040204" pitchFamily="34" charset="0"/>
                <a:cs typeface="Verdana" panose="020B0604030504040204" pitchFamily="34" charset="0"/>
              </a:rPr>
              <a:t>1</a:t>
            </a:r>
            <a:r>
              <a:rPr lang="es-ES" dirty="0">
                <a:latin typeface="Verdana" panose="020B0604030504040204" pitchFamily="34" charset="0"/>
                <a:ea typeface="Verdana" panose="020B0604030504040204" pitchFamily="34" charset="0"/>
                <a:cs typeface="Verdana" panose="020B0604030504040204" pitchFamily="34" charset="0"/>
              </a:rPr>
              <a:t>, T</a:t>
            </a:r>
            <a:r>
              <a:rPr lang="es-ES" baseline="-25000" dirty="0">
                <a:latin typeface="Verdana" panose="020B0604030504040204" pitchFamily="34" charset="0"/>
                <a:ea typeface="Verdana" panose="020B0604030504040204" pitchFamily="34" charset="0"/>
                <a:cs typeface="Verdana" panose="020B0604030504040204" pitchFamily="34" charset="0"/>
              </a:rPr>
              <a:t>2</a:t>
            </a:r>
            <a:r>
              <a:rPr lang="es-ES" dirty="0">
                <a:latin typeface="Verdana" panose="020B0604030504040204" pitchFamily="34" charset="0"/>
                <a:ea typeface="Verdana" panose="020B0604030504040204" pitchFamily="34" charset="0"/>
                <a:cs typeface="Verdana" panose="020B0604030504040204" pitchFamily="34" charset="0"/>
              </a:rPr>
              <a:t>,..., T</a:t>
            </a:r>
            <a:r>
              <a:rPr lang="es-ES" baseline="-25000" dirty="0">
                <a:latin typeface="Verdana" panose="020B0604030504040204" pitchFamily="34" charset="0"/>
                <a:ea typeface="Verdana" panose="020B0604030504040204" pitchFamily="34" charset="0"/>
                <a:cs typeface="Verdana" panose="020B0604030504040204" pitchFamily="34" charset="0"/>
              </a:rPr>
              <a:t>i-1</a:t>
            </a:r>
            <a:r>
              <a:rPr lang="es-ES" dirty="0">
                <a:latin typeface="Verdana" panose="020B0604030504040204" pitchFamily="34" charset="0"/>
                <a:ea typeface="Verdana" panose="020B0604030504040204" pitchFamily="34" charset="0"/>
                <a:cs typeface="Verdana" panose="020B0604030504040204" pitchFamily="34" charset="0"/>
              </a:rPr>
              <a:t> han sido resueltas, entonces hay n</a:t>
            </a:r>
            <a:r>
              <a:rPr lang="es-ES" baseline="-25000" dirty="0">
                <a:latin typeface="Verdana" panose="020B0604030504040204" pitchFamily="34" charset="0"/>
                <a:ea typeface="Verdana" panose="020B0604030504040204" pitchFamily="34" charset="0"/>
                <a:cs typeface="Verdana" panose="020B0604030504040204" pitchFamily="34" charset="0"/>
              </a:rPr>
              <a:t>1</a:t>
            </a:r>
            <a:r>
              <a:rPr lang="es-ES" dirty="0">
                <a:latin typeface="Verdana" panose="020B0604030504040204" pitchFamily="34" charset="0"/>
                <a:ea typeface="Verdana" panose="020B0604030504040204" pitchFamily="34" charset="0"/>
                <a:cs typeface="Verdana" panose="020B0604030504040204" pitchFamily="34" charset="0"/>
              </a:rPr>
              <a:t>.n</a:t>
            </a:r>
            <a:r>
              <a:rPr lang="es-ES" baseline="-25000" dirty="0">
                <a:latin typeface="Verdana" panose="020B0604030504040204" pitchFamily="34" charset="0"/>
                <a:ea typeface="Verdana" panose="020B0604030504040204" pitchFamily="34" charset="0"/>
                <a:cs typeface="Verdana" panose="020B0604030504040204" pitchFamily="34" charset="0"/>
              </a:rPr>
              <a:t>2</a:t>
            </a:r>
            <a:r>
              <a:rPr lang="es-ES" dirty="0">
                <a:latin typeface="Verdana" panose="020B0604030504040204" pitchFamily="34" charset="0"/>
                <a:ea typeface="Verdana" panose="020B0604030504040204" pitchFamily="34" charset="0"/>
                <a:cs typeface="Verdana" panose="020B0604030504040204" pitchFamily="34" charset="0"/>
              </a:rPr>
              <a:t>.....n</a:t>
            </a:r>
            <a:r>
              <a:rPr lang="es-ES" baseline="-25000" dirty="0">
                <a:latin typeface="Verdana" panose="020B0604030504040204" pitchFamily="34" charset="0"/>
                <a:ea typeface="Verdana" panose="020B0604030504040204" pitchFamily="34" charset="0"/>
                <a:cs typeface="Verdana" panose="020B0604030504040204" pitchFamily="34" charset="0"/>
              </a:rPr>
              <a:t>m</a:t>
            </a:r>
            <a:r>
              <a:rPr lang="es-ES" dirty="0">
                <a:latin typeface="Verdana" panose="020B0604030504040204" pitchFamily="34" charset="0"/>
                <a:ea typeface="Verdana" panose="020B0604030504040204" pitchFamily="34" charset="0"/>
                <a:cs typeface="Verdana" panose="020B0604030504040204" pitchFamily="34" charset="0"/>
              </a:rPr>
              <a:t> formas de resolver el procedimiento.</a:t>
            </a:r>
            <a:endParaRPr lang="es-CO" dirty="0">
              <a:latin typeface="Verdana" panose="020B0604030504040204" pitchFamily="34" charset="0"/>
              <a:ea typeface="Verdana" panose="020B0604030504040204" pitchFamily="34" charset="0"/>
              <a:cs typeface="Verdana" panose="020B0604030504040204" pitchFamily="34" charset="0"/>
            </a:endParaRPr>
          </a:p>
        </p:txBody>
      </p:sp>
      <p:sp>
        <p:nvSpPr>
          <p:cNvPr id="8" name="CuadroTexto 7">
            <a:extLst>
              <a:ext uri="{FF2B5EF4-FFF2-40B4-BE49-F238E27FC236}">
                <a16:creationId xmlns:a16="http://schemas.microsoft.com/office/drawing/2014/main" id="{932481B4-8543-947D-05DB-233EB2D975E5}"/>
              </a:ext>
            </a:extLst>
          </p:cNvPr>
          <p:cNvSpPr txBox="1"/>
          <p:nvPr/>
        </p:nvSpPr>
        <p:spPr>
          <a:xfrm>
            <a:off x="1523999" y="3233582"/>
            <a:ext cx="9144000" cy="646331"/>
          </a:xfrm>
          <a:prstGeom prst="rect">
            <a:avLst/>
          </a:prstGeom>
          <a:noFill/>
        </p:spPr>
        <p:txBody>
          <a:bodyPr wrap="square" rtlCol="0">
            <a:spAutoFit/>
          </a:bodyPr>
          <a:lstStyle/>
          <a:p>
            <a:pPr algn="just"/>
            <a:r>
              <a:rPr lang="es-ES" b="1" dirty="0">
                <a:latin typeface="Verdana" panose="020B0604030504040204" pitchFamily="34" charset="0"/>
                <a:ea typeface="Verdana" panose="020B0604030504040204" pitchFamily="34" charset="0"/>
                <a:cs typeface="Verdana" panose="020B0604030504040204" pitchFamily="34" charset="0"/>
              </a:rPr>
              <a:t>Ejemplo:</a:t>
            </a:r>
            <a:r>
              <a:rPr lang="es-ES" dirty="0">
                <a:latin typeface="Verdana" panose="020B0604030504040204" pitchFamily="34" charset="0"/>
                <a:ea typeface="Verdana" panose="020B0604030504040204" pitchFamily="34" charset="0"/>
                <a:cs typeface="Verdana" panose="020B0604030504040204" pitchFamily="34" charset="0"/>
              </a:rPr>
              <a:t> ¿Cuántas cadenas diferentes de bits de longitud 7 se pueden encontrar?</a:t>
            </a:r>
            <a:endParaRPr lang="es-CO" dirty="0">
              <a:latin typeface="Verdana" panose="020B0604030504040204" pitchFamily="34" charset="0"/>
              <a:ea typeface="Verdana" panose="020B0604030504040204" pitchFamily="34" charset="0"/>
              <a:cs typeface="Verdana" panose="020B0604030504040204" pitchFamily="34" charset="0"/>
            </a:endParaRPr>
          </a:p>
        </p:txBody>
      </p:sp>
      <p:sp>
        <p:nvSpPr>
          <p:cNvPr id="5" name="CuadroTexto 4">
            <a:extLst>
              <a:ext uri="{FF2B5EF4-FFF2-40B4-BE49-F238E27FC236}">
                <a16:creationId xmlns:a16="http://schemas.microsoft.com/office/drawing/2014/main" id="{C3F214E9-3DA0-A41D-1629-1A30720EFE04}"/>
              </a:ext>
            </a:extLst>
          </p:cNvPr>
          <p:cNvSpPr txBox="1"/>
          <p:nvPr/>
        </p:nvSpPr>
        <p:spPr>
          <a:xfrm>
            <a:off x="1523999" y="4681132"/>
            <a:ext cx="9144000" cy="923330"/>
          </a:xfrm>
          <a:prstGeom prst="rect">
            <a:avLst/>
          </a:prstGeom>
          <a:noFill/>
        </p:spPr>
        <p:txBody>
          <a:bodyPr wrap="square" rtlCol="0">
            <a:spAutoFit/>
          </a:bodyPr>
          <a:lstStyle/>
          <a:p>
            <a:pPr algn="just"/>
            <a:r>
              <a:rPr lang="es-ES" b="1" dirty="0">
                <a:latin typeface="Verdana" panose="020B0604030504040204" pitchFamily="34" charset="0"/>
                <a:ea typeface="Verdana" panose="020B0604030504040204" pitchFamily="34" charset="0"/>
                <a:cs typeface="Verdana" panose="020B0604030504040204" pitchFamily="34" charset="0"/>
              </a:rPr>
              <a:t>Solución. </a:t>
            </a:r>
            <a:r>
              <a:rPr lang="es-ES" dirty="0">
                <a:latin typeface="Verdana" panose="020B0604030504040204" pitchFamily="34" charset="0"/>
                <a:ea typeface="Verdana" panose="020B0604030504040204" pitchFamily="34" charset="0"/>
                <a:cs typeface="Verdana" panose="020B0604030504040204" pitchFamily="34" charset="0"/>
              </a:rPr>
              <a:t>Cada bit en la cadena puede tener un valor de 0 o 1, es decir que existen 2 formas de elegir cada bit en la cadena. Total </a:t>
            </a:r>
            <a:r>
              <a:rPr lang="es-CO" dirty="0">
                <a:latin typeface="Verdana" panose="020B0604030504040204" pitchFamily="34" charset="0"/>
                <a:ea typeface="Verdana" panose="020B0604030504040204" pitchFamily="34" charset="0"/>
              </a:rPr>
              <a:t>2</a:t>
            </a:r>
            <a:r>
              <a:rPr lang="es-CO" baseline="30000" dirty="0">
                <a:latin typeface="Verdana" panose="020B0604030504040204" pitchFamily="34" charset="0"/>
                <a:ea typeface="Verdana" panose="020B0604030504040204" pitchFamily="34" charset="0"/>
              </a:rPr>
              <a:t>7 </a:t>
            </a:r>
            <a:r>
              <a:rPr lang="es-CO" dirty="0">
                <a:latin typeface="Verdana" panose="020B0604030504040204" pitchFamily="34" charset="0"/>
                <a:ea typeface="Verdana" panose="020B0604030504040204" pitchFamily="34" charset="0"/>
              </a:rPr>
              <a:t> = 128 cadenas de bits diferentes  con longitud 7.</a:t>
            </a:r>
            <a:endParaRPr lang="es-CO" dirty="0">
              <a:latin typeface="Verdana" panose="020B0604030504040204" pitchFamily="34" charset="0"/>
              <a:ea typeface="Verdana" panose="020B0604030504040204" pitchFamily="34" charset="0"/>
              <a:cs typeface="Verdana" panose="020B0604030504040204" pitchFamily="34" charset="0"/>
            </a:endParaRPr>
          </a:p>
        </p:txBody>
      </p:sp>
    </p:spTree>
    <p:extLst>
      <p:ext uri="{BB962C8B-B14F-4D97-AF65-F5344CB8AC3E}">
        <p14:creationId xmlns:p14="http://schemas.microsoft.com/office/powerpoint/2010/main" val="16597558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ppt_x"/>
                                          </p:val>
                                        </p:tav>
                                        <p:tav tm="100000">
                                          <p:val>
                                            <p:strVal val="#ppt_x"/>
                                          </p:val>
                                        </p:tav>
                                      </p:tavLst>
                                    </p:anim>
                                    <p:anim calcmode="lin" valueType="num">
                                      <p:cBhvr additive="base">
                                        <p:cTn id="8"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5"/>
                                        </p:tgtEl>
                                        <p:attrNameLst>
                                          <p:attrName>style.visibility</p:attrName>
                                        </p:attrNameLst>
                                      </p:cBhvr>
                                      <p:to>
                                        <p:strVal val="visible"/>
                                      </p:to>
                                    </p:set>
                                    <p:anim calcmode="lin" valueType="num">
                                      <p:cBhvr additive="base">
                                        <p:cTn id="13" dur="500" fill="hold"/>
                                        <p:tgtEl>
                                          <p:spTgt spid="5"/>
                                        </p:tgtEl>
                                        <p:attrNameLst>
                                          <p:attrName>ppt_x</p:attrName>
                                        </p:attrNameLst>
                                      </p:cBhvr>
                                      <p:tavLst>
                                        <p:tav tm="0">
                                          <p:val>
                                            <p:strVal val="#ppt_x"/>
                                          </p:val>
                                        </p:tav>
                                        <p:tav tm="100000">
                                          <p:val>
                                            <p:strVal val="#ppt_x"/>
                                          </p:val>
                                        </p:tav>
                                      </p:tavLst>
                                    </p:anim>
                                    <p:anim calcmode="lin" valueType="num">
                                      <p:cBhvr additive="base">
                                        <p:cTn id="14"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5"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9"/>
          <p:cNvSpPr/>
          <p:nvPr/>
        </p:nvSpPr>
        <p:spPr>
          <a:xfrm>
            <a:off x="1524000" y="473139"/>
            <a:ext cx="9144000" cy="649224"/>
          </a:xfrm>
          <a:custGeom>
            <a:avLst/>
            <a:gdLst/>
            <a:ahLst/>
            <a:cxnLst/>
            <a:rect l="l" t="t" r="r" b="b"/>
            <a:pathLst>
              <a:path w="9144000" h="649224">
                <a:moveTo>
                  <a:pt x="9144000" y="649223"/>
                </a:moveTo>
                <a:lnTo>
                  <a:pt x="9144000" y="0"/>
                </a:lnTo>
                <a:lnTo>
                  <a:pt x="0" y="0"/>
                </a:lnTo>
                <a:lnTo>
                  <a:pt x="0" y="649224"/>
                </a:lnTo>
                <a:lnTo>
                  <a:pt x="9144000" y="649223"/>
                </a:lnTo>
                <a:close/>
              </a:path>
            </a:pathLst>
          </a:custGeom>
          <a:solidFill>
            <a:srgbClr val="E6031E"/>
          </a:solidFill>
        </p:spPr>
        <p:txBody>
          <a:bodyPr wrap="square" lIns="0" tIns="0" rIns="0" bIns="0" rtlCol="0">
            <a:noAutofit/>
          </a:bodyPr>
          <a:lstStyle/>
          <a:p>
            <a:pPr algn="ctr"/>
            <a:r>
              <a:rPr lang="es-CO" sz="2400" b="1" dirty="0">
                <a:solidFill>
                  <a:schemeClr val="bg1"/>
                </a:solidFill>
                <a:latin typeface="Verdana" panose="020B0604030504040204" pitchFamily="34" charset="0"/>
                <a:ea typeface="Verdana" panose="020B0604030504040204" pitchFamily="34" charset="0"/>
                <a:cs typeface="Verdana" panose="020B0604030504040204" pitchFamily="34" charset="0"/>
              </a:rPr>
              <a:t>EXTENSIÓN DEL PRODUCTO</a:t>
            </a:r>
            <a:endParaRPr sz="2400" b="1" dirty="0">
              <a:solidFill>
                <a:schemeClr val="bg1"/>
              </a:solidFill>
              <a:latin typeface="Verdana" panose="020B0604030504040204" pitchFamily="34" charset="0"/>
              <a:ea typeface="Verdana" panose="020B0604030504040204" pitchFamily="34" charset="0"/>
              <a:cs typeface="Verdana" panose="020B0604030504040204" pitchFamily="34" charset="0"/>
            </a:endParaRPr>
          </a:p>
        </p:txBody>
      </p:sp>
      <p:sp>
        <p:nvSpPr>
          <p:cNvPr id="6" name="object 12"/>
          <p:cNvSpPr/>
          <p:nvPr/>
        </p:nvSpPr>
        <p:spPr>
          <a:xfrm>
            <a:off x="10242773" y="6153222"/>
            <a:ext cx="425227" cy="549401"/>
          </a:xfrm>
          <a:prstGeom prst="rect">
            <a:avLst/>
          </a:prstGeom>
          <a:blipFill>
            <a:blip r:embed="rId2" cstate="print"/>
            <a:stretch>
              <a:fillRect/>
            </a:stretch>
          </a:blipFill>
        </p:spPr>
        <p:txBody>
          <a:bodyPr wrap="square" lIns="0" tIns="0" rIns="0" bIns="0" rtlCol="0">
            <a:noAutofit/>
          </a:bodyPr>
          <a:lstStyle/>
          <a:p>
            <a:endParaRPr/>
          </a:p>
        </p:txBody>
      </p:sp>
      <p:sp>
        <p:nvSpPr>
          <p:cNvPr id="3" name="object 11">
            <a:extLst>
              <a:ext uri="{FF2B5EF4-FFF2-40B4-BE49-F238E27FC236}">
                <a16:creationId xmlns:a16="http://schemas.microsoft.com/office/drawing/2014/main" id="{46DBE57D-BC43-4A76-836D-DA3ECB0D8800}"/>
              </a:ext>
            </a:extLst>
          </p:cNvPr>
          <p:cNvSpPr/>
          <p:nvPr/>
        </p:nvSpPr>
        <p:spPr>
          <a:xfrm flipV="1">
            <a:off x="1524000" y="6049107"/>
            <a:ext cx="9144000" cy="64484"/>
          </a:xfrm>
          <a:custGeom>
            <a:avLst/>
            <a:gdLst/>
            <a:ahLst/>
            <a:cxnLst/>
            <a:rect l="l" t="t" r="r" b="b"/>
            <a:pathLst>
              <a:path w="9144000">
                <a:moveTo>
                  <a:pt x="9144000" y="0"/>
                </a:moveTo>
                <a:lnTo>
                  <a:pt x="20573" y="0"/>
                </a:lnTo>
              </a:path>
              <a:path w="9144000">
                <a:moveTo>
                  <a:pt x="20573" y="1"/>
                </a:moveTo>
                <a:lnTo>
                  <a:pt x="9144000" y="0"/>
                </a:lnTo>
              </a:path>
            </a:pathLst>
          </a:custGeom>
          <a:ln w="28575">
            <a:solidFill>
              <a:srgbClr val="E6031E"/>
            </a:solidFill>
          </a:ln>
        </p:spPr>
        <p:txBody>
          <a:bodyPr wrap="square" lIns="0" tIns="0" rIns="0" bIns="0" rtlCol="0">
            <a:noAutofit/>
          </a:bodyPr>
          <a:lstStyle/>
          <a:p>
            <a:endParaRPr/>
          </a:p>
        </p:txBody>
      </p:sp>
      <p:sp>
        <p:nvSpPr>
          <p:cNvPr id="10" name="CuadroTexto 9">
            <a:extLst>
              <a:ext uri="{FF2B5EF4-FFF2-40B4-BE49-F238E27FC236}">
                <a16:creationId xmlns:a16="http://schemas.microsoft.com/office/drawing/2014/main" id="{16D9C4FC-1CEA-3A24-3261-17D8E2A6B428}"/>
              </a:ext>
            </a:extLst>
          </p:cNvPr>
          <p:cNvSpPr txBox="1"/>
          <p:nvPr/>
        </p:nvSpPr>
        <p:spPr>
          <a:xfrm>
            <a:off x="1523999" y="1836523"/>
            <a:ext cx="9144000" cy="923330"/>
          </a:xfrm>
          <a:prstGeom prst="rect">
            <a:avLst/>
          </a:prstGeom>
          <a:noFill/>
        </p:spPr>
        <p:txBody>
          <a:bodyPr wrap="square" rtlCol="0">
            <a:spAutoFit/>
          </a:bodyPr>
          <a:lstStyle/>
          <a:p>
            <a:pPr algn="just"/>
            <a:r>
              <a:rPr lang="es-ES" b="1" dirty="0">
                <a:latin typeface="Verdana" panose="020B0604030504040204" pitchFamily="34" charset="0"/>
                <a:ea typeface="Verdana" panose="020B0604030504040204" pitchFamily="34" charset="0"/>
                <a:cs typeface="Verdana" panose="020B0604030504040204" pitchFamily="34" charset="0"/>
              </a:rPr>
              <a:t>Ejemplo: </a:t>
            </a:r>
            <a:r>
              <a:rPr lang="es-ES" dirty="0">
                <a:latin typeface="Verdana" panose="020B0604030504040204" pitchFamily="34" charset="0"/>
                <a:ea typeface="Verdana" panose="020B0604030504040204" pitchFamily="34" charset="0"/>
                <a:cs typeface="Verdana" panose="020B0604030504040204" pitchFamily="34" charset="0"/>
              </a:rPr>
              <a:t>Si las placas de los automóviles se identifican con una secuencia de tres letras y a continuación una secuencia de tres dígitos. ¿Cuántas posibles placas pueden ser asignadas? </a:t>
            </a:r>
            <a:endParaRPr lang="es-CO" dirty="0">
              <a:latin typeface="Verdana" panose="020B0604030504040204" pitchFamily="34" charset="0"/>
              <a:ea typeface="Verdana" panose="020B0604030504040204" pitchFamily="34" charset="0"/>
              <a:cs typeface="Verdana" panose="020B0604030504040204" pitchFamily="34" charset="0"/>
            </a:endParaRPr>
          </a:p>
        </p:txBody>
      </p:sp>
      <p:sp>
        <p:nvSpPr>
          <p:cNvPr id="5" name="CuadroTexto 4">
            <a:extLst>
              <a:ext uri="{FF2B5EF4-FFF2-40B4-BE49-F238E27FC236}">
                <a16:creationId xmlns:a16="http://schemas.microsoft.com/office/drawing/2014/main" id="{03CE198A-A064-8A29-60D5-0495668431FC}"/>
              </a:ext>
            </a:extLst>
          </p:cNvPr>
          <p:cNvSpPr txBox="1"/>
          <p:nvPr/>
        </p:nvSpPr>
        <p:spPr>
          <a:xfrm>
            <a:off x="1523999" y="3636483"/>
            <a:ext cx="9144000" cy="923330"/>
          </a:xfrm>
          <a:prstGeom prst="rect">
            <a:avLst/>
          </a:prstGeom>
          <a:noFill/>
        </p:spPr>
        <p:txBody>
          <a:bodyPr wrap="square" rtlCol="0">
            <a:spAutoFit/>
          </a:bodyPr>
          <a:lstStyle/>
          <a:p>
            <a:pPr algn="just"/>
            <a:r>
              <a:rPr lang="es-ES" b="1" dirty="0">
                <a:latin typeface="Verdana" panose="020B0604030504040204" pitchFamily="34" charset="0"/>
                <a:ea typeface="Verdana" panose="020B0604030504040204" pitchFamily="34" charset="0"/>
                <a:cs typeface="Verdana" panose="020B0604030504040204" pitchFamily="34" charset="0"/>
              </a:rPr>
              <a:t>Solución. </a:t>
            </a:r>
            <a:r>
              <a:rPr lang="es-ES" dirty="0">
                <a:latin typeface="Verdana" panose="020B0604030504040204" pitchFamily="34" charset="0"/>
                <a:ea typeface="Verdana" panose="020B0604030504040204" pitchFamily="34" charset="0"/>
                <a:cs typeface="Verdana" panose="020B0604030504040204" pitchFamily="34" charset="0"/>
              </a:rPr>
              <a:t>Aplicando la regla del producto sucesivamente se obtiene la siguiente relación : 26 * 26 * 26 * 10 * 10 * 10 para un total de 17.576.000 placas posibles</a:t>
            </a:r>
            <a:endParaRPr lang="es-CO" dirty="0">
              <a:latin typeface="Verdana" panose="020B0604030504040204" pitchFamily="34" charset="0"/>
              <a:ea typeface="Verdana" panose="020B0604030504040204" pitchFamily="34" charset="0"/>
              <a:cs typeface="Verdana" panose="020B0604030504040204" pitchFamily="34" charset="0"/>
            </a:endParaRPr>
          </a:p>
        </p:txBody>
      </p:sp>
    </p:spTree>
    <p:extLst>
      <p:ext uri="{BB962C8B-B14F-4D97-AF65-F5344CB8AC3E}">
        <p14:creationId xmlns:p14="http://schemas.microsoft.com/office/powerpoint/2010/main" val="25353415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additive="base">
                                        <p:cTn id="7" dur="500" fill="hold"/>
                                        <p:tgtEl>
                                          <p:spTgt spid="10"/>
                                        </p:tgtEl>
                                        <p:attrNameLst>
                                          <p:attrName>ppt_x</p:attrName>
                                        </p:attrNameLst>
                                      </p:cBhvr>
                                      <p:tavLst>
                                        <p:tav tm="0">
                                          <p:val>
                                            <p:strVal val="#ppt_x"/>
                                          </p:val>
                                        </p:tav>
                                        <p:tav tm="100000">
                                          <p:val>
                                            <p:strVal val="#ppt_x"/>
                                          </p:val>
                                        </p:tav>
                                      </p:tavLst>
                                    </p:anim>
                                    <p:anim calcmode="lin" valueType="num">
                                      <p:cBhvr additive="base">
                                        <p:cTn id="8"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5"/>
                                        </p:tgtEl>
                                        <p:attrNameLst>
                                          <p:attrName>style.visibility</p:attrName>
                                        </p:attrNameLst>
                                      </p:cBhvr>
                                      <p:to>
                                        <p:strVal val="visible"/>
                                      </p:to>
                                    </p:set>
                                    <p:anim calcmode="lin" valueType="num">
                                      <p:cBhvr additive="base">
                                        <p:cTn id="13" dur="500" fill="hold"/>
                                        <p:tgtEl>
                                          <p:spTgt spid="5"/>
                                        </p:tgtEl>
                                        <p:attrNameLst>
                                          <p:attrName>ppt_x</p:attrName>
                                        </p:attrNameLst>
                                      </p:cBhvr>
                                      <p:tavLst>
                                        <p:tav tm="0">
                                          <p:val>
                                            <p:strVal val="#ppt_x"/>
                                          </p:val>
                                        </p:tav>
                                        <p:tav tm="100000">
                                          <p:val>
                                            <p:strVal val="#ppt_x"/>
                                          </p:val>
                                        </p:tav>
                                      </p:tavLst>
                                    </p:anim>
                                    <p:anim calcmode="lin" valueType="num">
                                      <p:cBhvr additive="base">
                                        <p:cTn id="14"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5"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9"/>
          <p:cNvSpPr/>
          <p:nvPr/>
        </p:nvSpPr>
        <p:spPr>
          <a:xfrm>
            <a:off x="1524000" y="473139"/>
            <a:ext cx="9144000" cy="649224"/>
          </a:xfrm>
          <a:custGeom>
            <a:avLst/>
            <a:gdLst/>
            <a:ahLst/>
            <a:cxnLst/>
            <a:rect l="l" t="t" r="r" b="b"/>
            <a:pathLst>
              <a:path w="9144000" h="649224">
                <a:moveTo>
                  <a:pt x="9144000" y="649223"/>
                </a:moveTo>
                <a:lnTo>
                  <a:pt x="9144000" y="0"/>
                </a:lnTo>
                <a:lnTo>
                  <a:pt x="0" y="0"/>
                </a:lnTo>
                <a:lnTo>
                  <a:pt x="0" y="649224"/>
                </a:lnTo>
                <a:lnTo>
                  <a:pt x="9144000" y="649223"/>
                </a:lnTo>
                <a:close/>
              </a:path>
            </a:pathLst>
          </a:custGeom>
          <a:solidFill>
            <a:srgbClr val="E6031E"/>
          </a:solidFill>
        </p:spPr>
        <p:txBody>
          <a:bodyPr wrap="square" lIns="0" tIns="0" rIns="0" bIns="0" rtlCol="0">
            <a:noAutofit/>
          </a:bodyPr>
          <a:lstStyle/>
          <a:p>
            <a:pPr algn="ctr"/>
            <a:r>
              <a:rPr lang="es-CO" sz="2400" b="1" dirty="0">
                <a:solidFill>
                  <a:schemeClr val="bg1"/>
                </a:solidFill>
                <a:latin typeface="Verdana" panose="020B0604030504040204" pitchFamily="34" charset="0"/>
                <a:ea typeface="Verdana" panose="020B0604030504040204" pitchFamily="34" charset="0"/>
                <a:cs typeface="Verdana" panose="020B0604030504040204" pitchFamily="34" charset="0"/>
              </a:rPr>
              <a:t>EXTENSIÓN DEL PRODUCTO</a:t>
            </a:r>
            <a:endParaRPr sz="2400" b="1" dirty="0">
              <a:solidFill>
                <a:schemeClr val="bg1"/>
              </a:solidFill>
              <a:latin typeface="Verdana" panose="020B0604030504040204" pitchFamily="34" charset="0"/>
              <a:ea typeface="Verdana" panose="020B0604030504040204" pitchFamily="34" charset="0"/>
              <a:cs typeface="Verdana" panose="020B0604030504040204" pitchFamily="34" charset="0"/>
            </a:endParaRPr>
          </a:p>
        </p:txBody>
      </p:sp>
      <p:sp>
        <p:nvSpPr>
          <p:cNvPr id="6" name="object 12"/>
          <p:cNvSpPr/>
          <p:nvPr/>
        </p:nvSpPr>
        <p:spPr>
          <a:xfrm>
            <a:off x="10242773" y="6153222"/>
            <a:ext cx="425227" cy="549401"/>
          </a:xfrm>
          <a:prstGeom prst="rect">
            <a:avLst/>
          </a:prstGeom>
          <a:blipFill>
            <a:blip r:embed="rId2" cstate="print"/>
            <a:stretch>
              <a:fillRect/>
            </a:stretch>
          </a:blipFill>
        </p:spPr>
        <p:txBody>
          <a:bodyPr wrap="square" lIns="0" tIns="0" rIns="0" bIns="0" rtlCol="0">
            <a:noAutofit/>
          </a:bodyPr>
          <a:lstStyle/>
          <a:p>
            <a:endParaRPr/>
          </a:p>
        </p:txBody>
      </p:sp>
      <p:sp>
        <p:nvSpPr>
          <p:cNvPr id="3" name="object 11">
            <a:extLst>
              <a:ext uri="{FF2B5EF4-FFF2-40B4-BE49-F238E27FC236}">
                <a16:creationId xmlns:a16="http://schemas.microsoft.com/office/drawing/2014/main" id="{46DBE57D-BC43-4A76-836D-DA3ECB0D8800}"/>
              </a:ext>
            </a:extLst>
          </p:cNvPr>
          <p:cNvSpPr/>
          <p:nvPr/>
        </p:nvSpPr>
        <p:spPr>
          <a:xfrm flipV="1">
            <a:off x="1524000" y="6049107"/>
            <a:ext cx="9144000" cy="64484"/>
          </a:xfrm>
          <a:custGeom>
            <a:avLst/>
            <a:gdLst/>
            <a:ahLst/>
            <a:cxnLst/>
            <a:rect l="l" t="t" r="r" b="b"/>
            <a:pathLst>
              <a:path w="9144000">
                <a:moveTo>
                  <a:pt x="9144000" y="0"/>
                </a:moveTo>
                <a:lnTo>
                  <a:pt x="20573" y="0"/>
                </a:lnTo>
              </a:path>
              <a:path w="9144000">
                <a:moveTo>
                  <a:pt x="20573" y="1"/>
                </a:moveTo>
                <a:lnTo>
                  <a:pt x="9144000" y="0"/>
                </a:lnTo>
              </a:path>
            </a:pathLst>
          </a:custGeom>
          <a:ln w="28575">
            <a:solidFill>
              <a:srgbClr val="E6031E"/>
            </a:solidFill>
          </a:ln>
        </p:spPr>
        <p:txBody>
          <a:bodyPr wrap="square" lIns="0" tIns="0" rIns="0" bIns="0" rtlCol="0">
            <a:noAutofit/>
          </a:bodyPr>
          <a:lstStyle/>
          <a:p>
            <a:endParaRPr/>
          </a:p>
        </p:txBody>
      </p:sp>
      <p:sp>
        <p:nvSpPr>
          <p:cNvPr id="2" name="CuadroTexto 1">
            <a:extLst>
              <a:ext uri="{FF2B5EF4-FFF2-40B4-BE49-F238E27FC236}">
                <a16:creationId xmlns:a16="http://schemas.microsoft.com/office/drawing/2014/main" id="{48841838-5861-63D0-E654-3592BDB26C4F}"/>
              </a:ext>
            </a:extLst>
          </p:cNvPr>
          <p:cNvSpPr txBox="1"/>
          <p:nvPr/>
        </p:nvSpPr>
        <p:spPr>
          <a:xfrm>
            <a:off x="1523999" y="2445686"/>
            <a:ext cx="9144001" cy="1477328"/>
          </a:xfrm>
          <a:prstGeom prst="rect">
            <a:avLst/>
          </a:prstGeom>
          <a:noFill/>
        </p:spPr>
        <p:txBody>
          <a:bodyPr wrap="square" rtlCol="0">
            <a:spAutoFit/>
          </a:bodyPr>
          <a:lstStyle/>
          <a:p>
            <a:pPr algn="just"/>
            <a:r>
              <a:rPr lang="es-ES" b="1" dirty="0">
                <a:latin typeface="Verdana" panose="020B0604030504040204" pitchFamily="34" charset="0"/>
                <a:ea typeface="Verdana" panose="020B0604030504040204" pitchFamily="34" charset="0"/>
                <a:cs typeface="Verdana" panose="020B0604030504040204" pitchFamily="34" charset="0"/>
              </a:rPr>
              <a:t>Ejemplo: </a:t>
            </a:r>
            <a:r>
              <a:rPr lang="es-ES" dirty="0">
                <a:latin typeface="Verdana" panose="020B0604030504040204" pitchFamily="34" charset="0"/>
                <a:ea typeface="Verdana" panose="020B0604030504040204" pitchFamily="34" charset="0"/>
                <a:cs typeface="Verdana" panose="020B0604030504040204" pitchFamily="34" charset="0"/>
              </a:rPr>
              <a:t>En algunas de las primeras versiones del lenguaje de programación BASIC, el nombre de una variable consta de una sola letra (A, B, C,...) o una sola letra seguida de un solo dígito. Como el computador no distingue entre las letras mayúsculas y minúsculas, a y A se consideran como el mismo nombre de variable, así como también E7 y e7.</a:t>
            </a:r>
            <a:endParaRPr lang="es-CO" dirty="0">
              <a:latin typeface="Verdana" panose="020B0604030504040204" pitchFamily="34" charset="0"/>
              <a:ea typeface="Verdana" panose="020B0604030504040204" pitchFamily="34" charset="0"/>
              <a:cs typeface="Verdana" panose="020B0604030504040204" pitchFamily="34" charset="0"/>
            </a:endParaRPr>
          </a:p>
        </p:txBody>
      </p:sp>
      <p:sp>
        <p:nvSpPr>
          <p:cNvPr id="8" name="CuadroTexto 7">
            <a:extLst>
              <a:ext uri="{FF2B5EF4-FFF2-40B4-BE49-F238E27FC236}">
                <a16:creationId xmlns:a16="http://schemas.microsoft.com/office/drawing/2014/main" id="{932481B4-8543-947D-05DB-233EB2D975E5}"/>
              </a:ext>
            </a:extLst>
          </p:cNvPr>
          <p:cNvSpPr txBox="1"/>
          <p:nvPr/>
        </p:nvSpPr>
        <p:spPr>
          <a:xfrm>
            <a:off x="1524000" y="4412314"/>
            <a:ext cx="9144000" cy="1200329"/>
          </a:xfrm>
          <a:prstGeom prst="rect">
            <a:avLst/>
          </a:prstGeom>
          <a:noFill/>
        </p:spPr>
        <p:txBody>
          <a:bodyPr wrap="square" rtlCol="0">
            <a:spAutoFit/>
          </a:bodyPr>
          <a:lstStyle/>
          <a:p>
            <a:pPr algn="just"/>
            <a:r>
              <a:rPr lang="es-ES" b="1" dirty="0">
                <a:latin typeface="Verdana" panose="020B0604030504040204" pitchFamily="34" charset="0"/>
                <a:ea typeface="Verdana" panose="020B0604030504040204" pitchFamily="34" charset="0"/>
                <a:cs typeface="Verdana" panose="020B0604030504040204" pitchFamily="34" charset="0"/>
              </a:rPr>
              <a:t>Solución: </a:t>
            </a:r>
            <a:r>
              <a:rPr lang="es-ES" dirty="0">
                <a:latin typeface="Verdana" panose="020B0604030504040204" pitchFamily="34" charset="0"/>
                <a:ea typeface="Verdana" panose="020B0604030504040204" pitchFamily="34" charset="0"/>
                <a:cs typeface="Verdana" panose="020B0604030504040204" pitchFamily="34" charset="0"/>
              </a:rPr>
              <a:t>Por la regla del producto, existen 260 nombres de variables que constan de una letra seguida de un dígito y como hay 26 nombres de variables que constan de una sola letra por la regla de la suma existen 260+26 = 286 nombres de variables en este lenguaje de programación.</a:t>
            </a:r>
            <a:endParaRPr lang="es-CO" dirty="0">
              <a:latin typeface="Verdana" panose="020B0604030504040204" pitchFamily="34" charset="0"/>
              <a:ea typeface="Verdana" panose="020B0604030504040204" pitchFamily="34" charset="0"/>
              <a:cs typeface="Verdana" panose="020B0604030504040204" pitchFamily="34" charset="0"/>
            </a:endParaRPr>
          </a:p>
        </p:txBody>
      </p:sp>
    </p:spTree>
    <p:extLst>
      <p:ext uri="{BB962C8B-B14F-4D97-AF65-F5344CB8AC3E}">
        <p14:creationId xmlns:p14="http://schemas.microsoft.com/office/powerpoint/2010/main" val="8025328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ppt_x"/>
                                          </p:val>
                                        </p:tav>
                                        <p:tav tm="100000">
                                          <p:val>
                                            <p:strVal val="#ppt_x"/>
                                          </p:val>
                                        </p:tav>
                                      </p:tavLst>
                                    </p:anim>
                                    <p:anim calcmode="lin" valueType="num">
                                      <p:cBhvr additive="base">
                                        <p:cTn id="8" dur="500" fill="hold"/>
                                        <p:tgtEl>
                                          <p:spTgt spid="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9"/>
          <p:cNvSpPr/>
          <p:nvPr/>
        </p:nvSpPr>
        <p:spPr>
          <a:xfrm>
            <a:off x="1524000" y="473139"/>
            <a:ext cx="9144000" cy="649224"/>
          </a:xfrm>
          <a:custGeom>
            <a:avLst/>
            <a:gdLst/>
            <a:ahLst/>
            <a:cxnLst/>
            <a:rect l="l" t="t" r="r" b="b"/>
            <a:pathLst>
              <a:path w="9144000" h="649224">
                <a:moveTo>
                  <a:pt x="9144000" y="649223"/>
                </a:moveTo>
                <a:lnTo>
                  <a:pt x="9144000" y="0"/>
                </a:lnTo>
                <a:lnTo>
                  <a:pt x="0" y="0"/>
                </a:lnTo>
                <a:lnTo>
                  <a:pt x="0" y="649224"/>
                </a:lnTo>
                <a:lnTo>
                  <a:pt x="9144000" y="649223"/>
                </a:lnTo>
                <a:close/>
              </a:path>
            </a:pathLst>
          </a:custGeom>
          <a:solidFill>
            <a:srgbClr val="E6031E"/>
          </a:solidFill>
        </p:spPr>
        <p:txBody>
          <a:bodyPr wrap="square" lIns="0" tIns="0" rIns="0" bIns="0" rtlCol="0">
            <a:noAutofit/>
          </a:bodyPr>
          <a:lstStyle/>
          <a:p>
            <a:pPr algn="ctr"/>
            <a:r>
              <a:rPr lang="es-CO" sz="2400" b="1" dirty="0">
                <a:solidFill>
                  <a:schemeClr val="bg1"/>
                </a:solidFill>
                <a:latin typeface="Verdana" panose="020B0604030504040204" pitchFamily="34" charset="0"/>
                <a:ea typeface="Verdana" panose="020B0604030504040204" pitchFamily="34" charset="0"/>
                <a:cs typeface="Verdana" panose="020B0604030504040204" pitchFamily="34" charset="0"/>
              </a:rPr>
              <a:t>EXTENSIÓN DEL PRODUCTO</a:t>
            </a:r>
            <a:endParaRPr sz="2400" b="1" dirty="0">
              <a:solidFill>
                <a:schemeClr val="bg1"/>
              </a:solidFill>
              <a:latin typeface="Verdana" panose="020B0604030504040204" pitchFamily="34" charset="0"/>
              <a:ea typeface="Verdana" panose="020B0604030504040204" pitchFamily="34" charset="0"/>
              <a:cs typeface="Verdana" panose="020B0604030504040204" pitchFamily="34" charset="0"/>
            </a:endParaRPr>
          </a:p>
        </p:txBody>
      </p:sp>
      <p:sp>
        <p:nvSpPr>
          <p:cNvPr id="6" name="object 12"/>
          <p:cNvSpPr/>
          <p:nvPr/>
        </p:nvSpPr>
        <p:spPr>
          <a:xfrm>
            <a:off x="10242773" y="6153222"/>
            <a:ext cx="425227" cy="549401"/>
          </a:xfrm>
          <a:prstGeom prst="rect">
            <a:avLst/>
          </a:prstGeom>
          <a:blipFill>
            <a:blip r:embed="rId2" cstate="print"/>
            <a:stretch>
              <a:fillRect/>
            </a:stretch>
          </a:blipFill>
        </p:spPr>
        <p:txBody>
          <a:bodyPr wrap="square" lIns="0" tIns="0" rIns="0" bIns="0" rtlCol="0">
            <a:noAutofit/>
          </a:bodyPr>
          <a:lstStyle/>
          <a:p>
            <a:endParaRPr/>
          </a:p>
        </p:txBody>
      </p:sp>
      <p:sp>
        <p:nvSpPr>
          <p:cNvPr id="3" name="object 11">
            <a:extLst>
              <a:ext uri="{FF2B5EF4-FFF2-40B4-BE49-F238E27FC236}">
                <a16:creationId xmlns:a16="http://schemas.microsoft.com/office/drawing/2014/main" id="{46DBE57D-BC43-4A76-836D-DA3ECB0D8800}"/>
              </a:ext>
            </a:extLst>
          </p:cNvPr>
          <p:cNvSpPr/>
          <p:nvPr/>
        </p:nvSpPr>
        <p:spPr>
          <a:xfrm flipV="1">
            <a:off x="1524000" y="6049107"/>
            <a:ext cx="9144000" cy="64484"/>
          </a:xfrm>
          <a:custGeom>
            <a:avLst/>
            <a:gdLst/>
            <a:ahLst/>
            <a:cxnLst/>
            <a:rect l="l" t="t" r="r" b="b"/>
            <a:pathLst>
              <a:path w="9144000">
                <a:moveTo>
                  <a:pt x="9144000" y="0"/>
                </a:moveTo>
                <a:lnTo>
                  <a:pt x="20573" y="0"/>
                </a:lnTo>
              </a:path>
              <a:path w="9144000">
                <a:moveTo>
                  <a:pt x="20573" y="1"/>
                </a:moveTo>
                <a:lnTo>
                  <a:pt x="9144000" y="0"/>
                </a:lnTo>
              </a:path>
            </a:pathLst>
          </a:custGeom>
          <a:ln w="28575">
            <a:solidFill>
              <a:srgbClr val="E6031E"/>
            </a:solidFill>
          </a:ln>
        </p:spPr>
        <p:txBody>
          <a:bodyPr wrap="square" lIns="0" tIns="0" rIns="0" bIns="0" rtlCol="0">
            <a:noAutofit/>
          </a:bodyPr>
          <a:lstStyle/>
          <a:p>
            <a:endParaRPr/>
          </a:p>
        </p:txBody>
      </p:sp>
      <p:sp>
        <p:nvSpPr>
          <p:cNvPr id="2" name="CuadroTexto 1">
            <a:extLst>
              <a:ext uri="{FF2B5EF4-FFF2-40B4-BE49-F238E27FC236}">
                <a16:creationId xmlns:a16="http://schemas.microsoft.com/office/drawing/2014/main" id="{48841838-5861-63D0-E654-3592BDB26C4F}"/>
              </a:ext>
            </a:extLst>
          </p:cNvPr>
          <p:cNvSpPr txBox="1"/>
          <p:nvPr/>
        </p:nvSpPr>
        <p:spPr>
          <a:xfrm>
            <a:off x="1524000" y="1872861"/>
            <a:ext cx="9144001" cy="646331"/>
          </a:xfrm>
          <a:prstGeom prst="rect">
            <a:avLst/>
          </a:prstGeom>
          <a:noFill/>
        </p:spPr>
        <p:txBody>
          <a:bodyPr wrap="square" rtlCol="0">
            <a:spAutoFit/>
          </a:bodyPr>
          <a:lstStyle/>
          <a:p>
            <a:pPr algn="just"/>
            <a:r>
              <a:rPr lang="es-ES" b="1" dirty="0">
                <a:latin typeface="Verdana" panose="020B0604030504040204" pitchFamily="34" charset="0"/>
                <a:ea typeface="Verdana" panose="020B0604030504040204" pitchFamily="34" charset="0"/>
                <a:cs typeface="Verdana" panose="020B0604030504040204" pitchFamily="34" charset="0"/>
              </a:rPr>
              <a:t>Ejemplo: </a:t>
            </a:r>
            <a:r>
              <a:rPr lang="es-ES" dirty="0">
                <a:latin typeface="Verdana" panose="020B0604030504040204" pitchFamily="34" charset="0"/>
                <a:ea typeface="Verdana" panose="020B0604030504040204" pitchFamily="34" charset="0"/>
                <a:cs typeface="Verdana" panose="020B0604030504040204" pitchFamily="34" charset="0"/>
              </a:rPr>
              <a:t>¿Cuántas funciones se pueden definir de un conjunto de m elementos (dominio) a otro conjunto de n elementos (imagen)?</a:t>
            </a:r>
            <a:endParaRPr lang="es-CO" dirty="0">
              <a:latin typeface="Verdana" panose="020B0604030504040204" pitchFamily="34" charset="0"/>
              <a:ea typeface="Verdana" panose="020B0604030504040204" pitchFamily="34" charset="0"/>
              <a:cs typeface="Verdana" panose="020B0604030504040204" pitchFamily="34" charset="0"/>
            </a:endParaRPr>
          </a:p>
        </p:txBody>
      </p:sp>
      <p:sp>
        <p:nvSpPr>
          <p:cNvPr id="8" name="CuadroTexto 7">
            <a:extLst>
              <a:ext uri="{FF2B5EF4-FFF2-40B4-BE49-F238E27FC236}">
                <a16:creationId xmlns:a16="http://schemas.microsoft.com/office/drawing/2014/main" id="{932481B4-8543-947D-05DB-233EB2D975E5}"/>
              </a:ext>
            </a:extLst>
          </p:cNvPr>
          <p:cNvSpPr txBox="1"/>
          <p:nvPr/>
        </p:nvSpPr>
        <p:spPr>
          <a:xfrm>
            <a:off x="1524000" y="3239699"/>
            <a:ext cx="9144000" cy="1754326"/>
          </a:xfrm>
          <a:prstGeom prst="rect">
            <a:avLst/>
          </a:prstGeom>
          <a:noFill/>
        </p:spPr>
        <p:txBody>
          <a:bodyPr wrap="square" rtlCol="0">
            <a:spAutoFit/>
          </a:bodyPr>
          <a:lstStyle/>
          <a:p>
            <a:pPr algn="just"/>
            <a:r>
              <a:rPr lang="es-ES" b="1" dirty="0">
                <a:latin typeface="Verdana" panose="020B0604030504040204" pitchFamily="34" charset="0"/>
                <a:ea typeface="Verdana" panose="020B0604030504040204" pitchFamily="34" charset="0"/>
                <a:cs typeface="Verdana" panose="020B0604030504040204" pitchFamily="34" charset="0"/>
              </a:rPr>
              <a:t>Solución: </a:t>
            </a:r>
            <a:r>
              <a:rPr lang="es-ES" dirty="0">
                <a:latin typeface="Verdana" panose="020B0604030504040204" pitchFamily="34" charset="0"/>
                <a:ea typeface="Verdana" panose="020B0604030504040204" pitchFamily="34" charset="0"/>
                <a:cs typeface="Verdana" panose="020B0604030504040204" pitchFamily="34" charset="0"/>
              </a:rPr>
              <a:t>Una función corresponde con la elección de uno de los m elementos del conjunto imagen para cada uno de los n elementos del dominio</a:t>
            </a:r>
            <a:r>
              <a:rPr lang="es-CO" dirty="0">
                <a:latin typeface="Verdana" panose="020B0604030504040204" pitchFamily="34" charset="0"/>
                <a:ea typeface="Verdana" panose="020B0604030504040204" pitchFamily="34" charset="0"/>
                <a:cs typeface="Verdana" panose="020B0604030504040204" pitchFamily="34" charset="0"/>
              </a:rPr>
              <a:t>. </a:t>
            </a:r>
          </a:p>
          <a:p>
            <a:pPr algn="just"/>
            <a:endParaRPr lang="es-CO" dirty="0">
              <a:latin typeface="Verdana" panose="020B0604030504040204" pitchFamily="34" charset="0"/>
              <a:ea typeface="Verdana" panose="020B0604030504040204" pitchFamily="34" charset="0"/>
              <a:cs typeface="Verdana" panose="020B0604030504040204" pitchFamily="34" charset="0"/>
            </a:endParaRPr>
          </a:p>
          <a:p>
            <a:pPr algn="just"/>
            <a:r>
              <a:rPr lang="es-CO" dirty="0">
                <a:latin typeface="Verdana" panose="020B0604030504040204" pitchFamily="34" charset="0"/>
                <a:ea typeface="Verdana" panose="020B0604030504040204" pitchFamily="34" charset="0"/>
                <a:cs typeface="Verdana" panose="020B0604030504040204" pitchFamily="34" charset="0"/>
              </a:rPr>
              <a:t>Aplicando la regla del producto sucesivamente se obtiene la siguiente relación : n * n * n * … * n * n = </a:t>
            </a:r>
            <a:r>
              <a:rPr lang="es-CO" dirty="0">
                <a:latin typeface="Verdana" panose="020B0604030504040204" pitchFamily="34" charset="0"/>
                <a:ea typeface="Verdana" panose="020B0604030504040204" pitchFamily="34" charset="0"/>
              </a:rPr>
              <a:t>n</a:t>
            </a:r>
            <a:r>
              <a:rPr lang="es-CO" baseline="30000" dirty="0">
                <a:latin typeface="Verdana" panose="020B0604030504040204" pitchFamily="34" charset="0"/>
                <a:ea typeface="Verdana" panose="020B0604030504040204" pitchFamily="34" charset="0"/>
              </a:rPr>
              <a:t>m</a:t>
            </a:r>
            <a:endParaRPr lang="es-ES" dirty="0">
              <a:latin typeface="Verdana" panose="020B0604030504040204" pitchFamily="34" charset="0"/>
              <a:ea typeface="Verdana" panose="020B0604030504040204" pitchFamily="34" charset="0"/>
              <a:cs typeface="Verdana" panose="020B0604030504040204" pitchFamily="34" charset="0"/>
            </a:endParaRPr>
          </a:p>
        </p:txBody>
      </p:sp>
    </p:spTree>
    <p:extLst>
      <p:ext uri="{BB962C8B-B14F-4D97-AF65-F5344CB8AC3E}">
        <p14:creationId xmlns:p14="http://schemas.microsoft.com/office/powerpoint/2010/main" val="19885864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ppt_x"/>
                                          </p:val>
                                        </p:tav>
                                        <p:tav tm="100000">
                                          <p:val>
                                            <p:strVal val="#ppt_x"/>
                                          </p:val>
                                        </p:tav>
                                      </p:tavLst>
                                    </p:anim>
                                    <p:anim calcmode="lin" valueType="num">
                                      <p:cBhvr additive="base">
                                        <p:cTn id="8" dur="500" fill="hold"/>
                                        <p:tgtEl>
                                          <p:spTgt spid="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9"/>
          <p:cNvSpPr/>
          <p:nvPr/>
        </p:nvSpPr>
        <p:spPr>
          <a:xfrm>
            <a:off x="1524000" y="473139"/>
            <a:ext cx="9144000" cy="649224"/>
          </a:xfrm>
          <a:custGeom>
            <a:avLst/>
            <a:gdLst/>
            <a:ahLst/>
            <a:cxnLst/>
            <a:rect l="l" t="t" r="r" b="b"/>
            <a:pathLst>
              <a:path w="9144000" h="649224">
                <a:moveTo>
                  <a:pt x="9144000" y="649223"/>
                </a:moveTo>
                <a:lnTo>
                  <a:pt x="9144000" y="0"/>
                </a:lnTo>
                <a:lnTo>
                  <a:pt x="0" y="0"/>
                </a:lnTo>
                <a:lnTo>
                  <a:pt x="0" y="649224"/>
                </a:lnTo>
                <a:lnTo>
                  <a:pt x="9144000" y="649223"/>
                </a:lnTo>
                <a:close/>
              </a:path>
            </a:pathLst>
          </a:custGeom>
          <a:solidFill>
            <a:srgbClr val="E6031E"/>
          </a:solidFill>
        </p:spPr>
        <p:txBody>
          <a:bodyPr wrap="square" lIns="0" tIns="0" rIns="0" bIns="0" rtlCol="0">
            <a:noAutofit/>
          </a:bodyPr>
          <a:lstStyle/>
          <a:p>
            <a:pPr algn="ctr"/>
            <a:r>
              <a:rPr lang="es-CO" sz="2400" b="1" dirty="0">
                <a:solidFill>
                  <a:schemeClr val="bg1"/>
                </a:solidFill>
                <a:latin typeface="Verdana" panose="020B0604030504040204" pitchFamily="34" charset="0"/>
                <a:ea typeface="Verdana" panose="020B0604030504040204" pitchFamily="34" charset="0"/>
                <a:cs typeface="Verdana" panose="020B0604030504040204" pitchFamily="34" charset="0"/>
              </a:rPr>
              <a:t>EXTENSIÓN DEL PRODUCTO</a:t>
            </a:r>
            <a:endParaRPr sz="2400" b="1" dirty="0">
              <a:solidFill>
                <a:schemeClr val="bg1"/>
              </a:solidFill>
              <a:latin typeface="Verdana" panose="020B0604030504040204" pitchFamily="34" charset="0"/>
              <a:ea typeface="Verdana" panose="020B0604030504040204" pitchFamily="34" charset="0"/>
              <a:cs typeface="Verdana" panose="020B0604030504040204" pitchFamily="34" charset="0"/>
            </a:endParaRPr>
          </a:p>
        </p:txBody>
      </p:sp>
      <p:sp>
        <p:nvSpPr>
          <p:cNvPr id="6" name="object 12"/>
          <p:cNvSpPr/>
          <p:nvPr/>
        </p:nvSpPr>
        <p:spPr>
          <a:xfrm>
            <a:off x="10242773" y="6153222"/>
            <a:ext cx="425227" cy="549401"/>
          </a:xfrm>
          <a:prstGeom prst="rect">
            <a:avLst/>
          </a:prstGeom>
          <a:blipFill>
            <a:blip r:embed="rId2" cstate="print"/>
            <a:stretch>
              <a:fillRect/>
            </a:stretch>
          </a:blipFill>
        </p:spPr>
        <p:txBody>
          <a:bodyPr wrap="square" lIns="0" tIns="0" rIns="0" bIns="0" rtlCol="0">
            <a:noAutofit/>
          </a:bodyPr>
          <a:lstStyle/>
          <a:p>
            <a:endParaRPr/>
          </a:p>
        </p:txBody>
      </p:sp>
      <p:sp>
        <p:nvSpPr>
          <p:cNvPr id="3" name="object 11">
            <a:extLst>
              <a:ext uri="{FF2B5EF4-FFF2-40B4-BE49-F238E27FC236}">
                <a16:creationId xmlns:a16="http://schemas.microsoft.com/office/drawing/2014/main" id="{46DBE57D-BC43-4A76-836D-DA3ECB0D8800}"/>
              </a:ext>
            </a:extLst>
          </p:cNvPr>
          <p:cNvSpPr/>
          <p:nvPr/>
        </p:nvSpPr>
        <p:spPr>
          <a:xfrm flipV="1">
            <a:off x="1524000" y="6049107"/>
            <a:ext cx="9144000" cy="64484"/>
          </a:xfrm>
          <a:custGeom>
            <a:avLst/>
            <a:gdLst/>
            <a:ahLst/>
            <a:cxnLst/>
            <a:rect l="l" t="t" r="r" b="b"/>
            <a:pathLst>
              <a:path w="9144000">
                <a:moveTo>
                  <a:pt x="9144000" y="0"/>
                </a:moveTo>
                <a:lnTo>
                  <a:pt x="20573" y="0"/>
                </a:lnTo>
              </a:path>
              <a:path w="9144000">
                <a:moveTo>
                  <a:pt x="20573" y="1"/>
                </a:moveTo>
                <a:lnTo>
                  <a:pt x="9144000" y="0"/>
                </a:lnTo>
              </a:path>
            </a:pathLst>
          </a:custGeom>
          <a:ln w="28575">
            <a:solidFill>
              <a:srgbClr val="E6031E"/>
            </a:solidFill>
          </a:ln>
        </p:spPr>
        <p:txBody>
          <a:bodyPr wrap="square" lIns="0" tIns="0" rIns="0" bIns="0" rtlCol="0">
            <a:noAutofit/>
          </a:bodyPr>
          <a:lstStyle/>
          <a:p>
            <a:endParaRPr/>
          </a:p>
        </p:txBody>
      </p:sp>
      <p:sp>
        <p:nvSpPr>
          <p:cNvPr id="2" name="CuadroTexto 1">
            <a:extLst>
              <a:ext uri="{FF2B5EF4-FFF2-40B4-BE49-F238E27FC236}">
                <a16:creationId xmlns:a16="http://schemas.microsoft.com/office/drawing/2014/main" id="{48841838-5861-63D0-E654-3592BDB26C4F}"/>
              </a:ext>
            </a:extLst>
          </p:cNvPr>
          <p:cNvSpPr txBox="1"/>
          <p:nvPr/>
        </p:nvSpPr>
        <p:spPr>
          <a:xfrm>
            <a:off x="1524000" y="1872861"/>
            <a:ext cx="9144001" cy="646331"/>
          </a:xfrm>
          <a:prstGeom prst="rect">
            <a:avLst/>
          </a:prstGeom>
          <a:noFill/>
        </p:spPr>
        <p:txBody>
          <a:bodyPr wrap="square" rtlCol="0">
            <a:spAutoFit/>
          </a:bodyPr>
          <a:lstStyle/>
          <a:p>
            <a:pPr algn="just"/>
            <a:r>
              <a:rPr lang="es-ES" b="1" dirty="0">
                <a:latin typeface="Verdana" panose="020B0604030504040204" pitchFamily="34" charset="0"/>
                <a:ea typeface="Verdana" panose="020B0604030504040204" pitchFamily="34" charset="0"/>
                <a:cs typeface="Verdana" panose="020B0604030504040204" pitchFamily="34" charset="0"/>
              </a:rPr>
              <a:t>Ejemplo:</a:t>
            </a:r>
            <a:r>
              <a:rPr lang="es-ES" dirty="0">
                <a:latin typeface="Verdana" panose="020B0604030504040204" pitchFamily="34" charset="0"/>
                <a:ea typeface="Verdana" panose="020B0604030504040204" pitchFamily="34" charset="0"/>
                <a:cs typeface="Verdana" panose="020B0604030504040204" pitchFamily="34" charset="0"/>
              </a:rPr>
              <a:t> ¿Según lo visto anteriormente cuantas funciones existen desde un conjunto de 4 en otro de 6 elementos?</a:t>
            </a:r>
            <a:endParaRPr lang="es-CO" dirty="0">
              <a:latin typeface="Verdana" panose="020B0604030504040204" pitchFamily="34" charset="0"/>
              <a:ea typeface="Verdana" panose="020B0604030504040204" pitchFamily="34" charset="0"/>
              <a:cs typeface="Verdana" panose="020B0604030504040204" pitchFamily="34" charset="0"/>
            </a:endParaRPr>
          </a:p>
        </p:txBody>
      </p:sp>
      <p:sp>
        <p:nvSpPr>
          <p:cNvPr id="8" name="CuadroTexto 7">
            <a:extLst>
              <a:ext uri="{FF2B5EF4-FFF2-40B4-BE49-F238E27FC236}">
                <a16:creationId xmlns:a16="http://schemas.microsoft.com/office/drawing/2014/main" id="{932481B4-8543-947D-05DB-233EB2D975E5}"/>
              </a:ext>
            </a:extLst>
          </p:cNvPr>
          <p:cNvSpPr txBox="1"/>
          <p:nvPr/>
        </p:nvSpPr>
        <p:spPr>
          <a:xfrm>
            <a:off x="1524000" y="3239699"/>
            <a:ext cx="9144000" cy="923330"/>
          </a:xfrm>
          <a:prstGeom prst="rect">
            <a:avLst/>
          </a:prstGeom>
          <a:noFill/>
        </p:spPr>
        <p:txBody>
          <a:bodyPr wrap="square" rtlCol="0">
            <a:spAutoFit/>
          </a:bodyPr>
          <a:lstStyle/>
          <a:p>
            <a:pPr algn="just"/>
            <a:r>
              <a:rPr lang="es-ES" b="1" dirty="0">
                <a:latin typeface="Verdana" panose="020B0604030504040204" pitchFamily="34" charset="0"/>
                <a:ea typeface="Verdana" panose="020B0604030504040204" pitchFamily="34" charset="0"/>
                <a:cs typeface="Verdana" panose="020B0604030504040204" pitchFamily="34" charset="0"/>
              </a:rPr>
              <a:t>Solución: </a:t>
            </a:r>
            <a:r>
              <a:rPr lang="es-CO" dirty="0">
                <a:latin typeface="Verdana" panose="020B0604030504040204" pitchFamily="34" charset="0"/>
                <a:ea typeface="Verdana" panose="020B0604030504040204" pitchFamily="34" charset="0"/>
                <a:cs typeface="Verdana" panose="020B0604030504040204" pitchFamily="34" charset="0"/>
              </a:rPr>
              <a:t>Aplicando la regla del producto sucesivamente se obtiene la siguiente relación : 6 * 6 * 6 * 6  = </a:t>
            </a:r>
            <a:r>
              <a:rPr lang="es-CO" dirty="0">
                <a:latin typeface="Verdana" panose="020B0604030504040204" pitchFamily="34" charset="0"/>
                <a:ea typeface="Verdana" panose="020B0604030504040204" pitchFamily="34" charset="0"/>
              </a:rPr>
              <a:t>6</a:t>
            </a:r>
            <a:r>
              <a:rPr lang="es-CO" baseline="30000" dirty="0">
                <a:latin typeface="Verdana" panose="020B0604030504040204" pitchFamily="34" charset="0"/>
                <a:ea typeface="Verdana" panose="020B0604030504040204" pitchFamily="34" charset="0"/>
              </a:rPr>
              <a:t>4</a:t>
            </a:r>
            <a:r>
              <a:rPr lang="es-ES" dirty="0">
                <a:latin typeface="Verdana" panose="020B0604030504040204" pitchFamily="34" charset="0"/>
                <a:ea typeface="Verdana" panose="020B0604030504040204" pitchFamily="34" charset="0"/>
              </a:rPr>
              <a:t> posibles funciones</a:t>
            </a:r>
            <a:endParaRPr lang="es-ES" b="1" dirty="0">
              <a:latin typeface="Verdana" panose="020B0604030504040204" pitchFamily="34" charset="0"/>
              <a:ea typeface="Verdana" panose="020B0604030504040204" pitchFamily="34" charset="0"/>
              <a:cs typeface="Verdana" panose="020B0604030504040204" pitchFamily="34" charset="0"/>
            </a:endParaRPr>
          </a:p>
          <a:p>
            <a:pPr algn="just"/>
            <a:endParaRPr lang="es-ES" dirty="0">
              <a:latin typeface="Verdana" panose="020B0604030504040204" pitchFamily="34" charset="0"/>
              <a:ea typeface="Verdana" panose="020B0604030504040204" pitchFamily="34" charset="0"/>
              <a:cs typeface="Verdana" panose="020B0604030504040204" pitchFamily="34" charset="0"/>
            </a:endParaRPr>
          </a:p>
        </p:txBody>
      </p:sp>
    </p:spTree>
    <p:extLst>
      <p:ext uri="{BB962C8B-B14F-4D97-AF65-F5344CB8AC3E}">
        <p14:creationId xmlns:p14="http://schemas.microsoft.com/office/powerpoint/2010/main" val="33774243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ppt_x"/>
                                          </p:val>
                                        </p:tav>
                                        <p:tav tm="100000">
                                          <p:val>
                                            <p:strVal val="#ppt_x"/>
                                          </p:val>
                                        </p:tav>
                                      </p:tavLst>
                                    </p:anim>
                                    <p:anim calcmode="lin" valueType="num">
                                      <p:cBhvr additive="base">
                                        <p:cTn id="8" dur="500" fill="hold"/>
                                        <p:tgtEl>
                                          <p:spTgt spid="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9"/>
          <p:cNvSpPr/>
          <p:nvPr/>
        </p:nvSpPr>
        <p:spPr>
          <a:xfrm>
            <a:off x="1524000" y="473139"/>
            <a:ext cx="9144000" cy="649224"/>
          </a:xfrm>
          <a:custGeom>
            <a:avLst/>
            <a:gdLst/>
            <a:ahLst/>
            <a:cxnLst/>
            <a:rect l="l" t="t" r="r" b="b"/>
            <a:pathLst>
              <a:path w="9144000" h="649224">
                <a:moveTo>
                  <a:pt x="9144000" y="649223"/>
                </a:moveTo>
                <a:lnTo>
                  <a:pt x="9144000" y="0"/>
                </a:lnTo>
                <a:lnTo>
                  <a:pt x="0" y="0"/>
                </a:lnTo>
                <a:lnTo>
                  <a:pt x="0" y="649224"/>
                </a:lnTo>
                <a:lnTo>
                  <a:pt x="9144000" y="649223"/>
                </a:lnTo>
                <a:close/>
              </a:path>
            </a:pathLst>
          </a:custGeom>
          <a:solidFill>
            <a:srgbClr val="E6031E"/>
          </a:solidFill>
        </p:spPr>
        <p:txBody>
          <a:bodyPr wrap="square" lIns="0" tIns="0" rIns="0" bIns="0" rtlCol="0">
            <a:noAutofit/>
          </a:bodyPr>
          <a:lstStyle/>
          <a:p>
            <a:pPr algn="ctr"/>
            <a:r>
              <a:rPr lang="es-CO" sz="2400" b="1" dirty="0">
                <a:solidFill>
                  <a:schemeClr val="bg1"/>
                </a:solidFill>
                <a:latin typeface="Verdana" panose="020B0604030504040204" pitchFamily="34" charset="0"/>
                <a:ea typeface="Verdana" panose="020B0604030504040204" pitchFamily="34" charset="0"/>
                <a:cs typeface="Verdana" panose="020B0604030504040204" pitchFamily="34" charset="0"/>
              </a:rPr>
              <a:t>EJEMPLO</a:t>
            </a:r>
            <a:endParaRPr sz="2400" b="1" dirty="0">
              <a:solidFill>
                <a:schemeClr val="bg1"/>
              </a:solidFill>
              <a:latin typeface="Verdana" panose="020B0604030504040204" pitchFamily="34" charset="0"/>
              <a:ea typeface="Verdana" panose="020B0604030504040204" pitchFamily="34" charset="0"/>
              <a:cs typeface="Verdana" panose="020B0604030504040204" pitchFamily="34" charset="0"/>
            </a:endParaRPr>
          </a:p>
        </p:txBody>
      </p:sp>
      <p:sp>
        <p:nvSpPr>
          <p:cNvPr id="6" name="object 12"/>
          <p:cNvSpPr/>
          <p:nvPr/>
        </p:nvSpPr>
        <p:spPr>
          <a:xfrm>
            <a:off x="10242773" y="6153222"/>
            <a:ext cx="425227" cy="549401"/>
          </a:xfrm>
          <a:prstGeom prst="rect">
            <a:avLst/>
          </a:prstGeom>
          <a:blipFill>
            <a:blip r:embed="rId2" cstate="print"/>
            <a:stretch>
              <a:fillRect/>
            </a:stretch>
          </a:blipFill>
        </p:spPr>
        <p:txBody>
          <a:bodyPr wrap="square" lIns="0" tIns="0" rIns="0" bIns="0" rtlCol="0">
            <a:noAutofit/>
          </a:bodyPr>
          <a:lstStyle/>
          <a:p>
            <a:endParaRPr/>
          </a:p>
        </p:txBody>
      </p:sp>
      <p:sp>
        <p:nvSpPr>
          <p:cNvPr id="3" name="object 11">
            <a:extLst>
              <a:ext uri="{FF2B5EF4-FFF2-40B4-BE49-F238E27FC236}">
                <a16:creationId xmlns:a16="http://schemas.microsoft.com/office/drawing/2014/main" id="{46DBE57D-BC43-4A76-836D-DA3ECB0D8800}"/>
              </a:ext>
            </a:extLst>
          </p:cNvPr>
          <p:cNvSpPr/>
          <p:nvPr/>
        </p:nvSpPr>
        <p:spPr>
          <a:xfrm flipV="1">
            <a:off x="1524000" y="6049107"/>
            <a:ext cx="9144000" cy="64484"/>
          </a:xfrm>
          <a:custGeom>
            <a:avLst/>
            <a:gdLst/>
            <a:ahLst/>
            <a:cxnLst/>
            <a:rect l="l" t="t" r="r" b="b"/>
            <a:pathLst>
              <a:path w="9144000">
                <a:moveTo>
                  <a:pt x="9144000" y="0"/>
                </a:moveTo>
                <a:lnTo>
                  <a:pt x="20573" y="0"/>
                </a:lnTo>
              </a:path>
              <a:path w="9144000">
                <a:moveTo>
                  <a:pt x="20573" y="1"/>
                </a:moveTo>
                <a:lnTo>
                  <a:pt x="9144000" y="0"/>
                </a:lnTo>
              </a:path>
            </a:pathLst>
          </a:custGeom>
          <a:ln w="28575">
            <a:solidFill>
              <a:srgbClr val="E6031E"/>
            </a:solidFill>
          </a:ln>
        </p:spPr>
        <p:txBody>
          <a:bodyPr wrap="square" lIns="0" tIns="0" rIns="0" bIns="0" rtlCol="0">
            <a:noAutofit/>
          </a:bodyPr>
          <a:lstStyle/>
          <a:p>
            <a:endParaRPr/>
          </a:p>
        </p:txBody>
      </p:sp>
      <p:sp>
        <p:nvSpPr>
          <p:cNvPr id="2" name="CuadroTexto 1">
            <a:extLst>
              <a:ext uri="{FF2B5EF4-FFF2-40B4-BE49-F238E27FC236}">
                <a16:creationId xmlns:a16="http://schemas.microsoft.com/office/drawing/2014/main" id="{48841838-5861-63D0-E654-3592BDB26C4F}"/>
              </a:ext>
            </a:extLst>
          </p:cNvPr>
          <p:cNvSpPr txBox="1"/>
          <p:nvPr/>
        </p:nvSpPr>
        <p:spPr>
          <a:xfrm>
            <a:off x="1524000" y="1872861"/>
            <a:ext cx="9144001" cy="646331"/>
          </a:xfrm>
          <a:prstGeom prst="rect">
            <a:avLst/>
          </a:prstGeom>
          <a:noFill/>
        </p:spPr>
        <p:txBody>
          <a:bodyPr wrap="square" rtlCol="0">
            <a:spAutoFit/>
          </a:bodyPr>
          <a:lstStyle/>
          <a:p>
            <a:pPr algn="just"/>
            <a:r>
              <a:rPr lang="es-ES" dirty="0">
                <a:latin typeface="Verdana" panose="020B0604030504040204" pitchFamily="34" charset="0"/>
                <a:ea typeface="Verdana" panose="020B0604030504040204" pitchFamily="34" charset="0"/>
                <a:cs typeface="Verdana" panose="020B0604030504040204" pitchFamily="34" charset="0"/>
              </a:rPr>
              <a:t>¿Cuál es la complejidad computacional de ordenar un arreglo de tamaño n en Python probando todas las posibilidades?</a:t>
            </a:r>
            <a:endParaRPr lang="es-CO" dirty="0">
              <a:latin typeface="Verdana" panose="020B0604030504040204" pitchFamily="34" charset="0"/>
              <a:ea typeface="Verdana" panose="020B0604030504040204" pitchFamily="34" charset="0"/>
              <a:cs typeface="Verdana" panose="020B0604030504040204" pitchFamily="34" charset="0"/>
            </a:endParaRPr>
          </a:p>
        </p:txBody>
      </p:sp>
      <p:sp>
        <p:nvSpPr>
          <p:cNvPr id="5" name="CuadroTexto 4">
            <a:extLst>
              <a:ext uri="{FF2B5EF4-FFF2-40B4-BE49-F238E27FC236}">
                <a16:creationId xmlns:a16="http://schemas.microsoft.com/office/drawing/2014/main" id="{79174ECF-E5FC-1E8C-55BC-F2334B57CE1E}"/>
              </a:ext>
            </a:extLst>
          </p:cNvPr>
          <p:cNvSpPr txBox="1"/>
          <p:nvPr/>
        </p:nvSpPr>
        <p:spPr>
          <a:xfrm>
            <a:off x="1524000" y="3637818"/>
            <a:ext cx="9144001" cy="369332"/>
          </a:xfrm>
          <a:prstGeom prst="rect">
            <a:avLst/>
          </a:prstGeom>
          <a:noFill/>
        </p:spPr>
        <p:txBody>
          <a:bodyPr wrap="square" rtlCol="0">
            <a:spAutoFit/>
          </a:bodyPr>
          <a:lstStyle/>
          <a:p>
            <a:pPr algn="just"/>
            <a:r>
              <a:rPr lang="es-ES" dirty="0">
                <a:latin typeface="Verdana" panose="020B0604030504040204" pitchFamily="34" charset="0"/>
                <a:ea typeface="Verdana" panose="020B0604030504040204" pitchFamily="34" charset="0"/>
                <a:cs typeface="Verdana" panose="020B0604030504040204" pitchFamily="34" charset="0"/>
              </a:rPr>
              <a:t>Solución. </a:t>
            </a:r>
            <a:r>
              <a:rPr lang="es-MX" dirty="0">
                <a:latin typeface="Verdana" panose="020B0604030504040204" pitchFamily="34" charset="0"/>
                <a:ea typeface="Verdana" panose="020B0604030504040204" pitchFamily="34" charset="0"/>
                <a:cs typeface="Verdana" panose="020B0604030504040204" pitchFamily="34" charset="0"/>
              </a:rPr>
              <a:t>¡Aplicando la regla del producto, sería n!</a:t>
            </a:r>
            <a:r>
              <a:rPr lang="es-ES" dirty="0">
                <a:latin typeface="Verdana" panose="020B0604030504040204" pitchFamily="34" charset="0"/>
                <a:ea typeface="Verdana" panose="020B0604030504040204" pitchFamily="34" charset="0"/>
                <a:cs typeface="Verdana" panose="020B0604030504040204" pitchFamily="34" charset="0"/>
              </a:rPr>
              <a:t>.</a:t>
            </a:r>
            <a:r>
              <a:rPr lang="es-CO" dirty="0">
                <a:latin typeface="Verdana" panose="020B0604030504040204" pitchFamily="34" charset="0"/>
                <a:ea typeface="Verdana" panose="020B0604030504040204" pitchFamily="34" charset="0"/>
                <a:cs typeface="Verdana" panose="020B0604030504040204" pitchFamily="34" charset="0"/>
              </a:rPr>
              <a:t> O(n!)</a:t>
            </a:r>
            <a:endParaRPr lang="es-ES" dirty="0">
              <a:latin typeface="Verdana" panose="020B0604030504040204" pitchFamily="34" charset="0"/>
              <a:ea typeface="Verdana" panose="020B0604030504040204" pitchFamily="34" charset="0"/>
              <a:cs typeface="Verdana" panose="020B0604030504040204" pitchFamily="34" charset="0"/>
            </a:endParaRPr>
          </a:p>
        </p:txBody>
      </p:sp>
    </p:spTree>
    <p:extLst>
      <p:ext uri="{BB962C8B-B14F-4D97-AF65-F5344CB8AC3E}">
        <p14:creationId xmlns:p14="http://schemas.microsoft.com/office/powerpoint/2010/main" val="12997439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5"/>
                                        </p:tgtEl>
                                        <p:attrNameLst>
                                          <p:attrName>style.visibility</p:attrName>
                                        </p:attrNameLst>
                                      </p:cBhvr>
                                      <p:to>
                                        <p:strVal val="visible"/>
                                      </p:to>
                                    </p:set>
                                    <p:anim calcmode="lin" valueType="num">
                                      <p:cBhvr additive="base">
                                        <p:cTn id="13" dur="500" fill="hold"/>
                                        <p:tgtEl>
                                          <p:spTgt spid="5"/>
                                        </p:tgtEl>
                                        <p:attrNameLst>
                                          <p:attrName>ppt_x</p:attrName>
                                        </p:attrNameLst>
                                      </p:cBhvr>
                                      <p:tavLst>
                                        <p:tav tm="0">
                                          <p:val>
                                            <p:strVal val="#ppt_x"/>
                                          </p:val>
                                        </p:tav>
                                        <p:tav tm="100000">
                                          <p:val>
                                            <p:strVal val="#ppt_x"/>
                                          </p:val>
                                        </p:tav>
                                      </p:tavLst>
                                    </p:anim>
                                    <p:anim calcmode="lin" valueType="num">
                                      <p:cBhvr additive="base">
                                        <p:cTn id="14"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5"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9"/>
          <p:cNvSpPr/>
          <p:nvPr/>
        </p:nvSpPr>
        <p:spPr>
          <a:xfrm>
            <a:off x="1524000" y="473139"/>
            <a:ext cx="9144000" cy="649224"/>
          </a:xfrm>
          <a:custGeom>
            <a:avLst/>
            <a:gdLst/>
            <a:ahLst/>
            <a:cxnLst/>
            <a:rect l="l" t="t" r="r" b="b"/>
            <a:pathLst>
              <a:path w="9144000" h="649224">
                <a:moveTo>
                  <a:pt x="9144000" y="649223"/>
                </a:moveTo>
                <a:lnTo>
                  <a:pt x="9144000" y="0"/>
                </a:lnTo>
                <a:lnTo>
                  <a:pt x="0" y="0"/>
                </a:lnTo>
                <a:lnTo>
                  <a:pt x="0" y="649224"/>
                </a:lnTo>
                <a:lnTo>
                  <a:pt x="9144000" y="649223"/>
                </a:lnTo>
                <a:close/>
              </a:path>
            </a:pathLst>
          </a:custGeom>
          <a:solidFill>
            <a:srgbClr val="E6031E"/>
          </a:solidFill>
        </p:spPr>
        <p:txBody>
          <a:bodyPr wrap="square" lIns="0" tIns="0" rIns="0" bIns="0" rtlCol="0">
            <a:noAutofit/>
          </a:bodyPr>
          <a:lstStyle/>
          <a:p>
            <a:pPr algn="ctr"/>
            <a:r>
              <a:rPr lang="es-CO" sz="2400" b="1" dirty="0">
                <a:solidFill>
                  <a:schemeClr val="bg1"/>
                </a:solidFill>
                <a:latin typeface="Verdana" panose="020B0604030504040204" pitchFamily="34" charset="0"/>
                <a:ea typeface="Verdana" panose="020B0604030504040204" pitchFamily="34" charset="0"/>
                <a:cs typeface="Verdana" panose="020B0604030504040204" pitchFamily="34" charset="0"/>
              </a:rPr>
              <a:t>PROBLEMAS DE RECUENTO MÁS COMPLICADOS</a:t>
            </a:r>
            <a:endParaRPr sz="2400" b="1" dirty="0">
              <a:solidFill>
                <a:schemeClr val="bg1"/>
              </a:solidFill>
              <a:latin typeface="Verdana" panose="020B0604030504040204" pitchFamily="34" charset="0"/>
              <a:ea typeface="Verdana" panose="020B0604030504040204" pitchFamily="34" charset="0"/>
              <a:cs typeface="Verdana" panose="020B0604030504040204" pitchFamily="34" charset="0"/>
            </a:endParaRPr>
          </a:p>
        </p:txBody>
      </p:sp>
      <p:sp>
        <p:nvSpPr>
          <p:cNvPr id="6" name="object 12"/>
          <p:cNvSpPr/>
          <p:nvPr/>
        </p:nvSpPr>
        <p:spPr>
          <a:xfrm>
            <a:off x="10242773" y="6153222"/>
            <a:ext cx="425227" cy="549401"/>
          </a:xfrm>
          <a:prstGeom prst="rect">
            <a:avLst/>
          </a:prstGeom>
          <a:blipFill>
            <a:blip r:embed="rId2" cstate="print"/>
            <a:stretch>
              <a:fillRect/>
            </a:stretch>
          </a:blipFill>
        </p:spPr>
        <p:txBody>
          <a:bodyPr wrap="square" lIns="0" tIns="0" rIns="0" bIns="0" rtlCol="0">
            <a:noAutofit/>
          </a:bodyPr>
          <a:lstStyle/>
          <a:p>
            <a:endParaRPr/>
          </a:p>
        </p:txBody>
      </p:sp>
      <p:sp>
        <p:nvSpPr>
          <p:cNvPr id="3" name="object 11">
            <a:extLst>
              <a:ext uri="{FF2B5EF4-FFF2-40B4-BE49-F238E27FC236}">
                <a16:creationId xmlns:a16="http://schemas.microsoft.com/office/drawing/2014/main" id="{46DBE57D-BC43-4A76-836D-DA3ECB0D8800}"/>
              </a:ext>
            </a:extLst>
          </p:cNvPr>
          <p:cNvSpPr/>
          <p:nvPr/>
        </p:nvSpPr>
        <p:spPr>
          <a:xfrm flipV="1">
            <a:off x="1524000" y="6049107"/>
            <a:ext cx="9144000" cy="64484"/>
          </a:xfrm>
          <a:custGeom>
            <a:avLst/>
            <a:gdLst/>
            <a:ahLst/>
            <a:cxnLst/>
            <a:rect l="l" t="t" r="r" b="b"/>
            <a:pathLst>
              <a:path w="9144000">
                <a:moveTo>
                  <a:pt x="9144000" y="0"/>
                </a:moveTo>
                <a:lnTo>
                  <a:pt x="20573" y="0"/>
                </a:lnTo>
              </a:path>
              <a:path w="9144000">
                <a:moveTo>
                  <a:pt x="20573" y="1"/>
                </a:moveTo>
                <a:lnTo>
                  <a:pt x="9144000" y="0"/>
                </a:lnTo>
              </a:path>
            </a:pathLst>
          </a:custGeom>
          <a:ln w="28575">
            <a:solidFill>
              <a:srgbClr val="E6031E"/>
            </a:solidFill>
          </a:ln>
        </p:spPr>
        <p:txBody>
          <a:bodyPr wrap="square" lIns="0" tIns="0" rIns="0" bIns="0" rtlCol="0">
            <a:noAutofit/>
          </a:bodyPr>
          <a:lstStyle/>
          <a:p>
            <a:endParaRPr/>
          </a:p>
        </p:txBody>
      </p:sp>
      <p:sp>
        <p:nvSpPr>
          <p:cNvPr id="2" name="CuadroTexto 1">
            <a:extLst>
              <a:ext uri="{FF2B5EF4-FFF2-40B4-BE49-F238E27FC236}">
                <a16:creationId xmlns:a16="http://schemas.microsoft.com/office/drawing/2014/main" id="{48841838-5861-63D0-E654-3592BDB26C4F}"/>
              </a:ext>
            </a:extLst>
          </p:cNvPr>
          <p:cNvSpPr txBox="1"/>
          <p:nvPr/>
        </p:nvSpPr>
        <p:spPr>
          <a:xfrm>
            <a:off x="1524000" y="2385405"/>
            <a:ext cx="9144001" cy="1200329"/>
          </a:xfrm>
          <a:prstGeom prst="rect">
            <a:avLst/>
          </a:prstGeom>
          <a:noFill/>
        </p:spPr>
        <p:txBody>
          <a:bodyPr wrap="square" rtlCol="0">
            <a:spAutoFit/>
          </a:bodyPr>
          <a:lstStyle/>
          <a:p>
            <a:pPr algn="just"/>
            <a:r>
              <a:rPr lang="es-ES" dirty="0">
                <a:latin typeface="Verdana" panose="020B0604030504040204" pitchFamily="34" charset="0"/>
                <a:ea typeface="Verdana" panose="020B0604030504040204" pitchFamily="34" charset="0"/>
                <a:cs typeface="Verdana" panose="020B0604030504040204" pitchFamily="34" charset="0"/>
              </a:rPr>
              <a:t>Muchos problemas de recuento no se pueden resolver utilizando sólo el principio de la suma o el principio del producto. Sin embargo, la utilización simultánea de ambos principios permite resolver problemas como los siguientes: </a:t>
            </a:r>
            <a:endParaRPr lang="es-CO" dirty="0">
              <a:latin typeface="Verdana" panose="020B0604030504040204" pitchFamily="34" charset="0"/>
              <a:ea typeface="Verdana" panose="020B0604030504040204" pitchFamily="34" charset="0"/>
              <a:cs typeface="Verdana" panose="020B0604030504040204" pitchFamily="34" charset="0"/>
            </a:endParaRPr>
          </a:p>
        </p:txBody>
      </p:sp>
    </p:spTree>
    <p:extLst>
      <p:ext uri="{BB962C8B-B14F-4D97-AF65-F5344CB8AC3E}">
        <p14:creationId xmlns:p14="http://schemas.microsoft.com/office/powerpoint/2010/main" val="152063715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9"/>
          <p:cNvSpPr/>
          <p:nvPr/>
        </p:nvSpPr>
        <p:spPr>
          <a:xfrm>
            <a:off x="1524000" y="473139"/>
            <a:ext cx="9144000" cy="649224"/>
          </a:xfrm>
          <a:custGeom>
            <a:avLst/>
            <a:gdLst/>
            <a:ahLst/>
            <a:cxnLst/>
            <a:rect l="l" t="t" r="r" b="b"/>
            <a:pathLst>
              <a:path w="9144000" h="649224">
                <a:moveTo>
                  <a:pt x="9144000" y="649223"/>
                </a:moveTo>
                <a:lnTo>
                  <a:pt x="9144000" y="0"/>
                </a:lnTo>
                <a:lnTo>
                  <a:pt x="0" y="0"/>
                </a:lnTo>
                <a:lnTo>
                  <a:pt x="0" y="649224"/>
                </a:lnTo>
                <a:lnTo>
                  <a:pt x="9144000" y="649223"/>
                </a:lnTo>
                <a:close/>
              </a:path>
            </a:pathLst>
          </a:custGeom>
          <a:solidFill>
            <a:srgbClr val="E6031E"/>
          </a:solidFill>
        </p:spPr>
        <p:txBody>
          <a:bodyPr wrap="square" lIns="0" tIns="0" rIns="0" bIns="0" rtlCol="0">
            <a:noAutofit/>
          </a:bodyPr>
          <a:lstStyle/>
          <a:p>
            <a:pPr algn="ctr"/>
            <a:r>
              <a:rPr lang="es-CO" sz="2400" b="1" dirty="0">
                <a:solidFill>
                  <a:schemeClr val="bg1"/>
                </a:solidFill>
                <a:latin typeface="Verdana" panose="020B0604030504040204" pitchFamily="34" charset="0"/>
                <a:ea typeface="Verdana" panose="020B0604030504040204" pitchFamily="34" charset="0"/>
                <a:cs typeface="Verdana" panose="020B0604030504040204" pitchFamily="34" charset="0"/>
              </a:rPr>
              <a:t>PROBLEMAS DE RECUENTO MÁS COMPLICADOS</a:t>
            </a:r>
            <a:endParaRPr sz="2400" b="1" dirty="0">
              <a:solidFill>
                <a:schemeClr val="bg1"/>
              </a:solidFill>
              <a:latin typeface="Verdana" panose="020B0604030504040204" pitchFamily="34" charset="0"/>
              <a:ea typeface="Verdana" panose="020B0604030504040204" pitchFamily="34" charset="0"/>
              <a:cs typeface="Verdana" panose="020B0604030504040204" pitchFamily="34" charset="0"/>
            </a:endParaRPr>
          </a:p>
        </p:txBody>
      </p:sp>
      <p:sp>
        <p:nvSpPr>
          <p:cNvPr id="6" name="object 12"/>
          <p:cNvSpPr/>
          <p:nvPr/>
        </p:nvSpPr>
        <p:spPr>
          <a:xfrm>
            <a:off x="10242773" y="6153222"/>
            <a:ext cx="425227" cy="549401"/>
          </a:xfrm>
          <a:prstGeom prst="rect">
            <a:avLst/>
          </a:prstGeom>
          <a:blipFill>
            <a:blip r:embed="rId2" cstate="print"/>
            <a:stretch>
              <a:fillRect/>
            </a:stretch>
          </a:blipFill>
        </p:spPr>
        <p:txBody>
          <a:bodyPr wrap="square" lIns="0" tIns="0" rIns="0" bIns="0" rtlCol="0">
            <a:noAutofit/>
          </a:bodyPr>
          <a:lstStyle/>
          <a:p>
            <a:endParaRPr/>
          </a:p>
        </p:txBody>
      </p:sp>
      <p:sp>
        <p:nvSpPr>
          <p:cNvPr id="3" name="object 11">
            <a:extLst>
              <a:ext uri="{FF2B5EF4-FFF2-40B4-BE49-F238E27FC236}">
                <a16:creationId xmlns:a16="http://schemas.microsoft.com/office/drawing/2014/main" id="{46DBE57D-BC43-4A76-836D-DA3ECB0D8800}"/>
              </a:ext>
            </a:extLst>
          </p:cNvPr>
          <p:cNvSpPr/>
          <p:nvPr/>
        </p:nvSpPr>
        <p:spPr>
          <a:xfrm flipV="1">
            <a:off x="1524000" y="6049107"/>
            <a:ext cx="9144000" cy="64484"/>
          </a:xfrm>
          <a:custGeom>
            <a:avLst/>
            <a:gdLst/>
            <a:ahLst/>
            <a:cxnLst/>
            <a:rect l="l" t="t" r="r" b="b"/>
            <a:pathLst>
              <a:path w="9144000">
                <a:moveTo>
                  <a:pt x="9144000" y="0"/>
                </a:moveTo>
                <a:lnTo>
                  <a:pt x="20573" y="0"/>
                </a:lnTo>
              </a:path>
              <a:path w="9144000">
                <a:moveTo>
                  <a:pt x="20573" y="1"/>
                </a:moveTo>
                <a:lnTo>
                  <a:pt x="9144000" y="0"/>
                </a:lnTo>
              </a:path>
            </a:pathLst>
          </a:custGeom>
          <a:ln w="28575">
            <a:solidFill>
              <a:srgbClr val="E6031E"/>
            </a:solidFill>
          </a:ln>
        </p:spPr>
        <p:txBody>
          <a:bodyPr wrap="square" lIns="0" tIns="0" rIns="0" bIns="0" rtlCol="0">
            <a:noAutofit/>
          </a:bodyPr>
          <a:lstStyle/>
          <a:p>
            <a:endParaRPr/>
          </a:p>
        </p:txBody>
      </p:sp>
      <p:sp>
        <p:nvSpPr>
          <p:cNvPr id="7" name="CuadroTexto 6">
            <a:extLst>
              <a:ext uri="{FF2B5EF4-FFF2-40B4-BE49-F238E27FC236}">
                <a16:creationId xmlns:a16="http://schemas.microsoft.com/office/drawing/2014/main" id="{FDE5D003-B237-D627-8B39-ECC658237BE6}"/>
              </a:ext>
            </a:extLst>
          </p:cNvPr>
          <p:cNvSpPr txBox="1"/>
          <p:nvPr/>
        </p:nvSpPr>
        <p:spPr>
          <a:xfrm>
            <a:off x="1524000" y="1589383"/>
            <a:ext cx="9144001" cy="2585323"/>
          </a:xfrm>
          <a:prstGeom prst="rect">
            <a:avLst/>
          </a:prstGeom>
          <a:noFill/>
        </p:spPr>
        <p:txBody>
          <a:bodyPr wrap="square" rtlCol="0">
            <a:spAutoFit/>
          </a:bodyPr>
          <a:lstStyle/>
          <a:p>
            <a:pPr algn="just"/>
            <a:r>
              <a:rPr lang="es-MX" b="1" dirty="0">
                <a:latin typeface="Verdana" panose="020B0604030504040204" pitchFamily="34" charset="0"/>
                <a:ea typeface="Verdana" panose="020B0604030504040204" pitchFamily="34" charset="0"/>
                <a:cs typeface="Verdana" panose="020B0604030504040204" pitchFamily="34" charset="0"/>
              </a:rPr>
              <a:t>Ejemplo.</a:t>
            </a:r>
          </a:p>
          <a:p>
            <a:pPr algn="just"/>
            <a:endParaRPr lang="es-MX" b="1" dirty="0">
              <a:latin typeface="Verdana" panose="020B0604030504040204" pitchFamily="34" charset="0"/>
              <a:ea typeface="Verdana" panose="020B0604030504040204" pitchFamily="34" charset="0"/>
              <a:cs typeface="Verdana" panose="020B0604030504040204" pitchFamily="34" charset="0"/>
            </a:endParaRPr>
          </a:p>
          <a:p>
            <a:pPr algn="just"/>
            <a:r>
              <a:rPr lang="es-MX" dirty="0">
                <a:latin typeface="Verdana" panose="020B0604030504040204" pitchFamily="34" charset="0"/>
                <a:ea typeface="Verdana" panose="020B0604030504040204" pitchFamily="34" charset="0"/>
                <a:cs typeface="Verdana" panose="020B0604030504040204" pitchFamily="34" charset="0"/>
              </a:rPr>
              <a:t>En la versión 3.0 del lenguaje Python, el nombre de una variable es una cadena de uno o dos caracteres alfanuméricos, y las letras mayúsculas y minúsculas no se distinguen(Un carácter alfanumérico es bien un dígito, bien una de las 26 letras del alfabeto inglés). Además, un nombre de variable debe empezar con una letra y de ser diferente de las cinco cadenas de dos caracteres que están reservadas por el lenguaje. ¿Cuántos nombres de variables distintos hay en dicha versión del lenguaje Python </a:t>
            </a:r>
            <a:endParaRPr lang="es-CO" dirty="0">
              <a:latin typeface="Verdana" panose="020B0604030504040204" pitchFamily="34" charset="0"/>
              <a:ea typeface="Verdana" panose="020B0604030504040204" pitchFamily="34" charset="0"/>
              <a:cs typeface="Verdana" panose="020B0604030504040204" pitchFamily="34" charset="0"/>
            </a:endParaRPr>
          </a:p>
        </p:txBody>
      </p:sp>
    </p:spTree>
    <p:extLst>
      <p:ext uri="{BB962C8B-B14F-4D97-AF65-F5344CB8AC3E}">
        <p14:creationId xmlns:p14="http://schemas.microsoft.com/office/powerpoint/2010/main" val="341923798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9"/>
          <p:cNvSpPr/>
          <p:nvPr/>
        </p:nvSpPr>
        <p:spPr>
          <a:xfrm>
            <a:off x="1524000" y="473139"/>
            <a:ext cx="9144000" cy="649224"/>
          </a:xfrm>
          <a:custGeom>
            <a:avLst/>
            <a:gdLst/>
            <a:ahLst/>
            <a:cxnLst/>
            <a:rect l="l" t="t" r="r" b="b"/>
            <a:pathLst>
              <a:path w="9144000" h="649224">
                <a:moveTo>
                  <a:pt x="9144000" y="649223"/>
                </a:moveTo>
                <a:lnTo>
                  <a:pt x="9144000" y="0"/>
                </a:lnTo>
                <a:lnTo>
                  <a:pt x="0" y="0"/>
                </a:lnTo>
                <a:lnTo>
                  <a:pt x="0" y="649224"/>
                </a:lnTo>
                <a:lnTo>
                  <a:pt x="9144000" y="649223"/>
                </a:lnTo>
                <a:close/>
              </a:path>
            </a:pathLst>
          </a:custGeom>
          <a:solidFill>
            <a:srgbClr val="E6031E"/>
          </a:solidFill>
        </p:spPr>
        <p:txBody>
          <a:bodyPr wrap="square" lIns="0" tIns="0" rIns="0" bIns="0" rtlCol="0">
            <a:noAutofit/>
          </a:bodyPr>
          <a:lstStyle/>
          <a:p>
            <a:pPr algn="ctr"/>
            <a:r>
              <a:rPr lang="es-CO" sz="2400" b="1" dirty="0">
                <a:solidFill>
                  <a:schemeClr val="bg1"/>
                </a:solidFill>
                <a:latin typeface="Verdana" panose="020B0604030504040204" pitchFamily="34" charset="0"/>
                <a:ea typeface="Verdana" panose="020B0604030504040204" pitchFamily="34" charset="0"/>
                <a:cs typeface="Verdana" panose="020B0604030504040204" pitchFamily="34" charset="0"/>
              </a:rPr>
              <a:t>PROBLEMAS DE RECUENTO MÁS COMPLICADOS</a:t>
            </a:r>
            <a:endParaRPr sz="2400" b="1" dirty="0">
              <a:solidFill>
                <a:schemeClr val="bg1"/>
              </a:solidFill>
              <a:latin typeface="Verdana" panose="020B0604030504040204" pitchFamily="34" charset="0"/>
              <a:ea typeface="Verdana" panose="020B0604030504040204" pitchFamily="34" charset="0"/>
              <a:cs typeface="Verdana" panose="020B0604030504040204" pitchFamily="34" charset="0"/>
            </a:endParaRPr>
          </a:p>
        </p:txBody>
      </p:sp>
      <p:sp>
        <p:nvSpPr>
          <p:cNvPr id="6" name="object 12"/>
          <p:cNvSpPr/>
          <p:nvPr/>
        </p:nvSpPr>
        <p:spPr>
          <a:xfrm>
            <a:off x="10242773" y="6153222"/>
            <a:ext cx="425227" cy="549401"/>
          </a:xfrm>
          <a:prstGeom prst="rect">
            <a:avLst/>
          </a:prstGeom>
          <a:blipFill>
            <a:blip r:embed="rId2" cstate="print"/>
            <a:stretch>
              <a:fillRect/>
            </a:stretch>
          </a:blipFill>
        </p:spPr>
        <p:txBody>
          <a:bodyPr wrap="square" lIns="0" tIns="0" rIns="0" bIns="0" rtlCol="0">
            <a:noAutofit/>
          </a:bodyPr>
          <a:lstStyle/>
          <a:p>
            <a:endParaRPr/>
          </a:p>
        </p:txBody>
      </p:sp>
      <p:sp>
        <p:nvSpPr>
          <p:cNvPr id="3" name="object 11">
            <a:extLst>
              <a:ext uri="{FF2B5EF4-FFF2-40B4-BE49-F238E27FC236}">
                <a16:creationId xmlns:a16="http://schemas.microsoft.com/office/drawing/2014/main" id="{46DBE57D-BC43-4A76-836D-DA3ECB0D8800}"/>
              </a:ext>
            </a:extLst>
          </p:cNvPr>
          <p:cNvSpPr/>
          <p:nvPr/>
        </p:nvSpPr>
        <p:spPr>
          <a:xfrm flipV="1">
            <a:off x="1524000" y="6049107"/>
            <a:ext cx="9144000" cy="64484"/>
          </a:xfrm>
          <a:custGeom>
            <a:avLst/>
            <a:gdLst/>
            <a:ahLst/>
            <a:cxnLst/>
            <a:rect l="l" t="t" r="r" b="b"/>
            <a:pathLst>
              <a:path w="9144000">
                <a:moveTo>
                  <a:pt x="9144000" y="0"/>
                </a:moveTo>
                <a:lnTo>
                  <a:pt x="20573" y="0"/>
                </a:lnTo>
              </a:path>
              <a:path w="9144000">
                <a:moveTo>
                  <a:pt x="20573" y="1"/>
                </a:moveTo>
                <a:lnTo>
                  <a:pt x="9144000" y="0"/>
                </a:lnTo>
              </a:path>
            </a:pathLst>
          </a:custGeom>
          <a:ln w="28575">
            <a:solidFill>
              <a:srgbClr val="E6031E"/>
            </a:solidFill>
          </a:ln>
        </p:spPr>
        <p:txBody>
          <a:bodyPr wrap="square" lIns="0" tIns="0" rIns="0" bIns="0" rtlCol="0">
            <a:noAutofit/>
          </a:bodyPr>
          <a:lstStyle/>
          <a:p>
            <a:endParaRPr/>
          </a:p>
        </p:txBody>
      </p:sp>
      <p:sp>
        <p:nvSpPr>
          <p:cNvPr id="7" name="CuadroTexto 6">
            <a:extLst>
              <a:ext uri="{FF2B5EF4-FFF2-40B4-BE49-F238E27FC236}">
                <a16:creationId xmlns:a16="http://schemas.microsoft.com/office/drawing/2014/main" id="{FDE5D003-B237-D627-8B39-ECC658237BE6}"/>
              </a:ext>
            </a:extLst>
          </p:cNvPr>
          <p:cNvSpPr txBox="1"/>
          <p:nvPr/>
        </p:nvSpPr>
        <p:spPr>
          <a:xfrm>
            <a:off x="1524000" y="1589383"/>
            <a:ext cx="9144001" cy="1477328"/>
          </a:xfrm>
          <a:prstGeom prst="rect">
            <a:avLst/>
          </a:prstGeom>
          <a:noFill/>
        </p:spPr>
        <p:txBody>
          <a:bodyPr wrap="square" rtlCol="0">
            <a:spAutoFit/>
          </a:bodyPr>
          <a:lstStyle/>
          <a:p>
            <a:pPr algn="just"/>
            <a:r>
              <a:rPr lang="es-MX" b="1" dirty="0">
                <a:latin typeface="Verdana" panose="020B0604030504040204" pitchFamily="34" charset="0"/>
                <a:ea typeface="Verdana" panose="020B0604030504040204" pitchFamily="34" charset="0"/>
                <a:cs typeface="Verdana" panose="020B0604030504040204" pitchFamily="34" charset="0"/>
              </a:rPr>
              <a:t>Solución</a:t>
            </a:r>
          </a:p>
          <a:p>
            <a:pPr algn="just"/>
            <a:endParaRPr lang="es-MX" dirty="0">
              <a:latin typeface="Verdana" panose="020B0604030504040204" pitchFamily="34" charset="0"/>
              <a:ea typeface="Verdana" panose="020B0604030504040204" pitchFamily="34" charset="0"/>
              <a:cs typeface="Verdana" panose="020B0604030504040204" pitchFamily="34" charset="0"/>
            </a:endParaRPr>
          </a:p>
          <a:p>
            <a:pPr algn="just"/>
            <a:r>
              <a:rPr lang="es-MX" dirty="0">
                <a:latin typeface="Verdana" panose="020B0604030504040204" pitchFamily="34" charset="0"/>
                <a:ea typeface="Verdana" panose="020B0604030504040204" pitchFamily="34" charset="0"/>
                <a:cs typeface="Verdana" panose="020B0604030504040204" pitchFamily="34" charset="0"/>
              </a:rPr>
              <a:t>Sea V en número de variables disponibles. Sea V1 el número de variables compuestas por sólo un carácter y V2 el número de variables compuestas por dos caracteres.</a:t>
            </a:r>
          </a:p>
        </p:txBody>
      </p:sp>
    </p:spTree>
    <p:extLst>
      <p:ext uri="{BB962C8B-B14F-4D97-AF65-F5344CB8AC3E}">
        <p14:creationId xmlns:p14="http://schemas.microsoft.com/office/powerpoint/2010/main" val="386569753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9"/>
          <p:cNvSpPr/>
          <p:nvPr/>
        </p:nvSpPr>
        <p:spPr>
          <a:xfrm>
            <a:off x="1524000" y="473139"/>
            <a:ext cx="9144000" cy="649224"/>
          </a:xfrm>
          <a:custGeom>
            <a:avLst/>
            <a:gdLst/>
            <a:ahLst/>
            <a:cxnLst/>
            <a:rect l="l" t="t" r="r" b="b"/>
            <a:pathLst>
              <a:path w="9144000" h="649224">
                <a:moveTo>
                  <a:pt x="9144000" y="649223"/>
                </a:moveTo>
                <a:lnTo>
                  <a:pt x="9144000" y="0"/>
                </a:lnTo>
                <a:lnTo>
                  <a:pt x="0" y="0"/>
                </a:lnTo>
                <a:lnTo>
                  <a:pt x="0" y="649224"/>
                </a:lnTo>
                <a:lnTo>
                  <a:pt x="9144000" y="649223"/>
                </a:lnTo>
                <a:close/>
              </a:path>
            </a:pathLst>
          </a:custGeom>
          <a:solidFill>
            <a:srgbClr val="E6031E"/>
          </a:solidFill>
        </p:spPr>
        <p:txBody>
          <a:bodyPr wrap="square" lIns="0" tIns="0" rIns="0" bIns="0" rtlCol="0">
            <a:noAutofit/>
          </a:bodyPr>
          <a:lstStyle/>
          <a:p>
            <a:pPr algn="ctr"/>
            <a:r>
              <a:rPr lang="es-CO" sz="2400" b="1" dirty="0">
                <a:solidFill>
                  <a:schemeClr val="bg1"/>
                </a:solidFill>
                <a:latin typeface="Verdana" panose="020B0604030504040204" pitchFamily="34" charset="0"/>
                <a:ea typeface="Verdana" panose="020B0604030504040204" pitchFamily="34" charset="0"/>
                <a:cs typeface="Verdana" panose="020B0604030504040204" pitchFamily="34" charset="0"/>
              </a:rPr>
              <a:t>PROBLEMAS DE RECUENTO MÁS COMPLICADOS</a:t>
            </a:r>
            <a:endParaRPr sz="2400" b="1" dirty="0">
              <a:solidFill>
                <a:schemeClr val="bg1"/>
              </a:solidFill>
              <a:latin typeface="Verdana" panose="020B0604030504040204" pitchFamily="34" charset="0"/>
              <a:ea typeface="Verdana" panose="020B0604030504040204" pitchFamily="34" charset="0"/>
              <a:cs typeface="Verdana" panose="020B0604030504040204" pitchFamily="34" charset="0"/>
            </a:endParaRPr>
          </a:p>
        </p:txBody>
      </p:sp>
      <p:sp>
        <p:nvSpPr>
          <p:cNvPr id="6" name="object 12"/>
          <p:cNvSpPr/>
          <p:nvPr/>
        </p:nvSpPr>
        <p:spPr>
          <a:xfrm>
            <a:off x="10242773" y="6153222"/>
            <a:ext cx="425227" cy="549401"/>
          </a:xfrm>
          <a:prstGeom prst="rect">
            <a:avLst/>
          </a:prstGeom>
          <a:blipFill>
            <a:blip r:embed="rId2" cstate="print"/>
            <a:stretch>
              <a:fillRect/>
            </a:stretch>
          </a:blipFill>
        </p:spPr>
        <p:txBody>
          <a:bodyPr wrap="square" lIns="0" tIns="0" rIns="0" bIns="0" rtlCol="0">
            <a:noAutofit/>
          </a:bodyPr>
          <a:lstStyle/>
          <a:p>
            <a:endParaRPr/>
          </a:p>
        </p:txBody>
      </p:sp>
      <p:sp>
        <p:nvSpPr>
          <p:cNvPr id="3" name="object 11">
            <a:extLst>
              <a:ext uri="{FF2B5EF4-FFF2-40B4-BE49-F238E27FC236}">
                <a16:creationId xmlns:a16="http://schemas.microsoft.com/office/drawing/2014/main" id="{46DBE57D-BC43-4A76-836D-DA3ECB0D8800}"/>
              </a:ext>
            </a:extLst>
          </p:cNvPr>
          <p:cNvSpPr/>
          <p:nvPr/>
        </p:nvSpPr>
        <p:spPr>
          <a:xfrm flipV="1">
            <a:off x="1524000" y="6049107"/>
            <a:ext cx="9144000" cy="64484"/>
          </a:xfrm>
          <a:custGeom>
            <a:avLst/>
            <a:gdLst/>
            <a:ahLst/>
            <a:cxnLst/>
            <a:rect l="l" t="t" r="r" b="b"/>
            <a:pathLst>
              <a:path w="9144000">
                <a:moveTo>
                  <a:pt x="9144000" y="0"/>
                </a:moveTo>
                <a:lnTo>
                  <a:pt x="20573" y="0"/>
                </a:lnTo>
              </a:path>
              <a:path w="9144000">
                <a:moveTo>
                  <a:pt x="20573" y="1"/>
                </a:moveTo>
                <a:lnTo>
                  <a:pt x="9144000" y="0"/>
                </a:lnTo>
              </a:path>
            </a:pathLst>
          </a:custGeom>
          <a:ln w="28575">
            <a:solidFill>
              <a:srgbClr val="E6031E"/>
            </a:solidFill>
          </a:ln>
        </p:spPr>
        <p:txBody>
          <a:bodyPr wrap="square" lIns="0" tIns="0" rIns="0" bIns="0" rtlCol="0">
            <a:noAutofit/>
          </a:bodyPr>
          <a:lstStyle/>
          <a:p>
            <a:endParaRPr/>
          </a:p>
        </p:txBody>
      </p:sp>
      <p:sp>
        <p:nvSpPr>
          <p:cNvPr id="7" name="CuadroTexto 6">
            <a:extLst>
              <a:ext uri="{FF2B5EF4-FFF2-40B4-BE49-F238E27FC236}">
                <a16:creationId xmlns:a16="http://schemas.microsoft.com/office/drawing/2014/main" id="{FDE5D003-B237-D627-8B39-ECC658237BE6}"/>
              </a:ext>
            </a:extLst>
          </p:cNvPr>
          <p:cNvSpPr txBox="1"/>
          <p:nvPr/>
        </p:nvSpPr>
        <p:spPr>
          <a:xfrm>
            <a:off x="1524000" y="1589383"/>
            <a:ext cx="9144001" cy="2031325"/>
          </a:xfrm>
          <a:prstGeom prst="rect">
            <a:avLst/>
          </a:prstGeom>
          <a:noFill/>
        </p:spPr>
        <p:txBody>
          <a:bodyPr wrap="square" rtlCol="0">
            <a:spAutoFit/>
          </a:bodyPr>
          <a:lstStyle/>
          <a:p>
            <a:pPr algn="just"/>
            <a:r>
              <a:rPr lang="es-MX" b="1" dirty="0">
                <a:latin typeface="Verdana" panose="020B0604030504040204" pitchFamily="34" charset="0"/>
                <a:ea typeface="Verdana" panose="020B0604030504040204" pitchFamily="34" charset="0"/>
                <a:cs typeface="Verdana" panose="020B0604030504040204" pitchFamily="34" charset="0"/>
              </a:rPr>
              <a:t>Solución</a:t>
            </a:r>
          </a:p>
          <a:p>
            <a:pPr algn="just"/>
            <a:endParaRPr lang="es-MX" b="1" dirty="0">
              <a:latin typeface="Verdana" panose="020B0604030504040204" pitchFamily="34" charset="0"/>
              <a:ea typeface="Verdana" panose="020B0604030504040204" pitchFamily="34" charset="0"/>
              <a:cs typeface="Verdana" panose="020B0604030504040204" pitchFamily="34" charset="0"/>
            </a:endParaRPr>
          </a:p>
          <a:p>
            <a:pPr marL="285750" indent="-285750" algn="just">
              <a:buFont typeface="Arial" panose="020B0604020202020204" pitchFamily="34" charset="0"/>
              <a:buChar char="•"/>
            </a:pPr>
            <a:r>
              <a:rPr lang="es-MX" dirty="0">
                <a:latin typeface="Verdana" panose="020B0604030504040204" pitchFamily="34" charset="0"/>
                <a:ea typeface="Verdana" panose="020B0604030504040204" pitchFamily="34" charset="0"/>
                <a:cs typeface="Verdana" panose="020B0604030504040204" pitchFamily="34" charset="0"/>
              </a:rPr>
              <a:t>V1 = es 26 debido a qué solo puede ser una letra</a:t>
            </a:r>
          </a:p>
          <a:p>
            <a:pPr marL="285750" indent="-285750" algn="just">
              <a:buFont typeface="Arial" panose="020B0604020202020204" pitchFamily="34" charset="0"/>
              <a:buChar char="•"/>
            </a:pPr>
            <a:r>
              <a:rPr lang="es-MX" dirty="0">
                <a:latin typeface="Verdana" panose="020B0604030504040204" pitchFamily="34" charset="0"/>
                <a:ea typeface="Verdana" panose="020B0604030504040204" pitchFamily="34" charset="0"/>
                <a:cs typeface="Verdana" panose="020B0604030504040204" pitchFamily="34" charset="0"/>
              </a:rPr>
              <a:t>V2 = debe ser 26 * 36 debido es la forma de generar el nombre de una variable de dos caracteres.</a:t>
            </a:r>
          </a:p>
          <a:p>
            <a:pPr marL="285750" indent="-285750" algn="just">
              <a:buFont typeface="Arial" panose="020B0604020202020204" pitchFamily="34" charset="0"/>
              <a:buChar char="•"/>
            </a:pPr>
            <a:r>
              <a:rPr lang="es-MX" dirty="0">
                <a:latin typeface="Verdana" panose="020B0604030504040204" pitchFamily="34" charset="0"/>
                <a:ea typeface="Verdana" panose="020B0604030504040204" pitchFamily="34" charset="0"/>
                <a:cs typeface="Verdana" panose="020B0604030504040204" pitchFamily="34" charset="0"/>
              </a:rPr>
              <a:t>Por último, cinco (5) de ellas están excluidas por lo que V2 = 26 * 36 - 5 = 931</a:t>
            </a:r>
          </a:p>
        </p:txBody>
      </p:sp>
      <p:sp>
        <p:nvSpPr>
          <p:cNvPr id="2" name="CuadroTexto 1">
            <a:extLst>
              <a:ext uri="{FF2B5EF4-FFF2-40B4-BE49-F238E27FC236}">
                <a16:creationId xmlns:a16="http://schemas.microsoft.com/office/drawing/2014/main" id="{80121453-1121-C7A0-BAD6-832E147D8EE8}"/>
              </a:ext>
            </a:extLst>
          </p:cNvPr>
          <p:cNvSpPr txBox="1"/>
          <p:nvPr/>
        </p:nvSpPr>
        <p:spPr>
          <a:xfrm>
            <a:off x="1523999" y="4018753"/>
            <a:ext cx="9144001" cy="923330"/>
          </a:xfrm>
          <a:prstGeom prst="rect">
            <a:avLst/>
          </a:prstGeom>
          <a:noFill/>
        </p:spPr>
        <p:txBody>
          <a:bodyPr wrap="square" rtlCol="0">
            <a:spAutoFit/>
          </a:bodyPr>
          <a:lstStyle/>
          <a:p>
            <a:pPr algn="just"/>
            <a:r>
              <a:rPr lang="es-MX" b="1" dirty="0">
                <a:latin typeface="Verdana" panose="020B0604030504040204" pitchFamily="34" charset="0"/>
                <a:ea typeface="Verdana" panose="020B0604030504040204" pitchFamily="34" charset="0"/>
                <a:cs typeface="Verdana" panose="020B0604030504040204" pitchFamily="34" charset="0"/>
              </a:rPr>
              <a:t>Solución</a:t>
            </a:r>
          </a:p>
          <a:p>
            <a:pPr algn="just"/>
            <a:r>
              <a:rPr lang="es-MX" dirty="0">
                <a:latin typeface="Verdana" panose="020B0604030504040204" pitchFamily="34" charset="0"/>
                <a:ea typeface="Verdana" panose="020B0604030504040204" pitchFamily="34" charset="0"/>
                <a:cs typeface="Verdana" panose="020B0604030504040204" pitchFamily="34" charset="0"/>
              </a:rPr>
              <a:t>Entonces el número de variables en el lenguaje de Python es:</a:t>
            </a:r>
          </a:p>
          <a:p>
            <a:pPr algn="just"/>
            <a:r>
              <a:rPr lang="es-MX" dirty="0">
                <a:latin typeface="Verdana" panose="020B0604030504040204" pitchFamily="34" charset="0"/>
                <a:ea typeface="Verdana" panose="020B0604030504040204" pitchFamily="34" charset="0"/>
                <a:cs typeface="Verdana" panose="020B0604030504040204" pitchFamily="34" charset="0"/>
              </a:rPr>
              <a:t>V1 + V2 = 26 + 931 = 957 nombres posibles de variables</a:t>
            </a:r>
          </a:p>
        </p:txBody>
      </p:sp>
    </p:spTree>
    <p:extLst>
      <p:ext uri="{BB962C8B-B14F-4D97-AF65-F5344CB8AC3E}">
        <p14:creationId xmlns:p14="http://schemas.microsoft.com/office/powerpoint/2010/main" val="35303740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ppt_x"/>
                                          </p:val>
                                        </p:tav>
                                        <p:tav tm="100000">
                                          <p:val>
                                            <p:strVal val="#ppt_x"/>
                                          </p:val>
                                        </p:tav>
                                      </p:tavLst>
                                    </p:anim>
                                    <p:anim calcmode="lin" valueType="num">
                                      <p:cBhvr additive="base">
                                        <p:cTn id="8"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2"/>
                                        </p:tgtEl>
                                        <p:attrNameLst>
                                          <p:attrName>style.visibility</p:attrName>
                                        </p:attrNameLst>
                                      </p:cBhvr>
                                      <p:to>
                                        <p:strVal val="visible"/>
                                      </p:to>
                                    </p:set>
                                    <p:anim calcmode="lin" valueType="num">
                                      <p:cBhvr additive="base">
                                        <p:cTn id="13" dur="500" fill="hold"/>
                                        <p:tgtEl>
                                          <p:spTgt spid="2"/>
                                        </p:tgtEl>
                                        <p:attrNameLst>
                                          <p:attrName>ppt_x</p:attrName>
                                        </p:attrNameLst>
                                      </p:cBhvr>
                                      <p:tavLst>
                                        <p:tav tm="0">
                                          <p:val>
                                            <p:strVal val="#ppt_x"/>
                                          </p:val>
                                        </p:tav>
                                        <p:tav tm="100000">
                                          <p:val>
                                            <p:strVal val="#ppt_x"/>
                                          </p:val>
                                        </p:tav>
                                      </p:tavLst>
                                    </p:anim>
                                    <p:anim calcmode="lin" valueType="num">
                                      <p:cBhvr additive="base">
                                        <p:cTn id="14"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2"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9"/>
          <p:cNvSpPr/>
          <p:nvPr/>
        </p:nvSpPr>
        <p:spPr>
          <a:xfrm>
            <a:off x="1524000" y="473139"/>
            <a:ext cx="9144000" cy="649224"/>
          </a:xfrm>
          <a:custGeom>
            <a:avLst/>
            <a:gdLst/>
            <a:ahLst/>
            <a:cxnLst/>
            <a:rect l="l" t="t" r="r" b="b"/>
            <a:pathLst>
              <a:path w="9144000" h="649224">
                <a:moveTo>
                  <a:pt x="9144000" y="649223"/>
                </a:moveTo>
                <a:lnTo>
                  <a:pt x="9144000" y="0"/>
                </a:lnTo>
                <a:lnTo>
                  <a:pt x="0" y="0"/>
                </a:lnTo>
                <a:lnTo>
                  <a:pt x="0" y="649224"/>
                </a:lnTo>
                <a:lnTo>
                  <a:pt x="9144000" y="649223"/>
                </a:lnTo>
                <a:close/>
              </a:path>
            </a:pathLst>
          </a:custGeom>
          <a:solidFill>
            <a:srgbClr val="E6031E"/>
          </a:solidFill>
        </p:spPr>
        <p:txBody>
          <a:bodyPr wrap="square" lIns="0" tIns="0" rIns="0" bIns="0" rtlCol="0">
            <a:noAutofit/>
          </a:bodyPr>
          <a:lstStyle/>
          <a:p>
            <a:pPr algn="ctr"/>
            <a:r>
              <a:rPr lang="es-CO" sz="2400" b="1" dirty="0">
                <a:solidFill>
                  <a:schemeClr val="bg1"/>
                </a:solidFill>
                <a:latin typeface="Verdana" panose="020B0604030504040204" pitchFamily="34" charset="0"/>
                <a:ea typeface="Verdana" panose="020B0604030504040204" pitchFamily="34" charset="0"/>
                <a:cs typeface="Verdana" panose="020B0604030504040204" pitchFamily="34" charset="0"/>
              </a:rPr>
              <a:t>PROBLEMAS DE RECUENTO MÁS COMPLICADOS</a:t>
            </a:r>
            <a:endParaRPr sz="2400" b="1" dirty="0">
              <a:solidFill>
                <a:schemeClr val="bg1"/>
              </a:solidFill>
              <a:latin typeface="Verdana" panose="020B0604030504040204" pitchFamily="34" charset="0"/>
              <a:ea typeface="Verdana" panose="020B0604030504040204" pitchFamily="34" charset="0"/>
              <a:cs typeface="Verdana" panose="020B0604030504040204" pitchFamily="34" charset="0"/>
            </a:endParaRPr>
          </a:p>
        </p:txBody>
      </p:sp>
      <p:sp>
        <p:nvSpPr>
          <p:cNvPr id="6" name="object 12"/>
          <p:cNvSpPr/>
          <p:nvPr/>
        </p:nvSpPr>
        <p:spPr>
          <a:xfrm>
            <a:off x="10242773" y="6153222"/>
            <a:ext cx="425227" cy="549401"/>
          </a:xfrm>
          <a:prstGeom prst="rect">
            <a:avLst/>
          </a:prstGeom>
          <a:blipFill>
            <a:blip r:embed="rId2" cstate="print"/>
            <a:stretch>
              <a:fillRect/>
            </a:stretch>
          </a:blipFill>
        </p:spPr>
        <p:txBody>
          <a:bodyPr wrap="square" lIns="0" tIns="0" rIns="0" bIns="0" rtlCol="0">
            <a:noAutofit/>
          </a:bodyPr>
          <a:lstStyle/>
          <a:p>
            <a:endParaRPr/>
          </a:p>
        </p:txBody>
      </p:sp>
      <p:sp>
        <p:nvSpPr>
          <p:cNvPr id="3" name="object 11">
            <a:extLst>
              <a:ext uri="{FF2B5EF4-FFF2-40B4-BE49-F238E27FC236}">
                <a16:creationId xmlns:a16="http://schemas.microsoft.com/office/drawing/2014/main" id="{46DBE57D-BC43-4A76-836D-DA3ECB0D8800}"/>
              </a:ext>
            </a:extLst>
          </p:cNvPr>
          <p:cNvSpPr/>
          <p:nvPr/>
        </p:nvSpPr>
        <p:spPr>
          <a:xfrm flipV="1">
            <a:off x="1524000" y="6049107"/>
            <a:ext cx="9144000" cy="64484"/>
          </a:xfrm>
          <a:custGeom>
            <a:avLst/>
            <a:gdLst/>
            <a:ahLst/>
            <a:cxnLst/>
            <a:rect l="l" t="t" r="r" b="b"/>
            <a:pathLst>
              <a:path w="9144000">
                <a:moveTo>
                  <a:pt x="9144000" y="0"/>
                </a:moveTo>
                <a:lnTo>
                  <a:pt x="20573" y="0"/>
                </a:lnTo>
              </a:path>
              <a:path w="9144000">
                <a:moveTo>
                  <a:pt x="20573" y="1"/>
                </a:moveTo>
                <a:lnTo>
                  <a:pt x="9144000" y="0"/>
                </a:lnTo>
              </a:path>
            </a:pathLst>
          </a:custGeom>
          <a:ln w="28575">
            <a:solidFill>
              <a:srgbClr val="E6031E"/>
            </a:solidFill>
          </a:ln>
        </p:spPr>
        <p:txBody>
          <a:bodyPr wrap="square" lIns="0" tIns="0" rIns="0" bIns="0" rtlCol="0">
            <a:noAutofit/>
          </a:bodyPr>
          <a:lstStyle/>
          <a:p>
            <a:endParaRPr/>
          </a:p>
        </p:txBody>
      </p:sp>
      <p:sp>
        <p:nvSpPr>
          <p:cNvPr id="7" name="CuadroTexto 6">
            <a:extLst>
              <a:ext uri="{FF2B5EF4-FFF2-40B4-BE49-F238E27FC236}">
                <a16:creationId xmlns:a16="http://schemas.microsoft.com/office/drawing/2014/main" id="{FDE5D003-B237-D627-8B39-ECC658237BE6}"/>
              </a:ext>
            </a:extLst>
          </p:cNvPr>
          <p:cNvSpPr txBox="1"/>
          <p:nvPr/>
        </p:nvSpPr>
        <p:spPr>
          <a:xfrm>
            <a:off x="1524000" y="1589383"/>
            <a:ext cx="9144001" cy="369332"/>
          </a:xfrm>
          <a:prstGeom prst="rect">
            <a:avLst/>
          </a:prstGeom>
          <a:noFill/>
        </p:spPr>
        <p:txBody>
          <a:bodyPr wrap="square" rtlCol="0">
            <a:spAutoFit/>
          </a:bodyPr>
          <a:lstStyle/>
          <a:p>
            <a:pPr algn="just"/>
            <a:r>
              <a:rPr lang="es-MX" b="1" dirty="0">
                <a:latin typeface="Verdana" panose="020B0604030504040204" pitchFamily="34" charset="0"/>
                <a:ea typeface="Verdana" panose="020B0604030504040204" pitchFamily="34" charset="0"/>
                <a:cs typeface="Verdana" panose="020B0604030504040204" pitchFamily="34" charset="0"/>
              </a:rPr>
              <a:t>Ejercicio </a:t>
            </a:r>
          </a:p>
        </p:txBody>
      </p:sp>
      <p:sp>
        <p:nvSpPr>
          <p:cNvPr id="2" name="CuadroTexto 1">
            <a:extLst>
              <a:ext uri="{FF2B5EF4-FFF2-40B4-BE49-F238E27FC236}">
                <a16:creationId xmlns:a16="http://schemas.microsoft.com/office/drawing/2014/main" id="{323EDDE4-F9D1-9BE1-B417-022211382773}"/>
              </a:ext>
            </a:extLst>
          </p:cNvPr>
          <p:cNvSpPr txBox="1"/>
          <p:nvPr/>
        </p:nvSpPr>
        <p:spPr>
          <a:xfrm>
            <a:off x="1523999" y="2241069"/>
            <a:ext cx="9144001" cy="1200329"/>
          </a:xfrm>
          <a:prstGeom prst="rect">
            <a:avLst/>
          </a:prstGeom>
          <a:noFill/>
        </p:spPr>
        <p:txBody>
          <a:bodyPr wrap="square" rtlCol="0">
            <a:spAutoFit/>
          </a:bodyPr>
          <a:lstStyle/>
          <a:p>
            <a:pPr algn="just"/>
            <a:r>
              <a:rPr lang="es-MX" dirty="0">
                <a:latin typeface="Verdana" panose="020B0604030504040204" pitchFamily="34" charset="0"/>
                <a:ea typeface="Verdana" panose="020B0604030504040204" pitchFamily="34" charset="0"/>
                <a:cs typeface="Verdana" panose="020B0604030504040204" pitchFamily="34" charset="0"/>
              </a:rPr>
              <a:t>Cada usuario de un ordenador tiene una contraseña, con una longitud entre seis y ocho caracteres, cada uno de los cuales es bien un dígito o bien una letra mayúscula. Cada contraseña debe contener al menos un dígito. ¿Cuántas contraseñas distintas admite el sistema?</a:t>
            </a:r>
          </a:p>
        </p:txBody>
      </p:sp>
    </p:spTree>
    <p:extLst>
      <p:ext uri="{BB962C8B-B14F-4D97-AF65-F5344CB8AC3E}">
        <p14:creationId xmlns:p14="http://schemas.microsoft.com/office/powerpoint/2010/main" val="249267698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9"/>
          <p:cNvSpPr/>
          <p:nvPr/>
        </p:nvSpPr>
        <p:spPr>
          <a:xfrm>
            <a:off x="1524000" y="473139"/>
            <a:ext cx="9144000" cy="649224"/>
          </a:xfrm>
          <a:custGeom>
            <a:avLst/>
            <a:gdLst/>
            <a:ahLst/>
            <a:cxnLst/>
            <a:rect l="l" t="t" r="r" b="b"/>
            <a:pathLst>
              <a:path w="9144000" h="649224">
                <a:moveTo>
                  <a:pt x="9144000" y="649223"/>
                </a:moveTo>
                <a:lnTo>
                  <a:pt x="9144000" y="0"/>
                </a:lnTo>
                <a:lnTo>
                  <a:pt x="0" y="0"/>
                </a:lnTo>
                <a:lnTo>
                  <a:pt x="0" y="649224"/>
                </a:lnTo>
                <a:lnTo>
                  <a:pt x="9144000" y="649223"/>
                </a:lnTo>
                <a:close/>
              </a:path>
            </a:pathLst>
          </a:custGeom>
          <a:solidFill>
            <a:srgbClr val="E6031E"/>
          </a:solidFill>
        </p:spPr>
        <p:txBody>
          <a:bodyPr wrap="square" lIns="0" tIns="0" rIns="0" bIns="0" rtlCol="0">
            <a:noAutofit/>
          </a:bodyPr>
          <a:lstStyle/>
          <a:p>
            <a:pPr algn="ctr"/>
            <a:r>
              <a:rPr lang="es-CO" sz="2400" b="1" dirty="0">
                <a:solidFill>
                  <a:schemeClr val="bg1"/>
                </a:solidFill>
                <a:latin typeface="Verdana" panose="020B0604030504040204" pitchFamily="34" charset="0"/>
                <a:ea typeface="Verdana" panose="020B0604030504040204" pitchFamily="34" charset="0"/>
                <a:cs typeface="Verdana" panose="020B0604030504040204" pitchFamily="34" charset="0"/>
              </a:rPr>
              <a:t>PROBLEMAS DE RECUENTO MÁS COMPLICADOS</a:t>
            </a:r>
            <a:endParaRPr sz="2400" b="1" dirty="0">
              <a:solidFill>
                <a:schemeClr val="bg1"/>
              </a:solidFill>
              <a:latin typeface="Verdana" panose="020B0604030504040204" pitchFamily="34" charset="0"/>
              <a:ea typeface="Verdana" panose="020B0604030504040204" pitchFamily="34" charset="0"/>
              <a:cs typeface="Verdana" panose="020B0604030504040204" pitchFamily="34" charset="0"/>
            </a:endParaRPr>
          </a:p>
        </p:txBody>
      </p:sp>
      <p:sp>
        <p:nvSpPr>
          <p:cNvPr id="6" name="object 12"/>
          <p:cNvSpPr/>
          <p:nvPr/>
        </p:nvSpPr>
        <p:spPr>
          <a:xfrm>
            <a:off x="10242773" y="6153222"/>
            <a:ext cx="425227" cy="549401"/>
          </a:xfrm>
          <a:prstGeom prst="rect">
            <a:avLst/>
          </a:prstGeom>
          <a:blipFill>
            <a:blip r:embed="rId2" cstate="print"/>
            <a:stretch>
              <a:fillRect/>
            </a:stretch>
          </a:blipFill>
        </p:spPr>
        <p:txBody>
          <a:bodyPr wrap="square" lIns="0" tIns="0" rIns="0" bIns="0" rtlCol="0">
            <a:noAutofit/>
          </a:bodyPr>
          <a:lstStyle/>
          <a:p>
            <a:endParaRPr/>
          </a:p>
        </p:txBody>
      </p:sp>
      <p:sp>
        <p:nvSpPr>
          <p:cNvPr id="3" name="object 11">
            <a:extLst>
              <a:ext uri="{FF2B5EF4-FFF2-40B4-BE49-F238E27FC236}">
                <a16:creationId xmlns:a16="http://schemas.microsoft.com/office/drawing/2014/main" id="{46DBE57D-BC43-4A76-836D-DA3ECB0D8800}"/>
              </a:ext>
            </a:extLst>
          </p:cNvPr>
          <p:cNvSpPr/>
          <p:nvPr/>
        </p:nvSpPr>
        <p:spPr>
          <a:xfrm flipV="1">
            <a:off x="1524000" y="6049107"/>
            <a:ext cx="9144000" cy="64484"/>
          </a:xfrm>
          <a:custGeom>
            <a:avLst/>
            <a:gdLst/>
            <a:ahLst/>
            <a:cxnLst/>
            <a:rect l="l" t="t" r="r" b="b"/>
            <a:pathLst>
              <a:path w="9144000">
                <a:moveTo>
                  <a:pt x="9144000" y="0"/>
                </a:moveTo>
                <a:lnTo>
                  <a:pt x="20573" y="0"/>
                </a:lnTo>
              </a:path>
              <a:path w="9144000">
                <a:moveTo>
                  <a:pt x="20573" y="1"/>
                </a:moveTo>
                <a:lnTo>
                  <a:pt x="9144000" y="0"/>
                </a:lnTo>
              </a:path>
            </a:pathLst>
          </a:custGeom>
          <a:ln w="28575">
            <a:solidFill>
              <a:srgbClr val="E6031E"/>
            </a:solidFill>
          </a:ln>
        </p:spPr>
        <p:txBody>
          <a:bodyPr wrap="square" lIns="0" tIns="0" rIns="0" bIns="0" rtlCol="0">
            <a:noAutofit/>
          </a:bodyPr>
          <a:lstStyle/>
          <a:p>
            <a:endParaRPr/>
          </a:p>
        </p:txBody>
      </p:sp>
      <p:sp>
        <p:nvSpPr>
          <p:cNvPr id="7" name="CuadroTexto 6">
            <a:extLst>
              <a:ext uri="{FF2B5EF4-FFF2-40B4-BE49-F238E27FC236}">
                <a16:creationId xmlns:a16="http://schemas.microsoft.com/office/drawing/2014/main" id="{FDE5D003-B237-D627-8B39-ECC658237BE6}"/>
              </a:ext>
            </a:extLst>
          </p:cNvPr>
          <p:cNvSpPr txBox="1"/>
          <p:nvPr/>
        </p:nvSpPr>
        <p:spPr>
          <a:xfrm>
            <a:off x="1523999" y="1589383"/>
            <a:ext cx="9144001" cy="369332"/>
          </a:xfrm>
          <a:prstGeom prst="rect">
            <a:avLst/>
          </a:prstGeom>
          <a:noFill/>
        </p:spPr>
        <p:txBody>
          <a:bodyPr wrap="square" rtlCol="0">
            <a:spAutoFit/>
          </a:bodyPr>
          <a:lstStyle/>
          <a:p>
            <a:pPr algn="just"/>
            <a:r>
              <a:rPr lang="es-MX" b="1" dirty="0">
                <a:latin typeface="Verdana" panose="020B0604030504040204" pitchFamily="34" charset="0"/>
                <a:ea typeface="Verdana" panose="020B0604030504040204" pitchFamily="34" charset="0"/>
                <a:cs typeface="Verdana" panose="020B0604030504040204" pitchFamily="34" charset="0"/>
              </a:rPr>
              <a:t>Solución</a:t>
            </a:r>
          </a:p>
        </p:txBody>
      </p:sp>
      <p:sp>
        <p:nvSpPr>
          <p:cNvPr id="2" name="CuadroTexto 1">
            <a:extLst>
              <a:ext uri="{FF2B5EF4-FFF2-40B4-BE49-F238E27FC236}">
                <a16:creationId xmlns:a16="http://schemas.microsoft.com/office/drawing/2014/main" id="{323EDDE4-F9D1-9BE1-B417-022211382773}"/>
              </a:ext>
            </a:extLst>
          </p:cNvPr>
          <p:cNvSpPr txBox="1"/>
          <p:nvPr/>
        </p:nvSpPr>
        <p:spPr>
          <a:xfrm>
            <a:off x="1523999" y="2241069"/>
            <a:ext cx="9144001" cy="646331"/>
          </a:xfrm>
          <a:prstGeom prst="rect">
            <a:avLst/>
          </a:prstGeom>
          <a:noFill/>
        </p:spPr>
        <p:txBody>
          <a:bodyPr wrap="square" rtlCol="0">
            <a:spAutoFit/>
          </a:bodyPr>
          <a:lstStyle/>
          <a:p>
            <a:pPr algn="just"/>
            <a:r>
              <a:rPr lang="es-MX" dirty="0">
                <a:latin typeface="Verdana" panose="020B0604030504040204" pitchFamily="34" charset="0"/>
                <a:ea typeface="Verdana" panose="020B0604030504040204" pitchFamily="34" charset="0"/>
                <a:cs typeface="Verdana" panose="020B0604030504040204" pitchFamily="34" charset="0"/>
              </a:rPr>
              <a:t>Sea P el número total de contraseñas y sea P6, P7 y P8 respectivamente las contraseñas de longitud 6, 7, 8.</a:t>
            </a:r>
          </a:p>
        </p:txBody>
      </p:sp>
      <p:sp>
        <p:nvSpPr>
          <p:cNvPr id="5" name="CuadroTexto 4">
            <a:extLst>
              <a:ext uri="{FF2B5EF4-FFF2-40B4-BE49-F238E27FC236}">
                <a16:creationId xmlns:a16="http://schemas.microsoft.com/office/drawing/2014/main" id="{D5A9DDF3-6213-D29B-8780-F7D5DACE01F8}"/>
              </a:ext>
            </a:extLst>
          </p:cNvPr>
          <p:cNvSpPr txBox="1"/>
          <p:nvPr/>
        </p:nvSpPr>
        <p:spPr>
          <a:xfrm>
            <a:off x="1523999" y="3429000"/>
            <a:ext cx="9144001" cy="646331"/>
          </a:xfrm>
          <a:prstGeom prst="rect">
            <a:avLst/>
          </a:prstGeom>
          <a:noFill/>
        </p:spPr>
        <p:txBody>
          <a:bodyPr wrap="square" rtlCol="0">
            <a:spAutoFit/>
          </a:bodyPr>
          <a:lstStyle/>
          <a:p>
            <a:pPr algn="just"/>
            <a:r>
              <a:rPr lang="es-MX" dirty="0">
                <a:latin typeface="Verdana" panose="020B0604030504040204" pitchFamily="34" charset="0"/>
                <a:ea typeface="Verdana" panose="020B0604030504040204" pitchFamily="34" charset="0"/>
                <a:cs typeface="Verdana" panose="020B0604030504040204" pitchFamily="34" charset="0"/>
              </a:rPr>
              <a:t>Para calcular P6, P7 y P8, lo mejor es realizar la diferencia entre las cadenas válidas de longitud 6, 7 o 8 y restarlas con las que no son válidas </a:t>
            </a:r>
          </a:p>
        </p:txBody>
      </p:sp>
      <p:sp>
        <p:nvSpPr>
          <p:cNvPr id="8" name="CuadroTexto 7">
            <a:extLst>
              <a:ext uri="{FF2B5EF4-FFF2-40B4-BE49-F238E27FC236}">
                <a16:creationId xmlns:a16="http://schemas.microsoft.com/office/drawing/2014/main" id="{9CF67E7B-B98D-C8A1-997F-C6717FFE5410}"/>
              </a:ext>
            </a:extLst>
          </p:cNvPr>
          <p:cNvSpPr txBox="1"/>
          <p:nvPr/>
        </p:nvSpPr>
        <p:spPr>
          <a:xfrm>
            <a:off x="1523999" y="4294781"/>
            <a:ext cx="9144001" cy="1876283"/>
          </a:xfrm>
          <a:prstGeom prst="rect">
            <a:avLst/>
          </a:prstGeom>
          <a:noFill/>
        </p:spPr>
        <p:txBody>
          <a:bodyPr wrap="square" rtlCol="0">
            <a:spAutoFit/>
          </a:bodyPr>
          <a:lstStyle/>
          <a:p>
            <a:pPr>
              <a:lnSpc>
                <a:spcPct val="107000"/>
              </a:lnSpc>
              <a:spcAft>
                <a:spcPts val="800"/>
              </a:spcAft>
            </a:pPr>
            <a:r>
              <a:rPr lang="es-MX" dirty="0">
                <a:latin typeface="Verdana" panose="020B0604030504040204" pitchFamily="34" charset="0"/>
                <a:ea typeface="Verdana" panose="020B0604030504040204" pitchFamily="34" charset="0"/>
                <a:cs typeface="Verdana" panose="020B0604030504040204" pitchFamily="34" charset="0"/>
              </a:rPr>
              <a:t>P6= </a:t>
            </a:r>
            <a:r>
              <a:rPr lang="es-CO" sz="1800" kern="100" dirty="0">
                <a:effectLst/>
                <a:latin typeface="Calibri" panose="020F0502020204030204" pitchFamily="34" charset="0"/>
                <a:ea typeface="Calibri" panose="020F0502020204030204" pitchFamily="34" charset="0"/>
                <a:cs typeface="Times New Roman" panose="02020603050405020304" pitchFamily="18" charset="0"/>
              </a:rPr>
              <a:t>36</a:t>
            </a:r>
            <a:r>
              <a:rPr lang="es-CO" sz="1800" kern="100" baseline="30000" dirty="0">
                <a:effectLst/>
                <a:latin typeface="Calibri" panose="020F0502020204030204" pitchFamily="34" charset="0"/>
                <a:ea typeface="Calibri" panose="020F0502020204030204" pitchFamily="34" charset="0"/>
                <a:cs typeface="Times New Roman" panose="02020603050405020304" pitchFamily="18" charset="0"/>
              </a:rPr>
              <a:t>6   </a:t>
            </a:r>
            <a:r>
              <a:rPr lang="es-CO" sz="1800" kern="100" dirty="0">
                <a:effectLst/>
                <a:latin typeface="Calibri" panose="020F0502020204030204" pitchFamily="34" charset="0"/>
                <a:ea typeface="Calibri" panose="020F0502020204030204" pitchFamily="34" charset="0"/>
                <a:cs typeface="Times New Roman" panose="02020603050405020304" pitchFamily="18" charset="0"/>
              </a:rPr>
              <a:t>-</a:t>
            </a:r>
            <a:r>
              <a:rPr lang="es-CO" sz="1800" kern="100" baseline="30000" dirty="0">
                <a:effectLst/>
                <a:latin typeface="Calibri" panose="020F0502020204030204" pitchFamily="34" charset="0"/>
                <a:ea typeface="Calibri" panose="020F0502020204030204" pitchFamily="34" charset="0"/>
                <a:cs typeface="Times New Roman" panose="02020603050405020304" pitchFamily="18" charset="0"/>
              </a:rPr>
              <a:t>  </a:t>
            </a:r>
            <a:r>
              <a:rPr lang="es-CO" sz="1800" kern="100" dirty="0">
                <a:effectLst/>
                <a:latin typeface="Calibri" panose="020F0502020204030204" pitchFamily="34" charset="0"/>
                <a:ea typeface="Calibri" panose="020F0502020204030204" pitchFamily="34" charset="0"/>
                <a:cs typeface="Times New Roman" panose="02020603050405020304" pitchFamily="18" charset="0"/>
              </a:rPr>
              <a:t>26</a:t>
            </a:r>
            <a:r>
              <a:rPr lang="es-CO" sz="1800" kern="100" baseline="30000" dirty="0">
                <a:effectLst/>
                <a:latin typeface="Calibri" panose="020F0502020204030204" pitchFamily="34" charset="0"/>
                <a:ea typeface="Calibri" panose="020F0502020204030204" pitchFamily="34" charset="0"/>
                <a:cs typeface="Times New Roman" panose="02020603050405020304" pitchFamily="18" charset="0"/>
              </a:rPr>
              <a:t>6</a:t>
            </a:r>
            <a:r>
              <a:rPr lang="es-CO" kern="100" baseline="30000" dirty="0">
                <a:latin typeface="Calibri" panose="020F0502020204030204" pitchFamily="34" charset="0"/>
                <a:ea typeface="Calibri" panose="020F0502020204030204" pitchFamily="34" charset="0"/>
                <a:cs typeface="Times New Roman" panose="02020603050405020304" pitchFamily="18" charset="0"/>
              </a:rPr>
              <a:t> </a:t>
            </a:r>
            <a:r>
              <a:rPr lang="es-MX" dirty="0">
                <a:latin typeface="Verdana" panose="020B0604030504040204" pitchFamily="34" charset="0"/>
                <a:ea typeface="Verdana" panose="020B0604030504040204" pitchFamily="34" charset="0"/>
                <a:cs typeface="Verdana" panose="020B0604030504040204" pitchFamily="34" charset="0"/>
              </a:rPr>
              <a:t>= 1.867.866.560</a:t>
            </a:r>
          </a:p>
          <a:p>
            <a:pPr algn="just"/>
            <a:r>
              <a:rPr lang="es-MX" dirty="0">
                <a:latin typeface="Verdana" panose="020B0604030504040204" pitchFamily="34" charset="0"/>
                <a:ea typeface="Verdana" panose="020B0604030504040204" pitchFamily="34" charset="0"/>
                <a:cs typeface="Verdana" panose="020B0604030504040204" pitchFamily="34" charset="0"/>
              </a:rPr>
              <a:t>P7 = </a:t>
            </a:r>
            <a:r>
              <a:rPr lang="es-CO" sz="1800" kern="100" dirty="0">
                <a:effectLst/>
                <a:latin typeface="Calibri" panose="020F0502020204030204" pitchFamily="34" charset="0"/>
                <a:ea typeface="Calibri" panose="020F0502020204030204" pitchFamily="34" charset="0"/>
                <a:cs typeface="Times New Roman" panose="02020603050405020304" pitchFamily="18" charset="0"/>
              </a:rPr>
              <a:t>36</a:t>
            </a:r>
            <a:r>
              <a:rPr lang="es-CO" kern="100" baseline="30000" dirty="0">
                <a:latin typeface="Calibri" panose="020F0502020204030204" pitchFamily="34" charset="0"/>
                <a:ea typeface="Calibri" panose="020F0502020204030204" pitchFamily="34" charset="0"/>
                <a:cs typeface="Times New Roman" panose="02020603050405020304" pitchFamily="18" charset="0"/>
              </a:rPr>
              <a:t>7</a:t>
            </a:r>
            <a:r>
              <a:rPr lang="es-CO" sz="1800" kern="100" baseline="30000" dirty="0">
                <a:effectLst/>
                <a:latin typeface="Calibri" panose="020F0502020204030204" pitchFamily="34" charset="0"/>
                <a:ea typeface="Calibri" panose="020F0502020204030204" pitchFamily="34" charset="0"/>
                <a:cs typeface="Times New Roman" panose="02020603050405020304" pitchFamily="18" charset="0"/>
              </a:rPr>
              <a:t>   </a:t>
            </a:r>
            <a:r>
              <a:rPr lang="es-CO" sz="1800" kern="100" dirty="0">
                <a:effectLst/>
                <a:latin typeface="Calibri" panose="020F0502020204030204" pitchFamily="34" charset="0"/>
                <a:ea typeface="Calibri" panose="020F0502020204030204" pitchFamily="34" charset="0"/>
                <a:cs typeface="Times New Roman" panose="02020603050405020304" pitchFamily="18" charset="0"/>
              </a:rPr>
              <a:t>-</a:t>
            </a:r>
            <a:r>
              <a:rPr lang="es-CO" sz="1800" kern="100" baseline="30000" dirty="0">
                <a:effectLst/>
                <a:latin typeface="Calibri" panose="020F0502020204030204" pitchFamily="34" charset="0"/>
                <a:ea typeface="Calibri" panose="020F0502020204030204" pitchFamily="34" charset="0"/>
                <a:cs typeface="Times New Roman" panose="02020603050405020304" pitchFamily="18" charset="0"/>
              </a:rPr>
              <a:t>  </a:t>
            </a:r>
            <a:r>
              <a:rPr lang="es-CO" sz="1800" kern="100" dirty="0">
                <a:effectLst/>
                <a:latin typeface="Calibri" panose="020F0502020204030204" pitchFamily="34" charset="0"/>
                <a:ea typeface="Calibri" panose="020F0502020204030204" pitchFamily="34" charset="0"/>
                <a:cs typeface="Times New Roman" panose="02020603050405020304" pitchFamily="18" charset="0"/>
              </a:rPr>
              <a:t>26</a:t>
            </a:r>
            <a:r>
              <a:rPr lang="es-CO" kern="100" baseline="30000" dirty="0">
                <a:latin typeface="Calibri" panose="020F0502020204030204" pitchFamily="34" charset="0"/>
                <a:ea typeface="Calibri" panose="020F0502020204030204" pitchFamily="34" charset="0"/>
                <a:cs typeface="Times New Roman" panose="02020603050405020304" pitchFamily="18" charset="0"/>
              </a:rPr>
              <a:t>7 </a:t>
            </a:r>
            <a:r>
              <a:rPr lang="es-MX" dirty="0">
                <a:latin typeface="Verdana" panose="020B0604030504040204" pitchFamily="34" charset="0"/>
                <a:ea typeface="Verdana" panose="020B0604030504040204" pitchFamily="34" charset="0"/>
                <a:cs typeface="Verdana" panose="020B0604030504040204" pitchFamily="34" charset="0"/>
              </a:rPr>
              <a:t>= 70. 332.353.920</a:t>
            </a:r>
          </a:p>
          <a:p>
            <a:pPr algn="just"/>
            <a:r>
              <a:rPr lang="es-MX" dirty="0">
                <a:latin typeface="Verdana" panose="020B0604030504040204" pitchFamily="34" charset="0"/>
                <a:ea typeface="Verdana" panose="020B0604030504040204" pitchFamily="34" charset="0"/>
                <a:cs typeface="Verdana" panose="020B0604030504040204" pitchFamily="34" charset="0"/>
              </a:rPr>
              <a:t>P8 = </a:t>
            </a:r>
            <a:r>
              <a:rPr lang="es-CO" sz="1800" kern="100" dirty="0">
                <a:effectLst/>
                <a:latin typeface="Calibri" panose="020F0502020204030204" pitchFamily="34" charset="0"/>
                <a:ea typeface="Calibri" panose="020F0502020204030204" pitchFamily="34" charset="0"/>
                <a:cs typeface="Times New Roman" panose="02020603050405020304" pitchFamily="18" charset="0"/>
              </a:rPr>
              <a:t>36</a:t>
            </a:r>
            <a:r>
              <a:rPr lang="es-CO" kern="100" baseline="30000" dirty="0">
                <a:latin typeface="Calibri" panose="020F0502020204030204" pitchFamily="34" charset="0"/>
                <a:ea typeface="Calibri" panose="020F0502020204030204" pitchFamily="34" charset="0"/>
                <a:cs typeface="Times New Roman" panose="02020603050405020304" pitchFamily="18" charset="0"/>
              </a:rPr>
              <a:t>8</a:t>
            </a:r>
            <a:r>
              <a:rPr lang="es-CO" sz="1800" kern="100" baseline="30000" dirty="0">
                <a:effectLst/>
                <a:latin typeface="Calibri" panose="020F0502020204030204" pitchFamily="34" charset="0"/>
                <a:ea typeface="Calibri" panose="020F0502020204030204" pitchFamily="34" charset="0"/>
                <a:cs typeface="Times New Roman" panose="02020603050405020304" pitchFamily="18" charset="0"/>
              </a:rPr>
              <a:t>   </a:t>
            </a:r>
            <a:r>
              <a:rPr lang="es-CO" sz="1800" kern="100" dirty="0">
                <a:effectLst/>
                <a:latin typeface="Calibri" panose="020F0502020204030204" pitchFamily="34" charset="0"/>
                <a:ea typeface="Calibri" panose="020F0502020204030204" pitchFamily="34" charset="0"/>
                <a:cs typeface="Times New Roman" panose="02020603050405020304" pitchFamily="18" charset="0"/>
              </a:rPr>
              <a:t>-</a:t>
            </a:r>
            <a:r>
              <a:rPr lang="es-CO" sz="1800" kern="100" baseline="30000" dirty="0">
                <a:effectLst/>
                <a:latin typeface="Calibri" panose="020F0502020204030204" pitchFamily="34" charset="0"/>
                <a:ea typeface="Calibri" panose="020F0502020204030204" pitchFamily="34" charset="0"/>
                <a:cs typeface="Times New Roman" panose="02020603050405020304" pitchFamily="18" charset="0"/>
              </a:rPr>
              <a:t>  </a:t>
            </a:r>
            <a:r>
              <a:rPr lang="es-CO" sz="1800" kern="100" dirty="0">
                <a:effectLst/>
                <a:latin typeface="Calibri" panose="020F0502020204030204" pitchFamily="34" charset="0"/>
                <a:ea typeface="Calibri" panose="020F0502020204030204" pitchFamily="34" charset="0"/>
                <a:cs typeface="Times New Roman" panose="02020603050405020304" pitchFamily="18" charset="0"/>
              </a:rPr>
              <a:t>26</a:t>
            </a:r>
            <a:r>
              <a:rPr lang="es-CO" kern="100" baseline="30000" dirty="0">
                <a:latin typeface="Calibri" panose="020F0502020204030204" pitchFamily="34" charset="0"/>
                <a:ea typeface="Calibri" panose="020F0502020204030204" pitchFamily="34" charset="0"/>
                <a:cs typeface="Times New Roman" panose="02020603050405020304" pitchFamily="18" charset="0"/>
              </a:rPr>
              <a:t>8 </a:t>
            </a:r>
            <a:r>
              <a:rPr lang="es-MX" dirty="0">
                <a:latin typeface="Verdana" panose="020B0604030504040204" pitchFamily="34" charset="0"/>
                <a:ea typeface="Verdana" panose="020B0604030504040204" pitchFamily="34" charset="0"/>
                <a:cs typeface="Verdana" panose="020B0604030504040204" pitchFamily="34" charset="0"/>
              </a:rPr>
              <a:t>= 2.612.282.842.880</a:t>
            </a:r>
          </a:p>
          <a:p>
            <a:pPr marL="285750" indent="-285750" algn="just">
              <a:buFont typeface="Arial" panose="020B0604020202020204" pitchFamily="34" charset="0"/>
              <a:buChar char="•"/>
            </a:pPr>
            <a:endParaRPr lang="es-MX" dirty="0">
              <a:latin typeface="Verdana" panose="020B0604030504040204" pitchFamily="34" charset="0"/>
              <a:ea typeface="Verdana" panose="020B0604030504040204" pitchFamily="34" charset="0"/>
              <a:cs typeface="Verdana" panose="020B0604030504040204" pitchFamily="34" charset="0"/>
            </a:endParaRPr>
          </a:p>
          <a:p>
            <a:pPr algn="just"/>
            <a:r>
              <a:rPr lang="es-MX" dirty="0">
                <a:latin typeface="Verdana" panose="020B0604030504040204" pitchFamily="34" charset="0"/>
                <a:ea typeface="Verdana" panose="020B0604030504040204" pitchFamily="34" charset="0"/>
                <a:cs typeface="Verdana" panose="020B0604030504040204" pitchFamily="34" charset="0"/>
              </a:rPr>
              <a:t>Por lo tanto, mediante la regla de la suma, P6 + P7 + P8 = 2.684.483.063.360</a:t>
            </a:r>
          </a:p>
        </p:txBody>
      </p:sp>
    </p:spTree>
    <p:extLst>
      <p:ext uri="{BB962C8B-B14F-4D97-AF65-F5344CB8AC3E}">
        <p14:creationId xmlns:p14="http://schemas.microsoft.com/office/powerpoint/2010/main" val="269737233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9"/>
          <p:cNvSpPr/>
          <p:nvPr/>
        </p:nvSpPr>
        <p:spPr>
          <a:xfrm>
            <a:off x="1524000" y="473139"/>
            <a:ext cx="9144000" cy="649224"/>
          </a:xfrm>
          <a:custGeom>
            <a:avLst/>
            <a:gdLst/>
            <a:ahLst/>
            <a:cxnLst/>
            <a:rect l="l" t="t" r="r" b="b"/>
            <a:pathLst>
              <a:path w="9144000" h="649224">
                <a:moveTo>
                  <a:pt x="9144000" y="649223"/>
                </a:moveTo>
                <a:lnTo>
                  <a:pt x="9144000" y="0"/>
                </a:lnTo>
                <a:lnTo>
                  <a:pt x="0" y="0"/>
                </a:lnTo>
                <a:lnTo>
                  <a:pt x="0" y="649224"/>
                </a:lnTo>
                <a:lnTo>
                  <a:pt x="9144000" y="649223"/>
                </a:lnTo>
                <a:close/>
              </a:path>
            </a:pathLst>
          </a:custGeom>
          <a:solidFill>
            <a:srgbClr val="E6031E"/>
          </a:solidFill>
        </p:spPr>
        <p:txBody>
          <a:bodyPr wrap="square" lIns="0" tIns="0" rIns="0" bIns="0" rtlCol="0">
            <a:noAutofit/>
          </a:bodyPr>
          <a:lstStyle/>
          <a:p>
            <a:pPr algn="ctr"/>
            <a:r>
              <a:rPr lang="es-CO" sz="2400" b="1" dirty="0">
                <a:solidFill>
                  <a:schemeClr val="bg1"/>
                </a:solidFill>
                <a:latin typeface="Verdana" panose="020B0604030504040204" pitchFamily="34" charset="0"/>
                <a:ea typeface="Verdana" panose="020B0604030504040204" pitchFamily="34" charset="0"/>
                <a:cs typeface="Verdana" panose="020B0604030504040204" pitchFamily="34" charset="0"/>
              </a:rPr>
              <a:t>PRINCIPIO DE INCLUSIÓN - EXCLUSIÓN</a:t>
            </a:r>
            <a:endParaRPr sz="2400" b="1" dirty="0">
              <a:solidFill>
                <a:schemeClr val="bg1"/>
              </a:solidFill>
              <a:latin typeface="Verdana" panose="020B0604030504040204" pitchFamily="34" charset="0"/>
              <a:ea typeface="Verdana" panose="020B0604030504040204" pitchFamily="34" charset="0"/>
              <a:cs typeface="Verdana" panose="020B0604030504040204" pitchFamily="34" charset="0"/>
            </a:endParaRPr>
          </a:p>
        </p:txBody>
      </p:sp>
      <p:sp>
        <p:nvSpPr>
          <p:cNvPr id="6" name="object 12"/>
          <p:cNvSpPr/>
          <p:nvPr/>
        </p:nvSpPr>
        <p:spPr>
          <a:xfrm>
            <a:off x="10242773" y="6153222"/>
            <a:ext cx="425227" cy="549401"/>
          </a:xfrm>
          <a:prstGeom prst="rect">
            <a:avLst/>
          </a:prstGeom>
          <a:blipFill>
            <a:blip r:embed="rId2" cstate="print"/>
            <a:stretch>
              <a:fillRect/>
            </a:stretch>
          </a:blipFill>
        </p:spPr>
        <p:txBody>
          <a:bodyPr wrap="square" lIns="0" tIns="0" rIns="0" bIns="0" rtlCol="0">
            <a:noAutofit/>
          </a:bodyPr>
          <a:lstStyle/>
          <a:p>
            <a:endParaRPr/>
          </a:p>
        </p:txBody>
      </p:sp>
      <p:sp>
        <p:nvSpPr>
          <p:cNvPr id="3" name="object 11">
            <a:extLst>
              <a:ext uri="{FF2B5EF4-FFF2-40B4-BE49-F238E27FC236}">
                <a16:creationId xmlns:a16="http://schemas.microsoft.com/office/drawing/2014/main" id="{46DBE57D-BC43-4A76-836D-DA3ECB0D8800}"/>
              </a:ext>
            </a:extLst>
          </p:cNvPr>
          <p:cNvSpPr/>
          <p:nvPr/>
        </p:nvSpPr>
        <p:spPr>
          <a:xfrm flipV="1">
            <a:off x="1524000" y="6049107"/>
            <a:ext cx="9144000" cy="64484"/>
          </a:xfrm>
          <a:custGeom>
            <a:avLst/>
            <a:gdLst/>
            <a:ahLst/>
            <a:cxnLst/>
            <a:rect l="l" t="t" r="r" b="b"/>
            <a:pathLst>
              <a:path w="9144000">
                <a:moveTo>
                  <a:pt x="9144000" y="0"/>
                </a:moveTo>
                <a:lnTo>
                  <a:pt x="20573" y="0"/>
                </a:lnTo>
              </a:path>
              <a:path w="9144000">
                <a:moveTo>
                  <a:pt x="20573" y="1"/>
                </a:moveTo>
                <a:lnTo>
                  <a:pt x="9144000" y="0"/>
                </a:lnTo>
              </a:path>
            </a:pathLst>
          </a:custGeom>
          <a:ln w="28575">
            <a:solidFill>
              <a:srgbClr val="E6031E"/>
            </a:solidFill>
          </a:ln>
        </p:spPr>
        <p:txBody>
          <a:bodyPr wrap="square" lIns="0" tIns="0" rIns="0" bIns="0" rtlCol="0">
            <a:noAutofit/>
          </a:bodyPr>
          <a:lstStyle/>
          <a:p>
            <a:endParaRPr/>
          </a:p>
        </p:txBody>
      </p:sp>
      <p:sp>
        <p:nvSpPr>
          <p:cNvPr id="2" name="CuadroTexto 1">
            <a:extLst>
              <a:ext uri="{FF2B5EF4-FFF2-40B4-BE49-F238E27FC236}">
                <a16:creationId xmlns:a16="http://schemas.microsoft.com/office/drawing/2014/main" id="{48841838-5861-63D0-E654-3592BDB26C4F}"/>
              </a:ext>
            </a:extLst>
          </p:cNvPr>
          <p:cNvSpPr txBox="1"/>
          <p:nvPr/>
        </p:nvSpPr>
        <p:spPr>
          <a:xfrm>
            <a:off x="1523999" y="1433359"/>
            <a:ext cx="9144001" cy="1477328"/>
          </a:xfrm>
          <a:prstGeom prst="rect">
            <a:avLst/>
          </a:prstGeom>
          <a:noFill/>
        </p:spPr>
        <p:txBody>
          <a:bodyPr wrap="square" rtlCol="0">
            <a:spAutoFit/>
          </a:bodyPr>
          <a:lstStyle/>
          <a:p>
            <a:pPr algn="just"/>
            <a:r>
              <a:rPr lang="es-ES" dirty="0">
                <a:latin typeface="Verdana" panose="020B0604030504040204" pitchFamily="34" charset="0"/>
                <a:ea typeface="Verdana" panose="020B0604030504040204" pitchFamily="34" charset="0"/>
                <a:cs typeface="Verdana" panose="020B0604030504040204" pitchFamily="34" charset="0"/>
              </a:rPr>
              <a:t>Cuando dos tareas se pueden resolver simultáneamente, no podemos usar la regla de la suma. Para contar correctamente el número de formas para resolver ambas tareas debemos sumar el número de formas para resolver cada tarea por separado y restar el número de formas para resolver ambas tareas.</a:t>
            </a:r>
            <a:endParaRPr lang="es-CO" dirty="0">
              <a:latin typeface="Verdana" panose="020B0604030504040204" pitchFamily="34" charset="0"/>
              <a:ea typeface="Verdana" panose="020B0604030504040204" pitchFamily="34" charset="0"/>
              <a:cs typeface="Verdana" panose="020B0604030504040204" pitchFamily="34" charset="0"/>
            </a:endParaRPr>
          </a:p>
        </p:txBody>
      </p:sp>
      <p:pic>
        <p:nvPicPr>
          <p:cNvPr id="7" name="Imagen 6">
            <a:extLst>
              <a:ext uri="{FF2B5EF4-FFF2-40B4-BE49-F238E27FC236}">
                <a16:creationId xmlns:a16="http://schemas.microsoft.com/office/drawing/2014/main" id="{34FCE438-792A-AA5F-A0D8-DB15BAE451EB}"/>
              </a:ext>
            </a:extLst>
          </p:cNvPr>
          <p:cNvPicPr>
            <a:picLocks noChangeAspect="1"/>
          </p:cNvPicPr>
          <p:nvPr/>
        </p:nvPicPr>
        <p:blipFill rotWithShape="1">
          <a:blip r:embed="rId3"/>
          <a:srcRect l="19518" t="23546" r="19552" b="37814"/>
          <a:stretch/>
        </p:blipFill>
        <p:spPr bwMode="auto">
          <a:xfrm>
            <a:off x="1824990" y="3527683"/>
            <a:ext cx="8542020" cy="2035488"/>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11878184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ppt_x"/>
                                          </p:val>
                                        </p:tav>
                                        <p:tav tm="100000">
                                          <p:val>
                                            <p:strVal val="#ppt_x"/>
                                          </p:val>
                                        </p:tav>
                                      </p:tavLst>
                                    </p:anim>
                                    <p:anim calcmode="lin" valueType="num">
                                      <p:cBhvr additive="base">
                                        <p:cTn id="8"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9"/>
          <p:cNvSpPr/>
          <p:nvPr/>
        </p:nvSpPr>
        <p:spPr>
          <a:xfrm>
            <a:off x="1524000" y="473139"/>
            <a:ext cx="9144000" cy="649224"/>
          </a:xfrm>
          <a:custGeom>
            <a:avLst/>
            <a:gdLst/>
            <a:ahLst/>
            <a:cxnLst/>
            <a:rect l="l" t="t" r="r" b="b"/>
            <a:pathLst>
              <a:path w="9144000" h="649224">
                <a:moveTo>
                  <a:pt x="9144000" y="649223"/>
                </a:moveTo>
                <a:lnTo>
                  <a:pt x="9144000" y="0"/>
                </a:lnTo>
                <a:lnTo>
                  <a:pt x="0" y="0"/>
                </a:lnTo>
                <a:lnTo>
                  <a:pt x="0" y="649224"/>
                </a:lnTo>
                <a:lnTo>
                  <a:pt x="9144000" y="649223"/>
                </a:lnTo>
                <a:close/>
              </a:path>
            </a:pathLst>
          </a:custGeom>
          <a:solidFill>
            <a:srgbClr val="E6031E"/>
          </a:solidFill>
        </p:spPr>
        <p:txBody>
          <a:bodyPr wrap="square" lIns="0" tIns="0" rIns="0" bIns="0" rtlCol="0">
            <a:noAutofit/>
          </a:bodyPr>
          <a:lstStyle/>
          <a:p>
            <a:pPr algn="ctr"/>
            <a:r>
              <a:rPr lang="es-CO" sz="2400" b="1" dirty="0">
                <a:solidFill>
                  <a:schemeClr val="bg1"/>
                </a:solidFill>
                <a:latin typeface="Verdana" panose="020B0604030504040204" pitchFamily="34" charset="0"/>
                <a:ea typeface="Verdana" panose="020B0604030504040204" pitchFamily="34" charset="0"/>
                <a:cs typeface="Verdana" panose="020B0604030504040204" pitchFamily="34" charset="0"/>
              </a:rPr>
              <a:t>PRINCIPIO DE INCLUSIÓN - EXCLUSIÓN</a:t>
            </a:r>
            <a:endParaRPr sz="2400" b="1" dirty="0">
              <a:solidFill>
                <a:schemeClr val="bg1"/>
              </a:solidFill>
              <a:latin typeface="Verdana" panose="020B0604030504040204" pitchFamily="34" charset="0"/>
              <a:ea typeface="Verdana" panose="020B0604030504040204" pitchFamily="34" charset="0"/>
              <a:cs typeface="Verdana" panose="020B0604030504040204" pitchFamily="34" charset="0"/>
            </a:endParaRPr>
          </a:p>
        </p:txBody>
      </p:sp>
      <p:sp>
        <p:nvSpPr>
          <p:cNvPr id="6" name="object 12"/>
          <p:cNvSpPr/>
          <p:nvPr/>
        </p:nvSpPr>
        <p:spPr>
          <a:xfrm>
            <a:off x="10242773" y="6153222"/>
            <a:ext cx="425227" cy="549401"/>
          </a:xfrm>
          <a:prstGeom prst="rect">
            <a:avLst/>
          </a:prstGeom>
          <a:blipFill>
            <a:blip r:embed="rId2" cstate="print"/>
            <a:stretch>
              <a:fillRect/>
            </a:stretch>
          </a:blipFill>
        </p:spPr>
        <p:txBody>
          <a:bodyPr wrap="square" lIns="0" tIns="0" rIns="0" bIns="0" rtlCol="0">
            <a:noAutofit/>
          </a:bodyPr>
          <a:lstStyle/>
          <a:p>
            <a:endParaRPr/>
          </a:p>
        </p:txBody>
      </p:sp>
      <p:sp>
        <p:nvSpPr>
          <p:cNvPr id="3" name="object 11">
            <a:extLst>
              <a:ext uri="{FF2B5EF4-FFF2-40B4-BE49-F238E27FC236}">
                <a16:creationId xmlns:a16="http://schemas.microsoft.com/office/drawing/2014/main" id="{46DBE57D-BC43-4A76-836D-DA3ECB0D8800}"/>
              </a:ext>
            </a:extLst>
          </p:cNvPr>
          <p:cNvSpPr/>
          <p:nvPr/>
        </p:nvSpPr>
        <p:spPr>
          <a:xfrm flipV="1">
            <a:off x="1524000" y="6049107"/>
            <a:ext cx="9144000" cy="64484"/>
          </a:xfrm>
          <a:custGeom>
            <a:avLst/>
            <a:gdLst/>
            <a:ahLst/>
            <a:cxnLst/>
            <a:rect l="l" t="t" r="r" b="b"/>
            <a:pathLst>
              <a:path w="9144000">
                <a:moveTo>
                  <a:pt x="9144000" y="0"/>
                </a:moveTo>
                <a:lnTo>
                  <a:pt x="20573" y="0"/>
                </a:lnTo>
              </a:path>
              <a:path w="9144000">
                <a:moveTo>
                  <a:pt x="20573" y="1"/>
                </a:moveTo>
                <a:lnTo>
                  <a:pt x="9144000" y="0"/>
                </a:lnTo>
              </a:path>
            </a:pathLst>
          </a:custGeom>
          <a:ln w="28575">
            <a:solidFill>
              <a:srgbClr val="E6031E"/>
            </a:solidFill>
          </a:ln>
        </p:spPr>
        <p:txBody>
          <a:bodyPr wrap="square" lIns="0" tIns="0" rIns="0" bIns="0" rtlCol="0">
            <a:noAutofit/>
          </a:bodyPr>
          <a:lstStyle/>
          <a:p>
            <a:endParaRPr/>
          </a:p>
        </p:txBody>
      </p:sp>
      <p:sp>
        <p:nvSpPr>
          <p:cNvPr id="8" name="CuadroTexto 7">
            <a:extLst>
              <a:ext uri="{FF2B5EF4-FFF2-40B4-BE49-F238E27FC236}">
                <a16:creationId xmlns:a16="http://schemas.microsoft.com/office/drawing/2014/main" id="{932481B4-8543-947D-05DB-233EB2D975E5}"/>
              </a:ext>
            </a:extLst>
          </p:cNvPr>
          <p:cNvSpPr txBox="1"/>
          <p:nvPr/>
        </p:nvSpPr>
        <p:spPr>
          <a:xfrm>
            <a:off x="1523999" y="1402522"/>
            <a:ext cx="9144000" cy="646331"/>
          </a:xfrm>
          <a:prstGeom prst="rect">
            <a:avLst/>
          </a:prstGeom>
          <a:noFill/>
        </p:spPr>
        <p:txBody>
          <a:bodyPr wrap="square" rtlCol="0">
            <a:spAutoFit/>
          </a:bodyPr>
          <a:lstStyle/>
          <a:p>
            <a:pPr algn="just"/>
            <a:r>
              <a:rPr lang="es-ES" b="1" dirty="0">
                <a:latin typeface="Verdana" panose="020B0604030504040204" pitchFamily="34" charset="0"/>
                <a:ea typeface="Verdana" panose="020B0604030504040204" pitchFamily="34" charset="0"/>
                <a:cs typeface="Verdana" panose="020B0604030504040204" pitchFamily="34" charset="0"/>
              </a:rPr>
              <a:t>Ejemplo: </a:t>
            </a:r>
            <a:r>
              <a:rPr lang="es-ES" dirty="0">
                <a:latin typeface="Verdana" panose="020B0604030504040204" pitchFamily="34" charset="0"/>
                <a:ea typeface="Verdana" panose="020B0604030504040204" pitchFamily="34" charset="0"/>
                <a:cs typeface="Verdana" panose="020B0604030504040204" pitchFamily="34" charset="0"/>
              </a:rPr>
              <a:t>¿Cuántas cadenas de bits de longitud ocho que comienzan con el bit 1 o cuyos dos últimos bits son 00 se pueden encontrar?</a:t>
            </a:r>
            <a:endParaRPr lang="es-CO" dirty="0">
              <a:latin typeface="Verdana" panose="020B0604030504040204" pitchFamily="34" charset="0"/>
              <a:ea typeface="Verdana" panose="020B0604030504040204" pitchFamily="34" charset="0"/>
              <a:cs typeface="Verdana" panose="020B0604030504040204" pitchFamily="34" charset="0"/>
            </a:endParaRPr>
          </a:p>
        </p:txBody>
      </p:sp>
      <p:sp>
        <p:nvSpPr>
          <p:cNvPr id="7" name="CuadroTexto 6">
            <a:extLst>
              <a:ext uri="{FF2B5EF4-FFF2-40B4-BE49-F238E27FC236}">
                <a16:creationId xmlns:a16="http://schemas.microsoft.com/office/drawing/2014/main" id="{9DFF85C3-A964-4811-11A2-E74054AD01A8}"/>
              </a:ext>
            </a:extLst>
          </p:cNvPr>
          <p:cNvSpPr txBox="1"/>
          <p:nvPr/>
        </p:nvSpPr>
        <p:spPr>
          <a:xfrm>
            <a:off x="1523999" y="2616238"/>
            <a:ext cx="9144000" cy="2031325"/>
          </a:xfrm>
          <a:prstGeom prst="rect">
            <a:avLst/>
          </a:prstGeom>
          <a:noFill/>
        </p:spPr>
        <p:txBody>
          <a:bodyPr wrap="square" rtlCol="0">
            <a:spAutoFit/>
          </a:bodyPr>
          <a:lstStyle/>
          <a:p>
            <a:pPr algn="just"/>
            <a:r>
              <a:rPr lang="es-ES" b="1" dirty="0">
                <a:latin typeface="Verdana" panose="020B0604030504040204" pitchFamily="34" charset="0"/>
                <a:ea typeface="Verdana" panose="020B0604030504040204" pitchFamily="34" charset="0"/>
                <a:cs typeface="Verdana" panose="020B0604030504040204" pitchFamily="34" charset="0"/>
              </a:rPr>
              <a:t>Solución. </a:t>
            </a:r>
          </a:p>
          <a:p>
            <a:pPr algn="just"/>
            <a:r>
              <a:rPr lang="es-ES" dirty="0">
                <a:latin typeface="Verdana" panose="020B0604030504040204" pitchFamily="34" charset="0"/>
                <a:ea typeface="Verdana" panose="020B0604030504040204" pitchFamily="34" charset="0"/>
                <a:cs typeface="Verdana" panose="020B0604030504040204" pitchFamily="34" charset="0"/>
              </a:rPr>
              <a:t>Las Tareas de nuestro problema son:</a:t>
            </a:r>
          </a:p>
          <a:p>
            <a:pPr algn="just"/>
            <a:endParaRPr lang="es-ES" dirty="0">
              <a:latin typeface="Verdana" panose="020B0604030504040204" pitchFamily="34" charset="0"/>
              <a:ea typeface="Verdana" panose="020B0604030504040204" pitchFamily="34" charset="0"/>
              <a:cs typeface="Verdana" panose="020B0604030504040204" pitchFamily="34" charset="0"/>
            </a:endParaRPr>
          </a:p>
          <a:p>
            <a:pPr marL="285750" indent="-285750" algn="just">
              <a:buFont typeface="Arial" panose="020B0604020202020204" pitchFamily="34" charset="0"/>
              <a:buChar char="•"/>
            </a:pPr>
            <a:r>
              <a:rPr lang="es-ES" dirty="0">
                <a:latin typeface="Verdana" panose="020B0604030504040204" pitchFamily="34" charset="0"/>
                <a:ea typeface="Verdana" panose="020B0604030504040204" pitchFamily="34" charset="0"/>
                <a:cs typeface="Verdana" panose="020B0604030504040204" pitchFamily="34" charset="0"/>
              </a:rPr>
              <a:t>Una tarea es construir una cadena de 8 bits que comience en 1.</a:t>
            </a:r>
          </a:p>
          <a:p>
            <a:pPr marL="285750" indent="-285750" algn="just">
              <a:buFont typeface="Arial" panose="020B0604020202020204" pitchFamily="34" charset="0"/>
              <a:buChar char="•"/>
            </a:pPr>
            <a:endParaRPr lang="es-ES" dirty="0">
              <a:latin typeface="Verdana" panose="020B0604030504040204" pitchFamily="34" charset="0"/>
              <a:ea typeface="Verdana" panose="020B0604030504040204" pitchFamily="34" charset="0"/>
              <a:cs typeface="Verdana" panose="020B0604030504040204" pitchFamily="34" charset="0"/>
            </a:endParaRPr>
          </a:p>
          <a:p>
            <a:pPr marL="285750" indent="-285750" algn="just">
              <a:buFont typeface="Arial" panose="020B0604020202020204" pitchFamily="34" charset="0"/>
              <a:buChar char="•"/>
            </a:pPr>
            <a:r>
              <a:rPr lang="es-ES" dirty="0">
                <a:latin typeface="Verdana" panose="020B0604030504040204" pitchFamily="34" charset="0"/>
                <a:ea typeface="Verdana" panose="020B0604030504040204" pitchFamily="34" charset="0"/>
                <a:cs typeface="Verdana" panose="020B0604030504040204" pitchFamily="34" charset="0"/>
              </a:rPr>
              <a:t>Segunda tarea que consiste en construir una cadena de 8 bits que termine en 00</a:t>
            </a:r>
            <a:endParaRPr lang="es-CO" dirty="0">
              <a:latin typeface="Verdana" panose="020B0604030504040204" pitchFamily="34" charset="0"/>
              <a:ea typeface="Verdana" panose="020B0604030504040204" pitchFamily="34" charset="0"/>
              <a:cs typeface="Verdana" panose="020B0604030504040204" pitchFamily="34" charset="0"/>
            </a:endParaRPr>
          </a:p>
        </p:txBody>
      </p:sp>
    </p:spTree>
    <p:extLst>
      <p:ext uri="{BB962C8B-B14F-4D97-AF65-F5344CB8AC3E}">
        <p14:creationId xmlns:p14="http://schemas.microsoft.com/office/powerpoint/2010/main" val="31852905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ppt_x"/>
                                          </p:val>
                                        </p:tav>
                                        <p:tav tm="100000">
                                          <p:val>
                                            <p:strVal val="#ppt_x"/>
                                          </p:val>
                                        </p:tav>
                                      </p:tavLst>
                                    </p:anim>
                                    <p:anim calcmode="lin" valueType="num">
                                      <p:cBhvr additive="base">
                                        <p:cTn id="8"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7"/>
                                        </p:tgtEl>
                                        <p:attrNameLst>
                                          <p:attrName>style.visibility</p:attrName>
                                        </p:attrNameLst>
                                      </p:cBhvr>
                                      <p:to>
                                        <p:strVal val="visible"/>
                                      </p:to>
                                    </p:set>
                                    <p:anim calcmode="lin" valueType="num">
                                      <p:cBhvr additive="base">
                                        <p:cTn id="13" dur="500" fill="hold"/>
                                        <p:tgtEl>
                                          <p:spTgt spid="7"/>
                                        </p:tgtEl>
                                        <p:attrNameLst>
                                          <p:attrName>ppt_x</p:attrName>
                                        </p:attrNameLst>
                                      </p:cBhvr>
                                      <p:tavLst>
                                        <p:tav tm="0">
                                          <p:val>
                                            <p:strVal val="#ppt_x"/>
                                          </p:val>
                                        </p:tav>
                                        <p:tav tm="100000">
                                          <p:val>
                                            <p:strVal val="#ppt_x"/>
                                          </p:val>
                                        </p:tav>
                                      </p:tavLst>
                                    </p:anim>
                                    <p:anim calcmode="lin" valueType="num">
                                      <p:cBhvr additive="base">
                                        <p:cTn id="14"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7"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9"/>
          <p:cNvSpPr/>
          <p:nvPr/>
        </p:nvSpPr>
        <p:spPr>
          <a:xfrm>
            <a:off x="1524000" y="473139"/>
            <a:ext cx="9144000" cy="649224"/>
          </a:xfrm>
          <a:custGeom>
            <a:avLst/>
            <a:gdLst/>
            <a:ahLst/>
            <a:cxnLst/>
            <a:rect l="l" t="t" r="r" b="b"/>
            <a:pathLst>
              <a:path w="9144000" h="649224">
                <a:moveTo>
                  <a:pt x="9144000" y="649223"/>
                </a:moveTo>
                <a:lnTo>
                  <a:pt x="9144000" y="0"/>
                </a:lnTo>
                <a:lnTo>
                  <a:pt x="0" y="0"/>
                </a:lnTo>
                <a:lnTo>
                  <a:pt x="0" y="649224"/>
                </a:lnTo>
                <a:lnTo>
                  <a:pt x="9144000" y="649223"/>
                </a:lnTo>
                <a:close/>
              </a:path>
            </a:pathLst>
          </a:custGeom>
          <a:solidFill>
            <a:srgbClr val="E6031E"/>
          </a:solidFill>
        </p:spPr>
        <p:txBody>
          <a:bodyPr wrap="square" lIns="0" tIns="0" rIns="0" bIns="0" rtlCol="0">
            <a:noAutofit/>
          </a:bodyPr>
          <a:lstStyle/>
          <a:p>
            <a:pPr algn="ctr"/>
            <a:r>
              <a:rPr lang="es-CO" sz="2400" b="1" dirty="0">
                <a:solidFill>
                  <a:schemeClr val="bg1"/>
                </a:solidFill>
                <a:latin typeface="Verdana" panose="020B0604030504040204" pitchFamily="34" charset="0"/>
                <a:ea typeface="Verdana" panose="020B0604030504040204" pitchFamily="34" charset="0"/>
                <a:cs typeface="Verdana" panose="020B0604030504040204" pitchFamily="34" charset="0"/>
              </a:rPr>
              <a:t>PRINCIPIO DE INCLUSIÓN - EXCLUSIÓN</a:t>
            </a:r>
            <a:endParaRPr sz="2400" b="1" dirty="0">
              <a:solidFill>
                <a:schemeClr val="bg1"/>
              </a:solidFill>
              <a:latin typeface="Verdana" panose="020B0604030504040204" pitchFamily="34" charset="0"/>
              <a:ea typeface="Verdana" panose="020B0604030504040204" pitchFamily="34" charset="0"/>
              <a:cs typeface="Verdana" panose="020B0604030504040204" pitchFamily="34" charset="0"/>
            </a:endParaRPr>
          </a:p>
        </p:txBody>
      </p:sp>
      <p:sp>
        <p:nvSpPr>
          <p:cNvPr id="6" name="object 12"/>
          <p:cNvSpPr/>
          <p:nvPr/>
        </p:nvSpPr>
        <p:spPr>
          <a:xfrm>
            <a:off x="10242773" y="6153222"/>
            <a:ext cx="425227" cy="549401"/>
          </a:xfrm>
          <a:prstGeom prst="rect">
            <a:avLst/>
          </a:prstGeom>
          <a:blipFill>
            <a:blip r:embed="rId2" cstate="print"/>
            <a:stretch>
              <a:fillRect/>
            </a:stretch>
          </a:blipFill>
        </p:spPr>
        <p:txBody>
          <a:bodyPr wrap="square" lIns="0" tIns="0" rIns="0" bIns="0" rtlCol="0">
            <a:noAutofit/>
          </a:bodyPr>
          <a:lstStyle/>
          <a:p>
            <a:endParaRPr/>
          </a:p>
        </p:txBody>
      </p:sp>
      <p:sp>
        <p:nvSpPr>
          <p:cNvPr id="3" name="object 11">
            <a:extLst>
              <a:ext uri="{FF2B5EF4-FFF2-40B4-BE49-F238E27FC236}">
                <a16:creationId xmlns:a16="http://schemas.microsoft.com/office/drawing/2014/main" id="{46DBE57D-BC43-4A76-836D-DA3ECB0D8800}"/>
              </a:ext>
            </a:extLst>
          </p:cNvPr>
          <p:cNvSpPr/>
          <p:nvPr/>
        </p:nvSpPr>
        <p:spPr>
          <a:xfrm flipV="1">
            <a:off x="1524000" y="6049107"/>
            <a:ext cx="9144000" cy="64484"/>
          </a:xfrm>
          <a:custGeom>
            <a:avLst/>
            <a:gdLst/>
            <a:ahLst/>
            <a:cxnLst/>
            <a:rect l="l" t="t" r="r" b="b"/>
            <a:pathLst>
              <a:path w="9144000">
                <a:moveTo>
                  <a:pt x="9144000" y="0"/>
                </a:moveTo>
                <a:lnTo>
                  <a:pt x="20573" y="0"/>
                </a:lnTo>
              </a:path>
              <a:path w="9144000">
                <a:moveTo>
                  <a:pt x="20573" y="1"/>
                </a:moveTo>
                <a:lnTo>
                  <a:pt x="9144000" y="0"/>
                </a:lnTo>
              </a:path>
            </a:pathLst>
          </a:custGeom>
          <a:ln w="28575">
            <a:solidFill>
              <a:srgbClr val="E6031E"/>
            </a:solidFill>
          </a:ln>
        </p:spPr>
        <p:txBody>
          <a:bodyPr wrap="square" lIns="0" tIns="0" rIns="0" bIns="0" rtlCol="0">
            <a:noAutofit/>
          </a:bodyPr>
          <a:lstStyle/>
          <a:p>
            <a:endParaRPr/>
          </a:p>
        </p:txBody>
      </p:sp>
      <p:sp>
        <p:nvSpPr>
          <p:cNvPr id="8" name="CuadroTexto 7">
            <a:extLst>
              <a:ext uri="{FF2B5EF4-FFF2-40B4-BE49-F238E27FC236}">
                <a16:creationId xmlns:a16="http://schemas.microsoft.com/office/drawing/2014/main" id="{932481B4-8543-947D-05DB-233EB2D975E5}"/>
              </a:ext>
            </a:extLst>
          </p:cNvPr>
          <p:cNvSpPr txBox="1"/>
          <p:nvPr/>
        </p:nvSpPr>
        <p:spPr>
          <a:xfrm>
            <a:off x="1523999" y="1402522"/>
            <a:ext cx="9144000" cy="646331"/>
          </a:xfrm>
          <a:prstGeom prst="rect">
            <a:avLst/>
          </a:prstGeom>
          <a:noFill/>
        </p:spPr>
        <p:txBody>
          <a:bodyPr wrap="square" rtlCol="0">
            <a:spAutoFit/>
          </a:bodyPr>
          <a:lstStyle/>
          <a:p>
            <a:pPr algn="just"/>
            <a:r>
              <a:rPr lang="es-ES" b="1" dirty="0">
                <a:latin typeface="Verdana" panose="020B0604030504040204" pitchFamily="34" charset="0"/>
                <a:ea typeface="Verdana" panose="020B0604030504040204" pitchFamily="34" charset="0"/>
                <a:cs typeface="Verdana" panose="020B0604030504040204" pitchFamily="34" charset="0"/>
              </a:rPr>
              <a:t>Ejemplo: </a:t>
            </a:r>
            <a:r>
              <a:rPr lang="es-ES" dirty="0">
                <a:latin typeface="Verdana" panose="020B0604030504040204" pitchFamily="34" charset="0"/>
                <a:ea typeface="Verdana" panose="020B0604030504040204" pitchFamily="34" charset="0"/>
                <a:cs typeface="Verdana" panose="020B0604030504040204" pitchFamily="34" charset="0"/>
              </a:rPr>
              <a:t>¿Cuántas cadenas de bits de longitud ocho que comienzan con el bit 1 o cuyos dos últimos bits son 00 se pueden encontrar?</a:t>
            </a:r>
            <a:endParaRPr lang="es-CO" dirty="0">
              <a:latin typeface="Verdana" panose="020B0604030504040204" pitchFamily="34" charset="0"/>
              <a:ea typeface="Verdana" panose="020B0604030504040204" pitchFamily="34" charset="0"/>
              <a:cs typeface="Verdana" panose="020B0604030504040204" pitchFamily="34" charset="0"/>
            </a:endParaRPr>
          </a:p>
        </p:txBody>
      </p:sp>
      <p:sp>
        <p:nvSpPr>
          <p:cNvPr id="7" name="CuadroTexto 6">
            <a:extLst>
              <a:ext uri="{FF2B5EF4-FFF2-40B4-BE49-F238E27FC236}">
                <a16:creationId xmlns:a16="http://schemas.microsoft.com/office/drawing/2014/main" id="{9DFF85C3-A964-4811-11A2-E74054AD01A8}"/>
              </a:ext>
            </a:extLst>
          </p:cNvPr>
          <p:cNvSpPr txBox="1"/>
          <p:nvPr/>
        </p:nvSpPr>
        <p:spPr>
          <a:xfrm>
            <a:off x="1523999" y="2616238"/>
            <a:ext cx="9144000" cy="2031325"/>
          </a:xfrm>
          <a:prstGeom prst="rect">
            <a:avLst/>
          </a:prstGeom>
          <a:noFill/>
        </p:spPr>
        <p:txBody>
          <a:bodyPr wrap="square" rtlCol="0">
            <a:spAutoFit/>
          </a:bodyPr>
          <a:lstStyle/>
          <a:p>
            <a:pPr algn="just"/>
            <a:r>
              <a:rPr lang="es-ES" b="1" dirty="0">
                <a:latin typeface="Verdana" panose="020B0604030504040204" pitchFamily="34" charset="0"/>
                <a:ea typeface="Verdana" panose="020B0604030504040204" pitchFamily="34" charset="0"/>
                <a:cs typeface="Verdana" panose="020B0604030504040204" pitchFamily="34" charset="0"/>
              </a:rPr>
              <a:t>Solución. </a:t>
            </a:r>
          </a:p>
          <a:p>
            <a:pPr algn="just"/>
            <a:r>
              <a:rPr lang="es-ES" b="1" dirty="0">
                <a:latin typeface="Verdana" panose="020B0604030504040204" pitchFamily="34" charset="0"/>
                <a:ea typeface="Verdana" panose="020B0604030504040204" pitchFamily="34" charset="0"/>
                <a:cs typeface="Verdana" panose="020B0604030504040204" pitchFamily="34" charset="0"/>
              </a:rPr>
              <a:t>La primera Tarea.</a:t>
            </a:r>
          </a:p>
          <a:p>
            <a:pPr algn="just"/>
            <a:r>
              <a:rPr lang="es-ES" dirty="0">
                <a:latin typeface="Verdana" panose="020B0604030504040204" pitchFamily="34" charset="0"/>
                <a:ea typeface="Verdana" panose="020B0604030504040204" pitchFamily="34" charset="0"/>
                <a:cs typeface="Verdana" panose="020B0604030504040204" pitchFamily="34" charset="0"/>
              </a:rPr>
              <a:t>El primer bit se puede elegir de una sola forma y los restantes se pueden escoger de dos formas distintas. Aplicando la regla del producto:</a:t>
            </a:r>
          </a:p>
          <a:p>
            <a:pPr algn="just"/>
            <a:endParaRPr lang="es-ES" b="1" dirty="0">
              <a:latin typeface="Verdana" panose="020B0604030504040204" pitchFamily="34" charset="0"/>
              <a:ea typeface="Verdana" panose="020B0604030504040204" pitchFamily="34" charset="0"/>
              <a:cs typeface="Verdana" panose="020B0604030504040204" pitchFamily="34" charset="0"/>
            </a:endParaRPr>
          </a:p>
          <a:p>
            <a:pPr algn="just"/>
            <a:r>
              <a:rPr lang="es-ES" b="1" dirty="0">
                <a:latin typeface="Verdana" panose="020B0604030504040204" pitchFamily="34" charset="0"/>
                <a:ea typeface="Verdana" panose="020B0604030504040204" pitchFamily="34" charset="0"/>
                <a:cs typeface="Verdana" panose="020B0604030504040204" pitchFamily="34" charset="0"/>
              </a:rPr>
              <a:t>1 * 2 * 2 * 2 * 2 * 2 * 2 * 2 = 1 *</a:t>
            </a:r>
            <a:r>
              <a:rPr lang="es-CO" b="1" kern="100" dirty="0">
                <a:latin typeface="Verdana" panose="020B0604030504040204" pitchFamily="34" charset="0"/>
                <a:ea typeface="Verdana" panose="020B0604030504040204" pitchFamily="34" charset="0"/>
                <a:cs typeface="Times New Roman" panose="02020603050405020304" pitchFamily="18" charset="0"/>
              </a:rPr>
              <a:t> 2</a:t>
            </a:r>
            <a:r>
              <a:rPr lang="es-CO" b="1" kern="100" baseline="30000" dirty="0">
                <a:latin typeface="Verdana" panose="020B0604030504040204" pitchFamily="34" charset="0"/>
                <a:ea typeface="Verdana" panose="020B0604030504040204" pitchFamily="34" charset="0"/>
                <a:cs typeface="Times New Roman" panose="02020603050405020304" pitchFamily="18" charset="0"/>
              </a:rPr>
              <a:t>7 </a:t>
            </a:r>
            <a:endParaRPr lang="es-ES" b="1" dirty="0">
              <a:latin typeface="Verdana" panose="020B0604030504040204" pitchFamily="34" charset="0"/>
              <a:ea typeface="Verdana" panose="020B0604030504040204" pitchFamily="34" charset="0"/>
              <a:cs typeface="Verdana" panose="020B0604030504040204" pitchFamily="34" charset="0"/>
            </a:endParaRPr>
          </a:p>
          <a:p>
            <a:pPr algn="just"/>
            <a:endParaRPr lang="es-ES" b="1" dirty="0">
              <a:latin typeface="Verdana" panose="020B0604030504040204" pitchFamily="34" charset="0"/>
              <a:ea typeface="Verdana" panose="020B0604030504040204" pitchFamily="34" charset="0"/>
              <a:cs typeface="Verdana" panose="020B0604030504040204" pitchFamily="34" charset="0"/>
            </a:endParaRPr>
          </a:p>
        </p:txBody>
      </p:sp>
    </p:spTree>
    <p:extLst>
      <p:ext uri="{BB962C8B-B14F-4D97-AF65-F5344CB8AC3E}">
        <p14:creationId xmlns:p14="http://schemas.microsoft.com/office/powerpoint/2010/main" val="33826494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ppt_x"/>
                                          </p:val>
                                        </p:tav>
                                        <p:tav tm="100000">
                                          <p:val>
                                            <p:strVal val="#ppt_x"/>
                                          </p:val>
                                        </p:tav>
                                      </p:tavLst>
                                    </p:anim>
                                    <p:anim calcmode="lin" valueType="num">
                                      <p:cBhvr additive="base">
                                        <p:cTn id="8"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7"/>
                                        </p:tgtEl>
                                        <p:attrNameLst>
                                          <p:attrName>style.visibility</p:attrName>
                                        </p:attrNameLst>
                                      </p:cBhvr>
                                      <p:to>
                                        <p:strVal val="visible"/>
                                      </p:to>
                                    </p:set>
                                    <p:anim calcmode="lin" valueType="num">
                                      <p:cBhvr additive="base">
                                        <p:cTn id="13" dur="500" fill="hold"/>
                                        <p:tgtEl>
                                          <p:spTgt spid="7"/>
                                        </p:tgtEl>
                                        <p:attrNameLst>
                                          <p:attrName>ppt_x</p:attrName>
                                        </p:attrNameLst>
                                      </p:cBhvr>
                                      <p:tavLst>
                                        <p:tav tm="0">
                                          <p:val>
                                            <p:strVal val="#ppt_x"/>
                                          </p:val>
                                        </p:tav>
                                        <p:tav tm="100000">
                                          <p:val>
                                            <p:strVal val="#ppt_x"/>
                                          </p:val>
                                        </p:tav>
                                      </p:tavLst>
                                    </p:anim>
                                    <p:anim calcmode="lin" valueType="num">
                                      <p:cBhvr additive="base">
                                        <p:cTn id="14"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7"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9"/>
          <p:cNvSpPr/>
          <p:nvPr/>
        </p:nvSpPr>
        <p:spPr>
          <a:xfrm>
            <a:off x="1524000" y="473139"/>
            <a:ext cx="9144000" cy="649224"/>
          </a:xfrm>
          <a:custGeom>
            <a:avLst/>
            <a:gdLst/>
            <a:ahLst/>
            <a:cxnLst/>
            <a:rect l="l" t="t" r="r" b="b"/>
            <a:pathLst>
              <a:path w="9144000" h="649224">
                <a:moveTo>
                  <a:pt x="9144000" y="649223"/>
                </a:moveTo>
                <a:lnTo>
                  <a:pt x="9144000" y="0"/>
                </a:lnTo>
                <a:lnTo>
                  <a:pt x="0" y="0"/>
                </a:lnTo>
                <a:lnTo>
                  <a:pt x="0" y="649224"/>
                </a:lnTo>
                <a:lnTo>
                  <a:pt x="9144000" y="649223"/>
                </a:lnTo>
                <a:close/>
              </a:path>
            </a:pathLst>
          </a:custGeom>
          <a:solidFill>
            <a:srgbClr val="E6031E"/>
          </a:solidFill>
        </p:spPr>
        <p:txBody>
          <a:bodyPr wrap="square" lIns="0" tIns="0" rIns="0" bIns="0" rtlCol="0">
            <a:noAutofit/>
          </a:bodyPr>
          <a:lstStyle/>
          <a:p>
            <a:pPr algn="ctr"/>
            <a:r>
              <a:rPr lang="es-CO" sz="2400" b="1" dirty="0">
                <a:solidFill>
                  <a:schemeClr val="bg1"/>
                </a:solidFill>
                <a:latin typeface="Verdana" panose="020B0604030504040204" pitchFamily="34" charset="0"/>
                <a:ea typeface="Verdana" panose="020B0604030504040204" pitchFamily="34" charset="0"/>
                <a:cs typeface="Verdana" panose="020B0604030504040204" pitchFamily="34" charset="0"/>
              </a:rPr>
              <a:t>PRINCIPIO DE INCLUSIÓN - EXCLUSIÓN</a:t>
            </a:r>
            <a:endParaRPr sz="2400" b="1" dirty="0">
              <a:solidFill>
                <a:schemeClr val="bg1"/>
              </a:solidFill>
              <a:latin typeface="Verdana" panose="020B0604030504040204" pitchFamily="34" charset="0"/>
              <a:ea typeface="Verdana" panose="020B0604030504040204" pitchFamily="34" charset="0"/>
              <a:cs typeface="Verdana" panose="020B0604030504040204" pitchFamily="34" charset="0"/>
            </a:endParaRPr>
          </a:p>
        </p:txBody>
      </p:sp>
      <p:sp>
        <p:nvSpPr>
          <p:cNvPr id="6" name="object 12"/>
          <p:cNvSpPr/>
          <p:nvPr/>
        </p:nvSpPr>
        <p:spPr>
          <a:xfrm>
            <a:off x="10242773" y="6153222"/>
            <a:ext cx="425227" cy="549401"/>
          </a:xfrm>
          <a:prstGeom prst="rect">
            <a:avLst/>
          </a:prstGeom>
          <a:blipFill>
            <a:blip r:embed="rId2" cstate="print"/>
            <a:stretch>
              <a:fillRect/>
            </a:stretch>
          </a:blipFill>
        </p:spPr>
        <p:txBody>
          <a:bodyPr wrap="square" lIns="0" tIns="0" rIns="0" bIns="0" rtlCol="0">
            <a:noAutofit/>
          </a:bodyPr>
          <a:lstStyle/>
          <a:p>
            <a:endParaRPr/>
          </a:p>
        </p:txBody>
      </p:sp>
      <p:sp>
        <p:nvSpPr>
          <p:cNvPr id="3" name="object 11">
            <a:extLst>
              <a:ext uri="{FF2B5EF4-FFF2-40B4-BE49-F238E27FC236}">
                <a16:creationId xmlns:a16="http://schemas.microsoft.com/office/drawing/2014/main" id="{46DBE57D-BC43-4A76-836D-DA3ECB0D8800}"/>
              </a:ext>
            </a:extLst>
          </p:cNvPr>
          <p:cNvSpPr/>
          <p:nvPr/>
        </p:nvSpPr>
        <p:spPr>
          <a:xfrm flipV="1">
            <a:off x="1524000" y="6049107"/>
            <a:ext cx="9144000" cy="64484"/>
          </a:xfrm>
          <a:custGeom>
            <a:avLst/>
            <a:gdLst/>
            <a:ahLst/>
            <a:cxnLst/>
            <a:rect l="l" t="t" r="r" b="b"/>
            <a:pathLst>
              <a:path w="9144000">
                <a:moveTo>
                  <a:pt x="9144000" y="0"/>
                </a:moveTo>
                <a:lnTo>
                  <a:pt x="20573" y="0"/>
                </a:lnTo>
              </a:path>
              <a:path w="9144000">
                <a:moveTo>
                  <a:pt x="20573" y="1"/>
                </a:moveTo>
                <a:lnTo>
                  <a:pt x="9144000" y="0"/>
                </a:lnTo>
              </a:path>
            </a:pathLst>
          </a:custGeom>
          <a:ln w="28575">
            <a:solidFill>
              <a:srgbClr val="E6031E"/>
            </a:solidFill>
          </a:ln>
        </p:spPr>
        <p:txBody>
          <a:bodyPr wrap="square" lIns="0" tIns="0" rIns="0" bIns="0" rtlCol="0">
            <a:noAutofit/>
          </a:bodyPr>
          <a:lstStyle/>
          <a:p>
            <a:endParaRPr/>
          </a:p>
        </p:txBody>
      </p:sp>
      <p:sp>
        <p:nvSpPr>
          <p:cNvPr id="8" name="CuadroTexto 7">
            <a:extLst>
              <a:ext uri="{FF2B5EF4-FFF2-40B4-BE49-F238E27FC236}">
                <a16:creationId xmlns:a16="http://schemas.microsoft.com/office/drawing/2014/main" id="{932481B4-8543-947D-05DB-233EB2D975E5}"/>
              </a:ext>
            </a:extLst>
          </p:cNvPr>
          <p:cNvSpPr txBox="1"/>
          <p:nvPr/>
        </p:nvSpPr>
        <p:spPr>
          <a:xfrm>
            <a:off x="1523999" y="1402522"/>
            <a:ext cx="9144000" cy="646331"/>
          </a:xfrm>
          <a:prstGeom prst="rect">
            <a:avLst/>
          </a:prstGeom>
          <a:noFill/>
        </p:spPr>
        <p:txBody>
          <a:bodyPr wrap="square" rtlCol="0">
            <a:spAutoFit/>
          </a:bodyPr>
          <a:lstStyle/>
          <a:p>
            <a:pPr algn="just"/>
            <a:r>
              <a:rPr lang="es-ES" b="1" dirty="0">
                <a:latin typeface="Verdana" panose="020B0604030504040204" pitchFamily="34" charset="0"/>
                <a:ea typeface="Verdana" panose="020B0604030504040204" pitchFamily="34" charset="0"/>
                <a:cs typeface="Verdana" panose="020B0604030504040204" pitchFamily="34" charset="0"/>
              </a:rPr>
              <a:t>Ejemplo: </a:t>
            </a:r>
            <a:r>
              <a:rPr lang="es-ES" dirty="0">
                <a:latin typeface="Verdana" panose="020B0604030504040204" pitchFamily="34" charset="0"/>
                <a:ea typeface="Verdana" panose="020B0604030504040204" pitchFamily="34" charset="0"/>
                <a:cs typeface="Verdana" panose="020B0604030504040204" pitchFamily="34" charset="0"/>
              </a:rPr>
              <a:t>¿cuántas cadenas de bits de longitud ocho que comienzan con el bit 1 o cuyos dos últimos bits son 00 se pueden encontrar?</a:t>
            </a:r>
            <a:endParaRPr lang="es-CO" dirty="0">
              <a:latin typeface="Verdana" panose="020B0604030504040204" pitchFamily="34" charset="0"/>
              <a:ea typeface="Verdana" panose="020B0604030504040204" pitchFamily="34" charset="0"/>
              <a:cs typeface="Verdana" panose="020B0604030504040204" pitchFamily="34" charset="0"/>
            </a:endParaRPr>
          </a:p>
        </p:txBody>
      </p:sp>
      <p:sp>
        <p:nvSpPr>
          <p:cNvPr id="7" name="CuadroTexto 6">
            <a:extLst>
              <a:ext uri="{FF2B5EF4-FFF2-40B4-BE49-F238E27FC236}">
                <a16:creationId xmlns:a16="http://schemas.microsoft.com/office/drawing/2014/main" id="{9DFF85C3-A964-4811-11A2-E74054AD01A8}"/>
              </a:ext>
            </a:extLst>
          </p:cNvPr>
          <p:cNvSpPr txBox="1"/>
          <p:nvPr/>
        </p:nvSpPr>
        <p:spPr>
          <a:xfrm>
            <a:off x="1523999" y="2616238"/>
            <a:ext cx="9144000" cy="2308324"/>
          </a:xfrm>
          <a:prstGeom prst="rect">
            <a:avLst/>
          </a:prstGeom>
          <a:noFill/>
        </p:spPr>
        <p:txBody>
          <a:bodyPr wrap="square" rtlCol="0">
            <a:spAutoFit/>
          </a:bodyPr>
          <a:lstStyle/>
          <a:p>
            <a:pPr algn="just"/>
            <a:r>
              <a:rPr lang="es-ES" b="1" dirty="0">
                <a:latin typeface="Verdana" panose="020B0604030504040204" pitchFamily="34" charset="0"/>
                <a:ea typeface="Verdana" panose="020B0604030504040204" pitchFamily="34" charset="0"/>
                <a:cs typeface="Verdana" panose="020B0604030504040204" pitchFamily="34" charset="0"/>
              </a:rPr>
              <a:t>Solución. </a:t>
            </a:r>
          </a:p>
          <a:p>
            <a:pPr algn="just"/>
            <a:r>
              <a:rPr lang="es-ES" b="1" dirty="0">
                <a:latin typeface="Verdana" panose="020B0604030504040204" pitchFamily="34" charset="0"/>
                <a:ea typeface="Verdana" panose="020B0604030504040204" pitchFamily="34" charset="0"/>
                <a:cs typeface="Verdana" panose="020B0604030504040204" pitchFamily="34" charset="0"/>
              </a:rPr>
              <a:t>La segunda Tarea.</a:t>
            </a:r>
          </a:p>
          <a:p>
            <a:pPr algn="just"/>
            <a:r>
              <a:rPr lang="es-MX" dirty="0">
                <a:latin typeface="Verdana" panose="020B0604030504040204" pitchFamily="34" charset="0"/>
                <a:ea typeface="Verdana" panose="020B0604030504040204" pitchFamily="34" charset="0"/>
                <a:cs typeface="Verdana" panose="020B0604030504040204" pitchFamily="34" charset="0"/>
              </a:rPr>
              <a:t>Los dos últimos bits se pueden</a:t>
            </a:r>
            <a:r>
              <a:rPr lang="es-ES" dirty="0">
                <a:latin typeface="Verdana" panose="020B0604030504040204" pitchFamily="34" charset="0"/>
                <a:ea typeface="Verdana" panose="020B0604030504040204" pitchFamily="34" charset="0"/>
                <a:cs typeface="Verdana" panose="020B0604030504040204" pitchFamily="34" charset="0"/>
              </a:rPr>
              <a:t> elegir de una sola forma y los restantes se pueden escoger de dos formas distintas. Aplicando la regla del producto:</a:t>
            </a:r>
          </a:p>
          <a:p>
            <a:pPr algn="just"/>
            <a:endParaRPr lang="es-ES" b="1" dirty="0">
              <a:latin typeface="Verdana" panose="020B0604030504040204" pitchFamily="34" charset="0"/>
              <a:ea typeface="Verdana" panose="020B0604030504040204" pitchFamily="34" charset="0"/>
              <a:cs typeface="Verdana" panose="020B0604030504040204" pitchFamily="34" charset="0"/>
            </a:endParaRPr>
          </a:p>
          <a:p>
            <a:pPr algn="just"/>
            <a:r>
              <a:rPr lang="es-ES" b="1" dirty="0">
                <a:latin typeface="Verdana" panose="020B0604030504040204" pitchFamily="34" charset="0"/>
                <a:ea typeface="Verdana" panose="020B0604030504040204" pitchFamily="34" charset="0"/>
                <a:cs typeface="Verdana" panose="020B0604030504040204" pitchFamily="34" charset="0"/>
              </a:rPr>
              <a:t>2 * 2 * 2 * 2 * 2 * 2 * 1 * 1 = </a:t>
            </a:r>
            <a:r>
              <a:rPr lang="es-CO" b="1" kern="100" dirty="0">
                <a:latin typeface="Verdana" panose="020B0604030504040204" pitchFamily="34" charset="0"/>
                <a:ea typeface="Verdana" panose="020B0604030504040204" pitchFamily="34" charset="0"/>
                <a:cs typeface="Times New Roman" panose="02020603050405020304" pitchFamily="18" charset="0"/>
              </a:rPr>
              <a:t>2</a:t>
            </a:r>
            <a:r>
              <a:rPr lang="es-CO" b="1" kern="100" baseline="30000" dirty="0">
                <a:latin typeface="Verdana" panose="020B0604030504040204" pitchFamily="34" charset="0"/>
                <a:ea typeface="Verdana" panose="020B0604030504040204" pitchFamily="34" charset="0"/>
                <a:cs typeface="Times New Roman" panose="02020603050405020304" pitchFamily="18" charset="0"/>
              </a:rPr>
              <a:t>6</a:t>
            </a:r>
            <a:r>
              <a:rPr lang="es-CO" b="1" kern="100" dirty="0">
                <a:latin typeface="Verdana" panose="020B0604030504040204" pitchFamily="34" charset="0"/>
                <a:ea typeface="Verdana" panose="020B0604030504040204" pitchFamily="34" charset="0"/>
                <a:cs typeface="Times New Roman" panose="02020603050405020304" pitchFamily="18" charset="0"/>
              </a:rPr>
              <a:t> </a:t>
            </a:r>
            <a:r>
              <a:rPr lang="es-CO" kern="100" dirty="0">
                <a:latin typeface="Verdana" panose="020B0604030504040204" pitchFamily="34" charset="0"/>
                <a:ea typeface="Verdana" panose="020B0604030504040204" pitchFamily="34" charset="0"/>
                <a:cs typeface="Times New Roman" panose="02020603050405020304" pitchFamily="18" charset="0"/>
              </a:rPr>
              <a:t>Formas de construir una cadena de longitud ocho que termina en 00, aplicando la regla del producto.</a:t>
            </a:r>
            <a:r>
              <a:rPr lang="es-CO" kern="100" baseline="30000" dirty="0">
                <a:latin typeface="Verdana" panose="020B0604030504040204" pitchFamily="34" charset="0"/>
                <a:ea typeface="Verdana" panose="020B0604030504040204" pitchFamily="34" charset="0"/>
                <a:cs typeface="Times New Roman" panose="02020603050405020304" pitchFamily="18" charset="0"/>
              </a:rPr>
              <a:t> </a:t>
            </a:r>
            <a:endParaRPr lang="es-ES" dirty="0">
              <a:latin typeface="Verdana" panose="020B0604030504040204" pitchFamily="34" charset="0"/>
              <a:ea typeface="Verdana" panose="020B0604030504040204" pitchFamily="34" charset="0"/>
              <a:cs typeface="Verdana" panose="020B0604030504040204" pitchFamily="34" charset="0"/>
            </a:endParaRPr>
          </a:p>
          <a:p>
            <a:pPr algn="just"/>
            <a:endParaRPr lang="es-ES" b="1" dirty="0">
              <a:latin typeface="Verdana" panose="020B0604030504040204" pitchFamily="34" charset="0"/>
              <a:ea typeface="Verdana" panose="020B0604030504040204" pitchFamily="34" charset="0"/>
              <a:cs typeface="Verdana" panose="020B0604030504040204" pitchFamily="34" charset="0"/>
            </a:endParaRPr>
          </a:p>
        </p:txBody>
      </p:sp>
    </p:spTree>
    <p:extLst>
      <p:ext uri="{BB962C8B-B14F-4D97-AF65-F5344CB8AC3E}">
        <p14:creationId xmlns:p14="http://schemas.microsoft.com/office/powerpoint/2010/main" val="169491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ppt_x"/>
                                          </p:val>
                                        </p:tav>
                                        <p:tav tm="100000">
                                          <p:val>
                                            <p:strVal val="#ppt_x"/>
                                          </p:val>
                                        </p:tav>
                                      </p:tavLst>
                                    </p:anim>
                                    <p:anim calcmode="lin" valueType="num">
                                      <p:cBhvr additive="base">
                                        <p:cTn id="8"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7"/>
                                        </p:tgtEl>
                                        <p:attrNameLst>
                                          <p:attrName>style.visibility</p:attrName>
                                        </p:attrNameLst>
                                      </p:cBhvr>
                                      <p:to>
                                        <p:strVal val="visible"/>
                                      </p:to>
                                    </p:set>
                                    <p:anim calcmode="lin" valueType="num">
                                      <p:cBhvr additive="base">
                                        <p:cTn id="13" dur="500" fill="hold"/>
                                        <p:tgtEl>
                                          <p:spTgt spid="7"/>
                                        </p:tgtEl>
                                        <p:attrNameLst>
                                          <p:attrName>ppt_x</p:attrName>
                                        </p:attrNameLst>
                                      </p:cBhvr>
                                      <p:tavLst>
                                        <p:tav tm="0">
                                          <p:val>
                                            <p:strVal val="#ppt_x"/>
                                          </p:val>
                                        </p:tav>
                                        <p:tav tm="100000">
                                          <p:val>
                                            <p:strVal val="#ppt_x"/>
                                          </p:val>
                                        </p:tav>
                                      </p:tavLst>
                                    </p:anim>
                                    <p:anim calcmode="lin" valueType="num">
                                      <p:cBhvr additive="base">
                                        <p:cTn id="14"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7"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9"/>
          <p:cNvSpPr/>
          <p:nvPr/>
        </p:nvSpPr>
        <p:spPr>
          <a:xfrm>
            <a:off x="1524000" y="473139"/>
            <a:ext cx="9144000" cy="649224"/>
          </a:xfrm>
          <a:custGeom>
            <a:avLst/>
            <a:gdLst/>
            <a:ahLst/>
            <a:cxnLst/>
            <a:rect l="l" t="t" r="r" b="b"/>
            <a:pathLst>
              <a:path w="9144000" h="649224">
                <a:moveTo>
                  <a:pt x="9144000" y="649223"/>
                </a:moveTo>
                <a:lnTo>
                  <a:pt x="9144000" y="0"/>
                </a:lnTo>
                <a:lnTo>
                  <a:pt x="0" y="0"/>
                </a:lnTo>
                <a:lnTo>
                  <a:pt x="0" y="649224"/>
                </a:lnTo>
                <a:lnTo>
                  <a:pt x="9144000" y="649223"/>
                </a:lnTo>
                <a:close/>
              </a:path>
            </a:pathLst>
          </a:custGeom>
          <a:solidFill>
            <a:srgbClr val="E6031E"/>
          </a:solidFill>
        </p:spPr>
        <p:txBody>
          <a:bodyPr wrap="square" lIns="0" tIns="0" rIns="0" bIns="0" rtlCol="0">
            <a:noAutofit/>
          </a:bodyPr>
          <a:lstStyle/>
          <a:p>
            <a:pPr algn="ctr"/>
            <a:r>
              <a:rPr lang="es-CO" sz="2400" b="1" dirty="0">
                <a:solidFill>
                  <a:schemeClr val="bg1"/>
                </a:solidFill>
                <a:latin typeface="Verdana" panose="020B0604030504040204" pitchFamily="34" charset="0"/>
                <a:ea typeface="Verdana" panose="020B0604030504040204" pitchFamily="34" charset="0"/>
                <a:cs typeface="Verdana" panose="020B0604030504040204" pitchFamily="34" charset="0"/>
              </a:rPr>
              <a:t>PRINCIPIO DE INCLUSIÓN - EXCLUSIÓN</a:t>
            </a:r>
            <a:endParaRPr sz="2400" b="1" dirty="0">
              <a:solidFill>
                <a:schemeClr val="bg1"/>
              </a:solidFill>
              <a:latin typeface="Verdana" panose="020B0604030504040204" pitchFamily="34" charset="0"/>
              <a:ea typeface="Verdana" panose="020B0604030504040204" pitchFamily="34" charset="0"/>
              <a:cs typeface="Verdana" panose="020B0604030504040204" pitchFamily="34" charset="0"/>
            </a:endParaRPr>
          </a:p>
        </p:txBody>
      </p:sp>
      <p:sp>
        <p:nvSpPr>
          <p:cNvPr id="6" name="object 12"/>
          <p:cNvSpPr/>
          <p:nvPr/>
        </p:nvSpPr>
        <p:spPr>
          <a:xfrm>
            <a:off x="10242773" y="6153222"/>
            <a:ext cx="425227" cy="549401"/>
          </a:xfrm>
          <a:prstGeom prst="rect">
            <a:avLst/>
          </a:prstGeom>
          <a:blipFill>
            <a:blip r:embed="rId2" cstate="print"/>
            <a:stretch>
              <a:fillRect/>
            </a:stretch>
          </a:blipFill>
        </p:spPr>
        <p:txBody>
          <a:bodyPr wrap="square" lIns="0" tIns="0" rIns="0" bIns="0" rtlCol="0">
            <a:noAutofit/>
          </a:bodyPr>
          <a:lstStyle/>
          <a:p>
            <a:endParaRPr/>
          </a:p>
        </p:txBody>
      </p:sp>
      <p:sp>
        <p:nvSpPr>
          <p:cNvPr id="3" name="object 11">
            <a:extLst>
              <a:ext uri="{FF2B5EF4-FFF2-40B4-BE49-F238E27FC236}">
                <a16:creationId xmlns:a16="http://schemas.microsoft.com/office/drawing/2014/main" id="{46DBE57D-BC43-4A76-836D-DA3ECB0D8800}"/>
              </a:ext>
            </a:extLst>
          </p:cNvPr>
          <p:cNvSpPr/>
          <p:nvPr/>
        </p:nvSpPr>
        <p:spPr>
          <a:xfrm flipV="1">
            <a:off x="1524000" y="6049107"/>
            <a:ext cx="9144000" cy="64484"/>
          </a:xfrm>
          <a:custGeom>
            <a:avLst/>
            <a:gdLst/>
            <a:ahLst/>
            <a:cxnLst/>
            <a:rect l="l" t="t" r="r" b="b"/>
            <a:pathLst>
              <a:path w="9144000">
                <a:moveTo>
                  <a:pt x="9144000" y="0"/>
                </a:moveTo>
                <a:lnTo>
                  <a:pt x="20573" y="0"/>
                </a:lnTo>
              </a:path>
              <a:path w="9144000">
                <a:moveTo>
                  <a:pt x="20573" y="1"/>
                </a:moveTo>
                <a:lnTo>
                  <a:pt x="9144000" y="0"/>
                </a:lnTo>
              </a:path>
            </a:pathLst>
          </a:custGeom>
          <a:ln w="28575">
            <a:solidFill>
              <a:srgbClr val="E6031E"/>
            </a:solidFill>
          </a:ln>
        </p:spPr>
        <p:txBody>
          <a:bodyPr wrap="square" lIns="0" tIns="0" rIns="0" bIns="0" rtlCol="0">
            <a:noAutofit/>
          </a:bodyPr>
          <a:lstStyle/>
          <a:p>
            <a:endParaRPr/>
          </a:p>
        </p:txBody>
      </p:sp>
      <p:sp>
        <p:nvSpPr>
          <p:cNvPr id="8" name="CuadroTexto 7">
            <a:extLst>
              <a:ext uri="{FF2B5EF4-FFF2-40B4-BE49-F238E27FC236}">
                <a16:creationId xmlns:a16="http://schemas.microsoft.com/office/drawing/2014/main" id="{932481B4-8543-947D-05DB-233EB2D975E5}"/>
              </a:ext>
            </a:extLst>
          </p:cNvPr>
          <p:cNvSpPr txBox="1"/>
          <p:nvPr/>
        </p:nvSpPr>
        <p:spPr>
          <a:xfrm>
            <a:off x="1523999" y="1402522"/>
            <a:ext cx="9144000" cy="646331"/>
          </a:xfrm>
          <a:prstGeom prst="rect">
            <a:avLst/>
          </a:prstGeom>
          <a:noFill/>
        </p:spPr>
        <p:txBody>
          <a:bodyPr wrap="square" rtlCol="0">
            <a:spAutoFit/>
          </a:bodyPr>
          <a:lstStyle/>
          <a:p>
            <a:pPr algn="just"/>
            <a:r>
              <a:rPr lang="es-ES" b="1" dirty="0">
                <a:latin typeface="Verdana" panose="020B0604030504040204" pitchFamily="34" charset="0"/>
                <a:ea typeface="Verdana" panose="020B0604030504040204" pitchFamily="34" charset="0"/>
                <a:cs typeface="Verdana" panose="020B0604030504040204" pitchFamily="34" charset="0"/>
              </a:rPr>
              <a:t>Ejemplo: </a:t>
            </a:r>
            <a:r>
              <a:rPr lang="es-ES" dirty="0">
                <a:latin typeface="Verdana" panose="020B0604030504040204" pitchFamily="34" charset="0"/>
                <a:ea typeface="Verdana" panose="020B0604030504040204" pitchFamily="34" charset="0"/>
                <a:cs typeface="Verdana" panose="020B0604030504040204" pitchFamily="34" charset="0"/>
              </a:rPr>
              <a:t>¿Cuántas cadenas de bits de longitud ocho que comienzan con el bit 1 o cuyos dos últimos bits son 00 se pueden encontrar?</a:t>
            </a:r>
            <a:endParaRPr lang="es-CO" dirty="0">
              <a:latin typeface="Verdana" panose="020B0604030504040204" pitchFamily="34" charset="0"/>
              <a:ea typeface="Verdana" panose="020B0604030504040204" pitchFamily="34" charset="0"/>
              <a:cs typeface="Verdana" panose="020B0604030504040204" pitchFamily="34" charset="0"/>
            </a:endParaRPr>
          </a:p>
        </p:txBody>
      </p:sp>
      <p:sp>
        <p:nvSpPr>
          <p:cNvPr id="7" name="CuadroTexto 6">
            <a:extLst>
              <a:ext uri="{FF2B5EF4-FFF2-40B4-BE49-F238E27FC236}">
                <a16:creationId xmlns:a16="http://schemas.microsoft.com/office/drawing/2014/main" id="{9DFF85C3-A964-4811-11A2-E74054AD01A8}"/>
              </a:ext>
            </a:extLst>
          </p:cNvPr>
          <p:cNvSpPr txBox="1"/>
          <p:nvPr/>
        </p:nvSpPr>
        <p:spPr>
          <a:xfrm>
            <a:off x="1523999" y="2616238"/>
            <a:ext cx="9144000" cy="2031325"/>
          </a:xfrm>
          <a:prstGeom prst="rect">
            <a:avLst/>
          </a:prstGeom>
          <a:noFill/>
        </p:spPr>
        <p:txBody>
          <a:bodyPr wrap="square" rtlCol="0">
            <a:spAutoFit/>
          </a:bodyPr>
          <a:lstStyle/>
          <a:p>
            <a:pPr algn="just"/>
            <a:r>
              <a:rPr lang="es-ES" b="1" dirty="0">
                <a:latin typeface="Verdana" panose="020B0604030504040204" pitchFamily="34" charset="0"/>
                <a:ea typeface="Verdana" panose="020B0604030504040204" pitchFamily="34" charset="0"/>
                <a:cs typeface="Verdana" panose="020B0604030504040204" pitchFamily="34" charset="0"/>
              </a:rPr>
              <a:t>Solución. </a:t>
            </a:r>
          </a:p>
          <a:p>
            <a:pPr algn="just"/>
            <a:r>
              <a:rPr lang="es-MX" dirty="0">
                <a:latin typeface="Verdana" panose="020B0604030504040204" pitchFamily="34" charset="0"/>
                <a:ea typeface="Verdana" panose="020B0604030504040204" pitchFamily="34" charset="0"/>
                <a:cs typeface="Verdana" panose="020B0604030504040204" pitchFamily="34" charset="0"/>
              </a:rPr>
              <a:t>Ahora se analiza lo siguiente, las dos tareas simultáneamente, es decir, construir una cadena que inicie en 1 y termine en 00 se puede hacer:</a:t>
            </a:r>
          </a:p>
          <a:p>
            <a:pPr algn="just"/>
            <a:r>
              <a:rPr lang="es-MX" dirty="0">
                <a:latin typeface="Verdana" panose="020B0604030504040204" pitchFamily="34" charset="0"/>
                <a:ea typeface="Verdana" panose="020B0604030504040204" pitchFamily="34" charset="0"/>
                <a:cs typeface="Verdana" panose="020B0604030504040204" pitchFamily="34" charset="0"/>
              </a:rPr>
              <a:t> </a:t>
            </a:r>
          </a:p>
          <a:p>
            <a:pPr algn="just"/>
            <a:endParaRPr lang="es-MX" b="1" dirty="0">
              <a:latin typeface="Verdana" panose="020B0604030504040204" pitchFamily="34" charset="0"/>
              <a:ea typeface="Verdana" panose="020B0604030504040204" pitchFamily="34" charset="0"/>
              <a:cs typeface="Verdana" panose="020B0604030504040204" pitchFamily="34" charset="0"/>
            </a:endParaRPr>
          </a:p>
          <a:p>
            <a:pPr algn="just"/>
            <a:r>
              <a:rPr lang="es-ES" b="1" dirty="0">
                <a:latin typeface="Verdana" panose="020B0604030504040204" pitchFamily="34" charset="0"/>
                <a:ea typeface="Verdana" panose="020B0604030504040204" pitchFamily="34" charset="0"/>
                <a:cs typeface="Verdana" panose="020B0604030504040204" pitchFamily="34" charset="0"/>
              </a:rPr>
              <a:t>1 * 2 * 2 * 2 * 2 * 2 * 1 * 1 = </a:t>
            </a:r>
            <a:r>
              <a:rPr lang="es-CO" b="1" kern="100" dirty="0">
                <a:latin typeface="Verdana" panose="020B0604030504040204" pitchFamily="34" charset="0"/>
                <a:ea typeface="Verdana" panose="020B0604030504040204" pitchFamily="34" charset="0"/>
                <a:cs typeface="Times New Roman" panose="02020603050405020304" pitchFamily="18" charset="0"/>
              </a:rPr>
              <a:t>2</a:t>
            </a:r>
            <a:r>
              <a:rPr lang="es-CO" b="1" kern="100" baseline="30000" dirty="0">
                <a:latin typeface="Verdana" panose="020B0604030504040204" pitchFamily="34" charset="0"/>
                <a:ea typeface="Verdana" panose="020B0604030504040204" pitchFamily="34" charset="0"/>
                <a:cs typeface="Times New Roman" panose="02020603050405020304" pitchFamily="18" charset="0"/>
              </a:rPr>
              <a:t>5</a:t>
            </a:r>
            <a:r>
              <a:rPr lang="es-CO" b="1" kern="100" dirty="0">
                <a:latin typeface="Verdana" panose="020B0604030504040204" pitchFamily="34" charset="0"/>
                <a:ea typeface="Verdana" panose="020B0604030504040204" pitchFamily="34" charset="0"/>
                <a:cs typeface="Times New Roman" panose="02020603050405020304" pitchFamily="18" charset="0"/>
              </a:rPr>
              <a:t> = 32 formas posibles</a:t>
            </a:r>
            <a:endParaRPr lang="es-ES" dirty="0">
              <a:latin typeface="Verdana" panose="020B0604030504040204" pitchFamily="34" charset="0"/>
              <a:ea typeface="Verdana" panose="020B0604030504040204" pitchFamily="34" charset="0"/>
              <a:cs typeface="Verdana" panose="020B0604030504040204" pitchFamily="34" charset="0"/>
            </a:endParaRPr>
          </a:p>
          <a:p>
            <a:pPr algn="just"/>
            <a:endParaRPr lang="es-ES" b="1" dirty="0">
              <a:latin typeface="Verdana" panose="020B0604030504040204" pitchFamily="34" charset="0"/>
              <a:ea typeface="Verdana" panose="020B0604030504040204" pitchFamily="34" charset="0"/>
              <a:cs typeface="Verdana" panose="020B0604030504040204" pitchFamily="34" charset="0"/>
            </a:endParaRPr>
          </a:p>
        </p:txBody>
      </p:sp>
      <p:sp>
        <p:nvSpPr>
          <p:cNvPr id="2" name="CuadroTexto 1">
            <a:extLst>
              <a:ext uri="{FF2B5EF4-FFF2-40B4-BE49-F238E27FC236}">
                <a16:creationId xmlns:a16="http://schemas.microsoft.com/office/drawing/2014/main" id="{6F18A925-1289-033F-B6D3-CBDDB242391D}"/>
              </a:ext>
            </a:extLst>
          </p:cNvPr>
          <p:cNvSpPr txBox="1"/>
          <p:nvPr/>
        </p:nvSpPr>
        <p:spPr>
          <a:xfrm>
            <a:off x="1523999" y="4520601"/>
            <a:ext cx="9144000" cy="1754326"/>
          </a:xfrm>
          <a:prstGeom prst="rect">
            <a:avLst/>
          </a:prstGeom>
          <a:noFill/>
        </p:spPr>
        <p:txBody>
          <a:bodyPr wrap="square" rtlCol="0">
            <a:spAutoFit/>
          </a:bodyPr>
          <a:lstStyle/>
          <a:p>
            <a:pPr algn="just"/>
            <a:endParaRPr lang="es-MX" dirty="0">
              <a:latin typeface="Verdana" panose="020B0604030504040204" pitchFamily="34" charset="0"/>
              <a:ea typeface="Verdana" panose="020B0604030504040204" pitchFamily="34" charset="0"/>
              <a:cs typeface="Verdana" panose="020B0604030504040204" pitchFamily="34" charset="0"/>
            </a:endParaRPr>
          </a:p>
          <a:p>
            <a:pPr algn="just"/>
            <a:r>
              <a:rPr lang="es-MX" dirty="0">
                <a:latin typeface="Verdana" panose="020B0604030504040204" pitchFamily="34" charset="0"/>
                <a:ea typeface="Verdana" panose="020B0604030504040204" pitchFamily="34" charset="0"/>
                <a:cs typeface="Verdana" panose="020B0604030504040204" pitchFamily="34" charset="0"/>
              </a:rPr>
              <a:t>Por lo tanto, el número de cadenas de 8 bits que pueden construir que inician en 1 terminan en 00 se puede hacer :</a:t>
            </a:r>
          </a:p>
          <a:p>
            <a:pPr algn="just"/>
            <a:endParaRPr lang="es-MX" b="1" dirty="0">
              <a:latin typeface="Verdana" panose="020B0604030504040204" pitchFamily="34" charset="0"/>
              <a:ea typeface="Verdana" panose="020B0604030504040204" pitchFamily="34" charset="0"/>
              <a:cs typeface="Verdana" panose="020B0604030504040204" pitchFamily="34" charset="0"/>
            </a:endParaRPr>
          </a:p>
          <a:p>
            <a:pPr algn="just"/>
            <a:r>
              <a:rPr lang="es-CO" b="1" kern="100" dirty="0">
                <a:latin typeface="Verdana" panose="020B0604030504040204" pitchFamily="34" charset="0"/>
                <a:ea typeface="Verdana" panose="020B0604030504040204" pitchFamily="34" charset="0"/>
                <a:cs typeface="Times New Roman" panose="02020603050405020304" pitchFamily="18" charset="0"/>
              </a:rPr>
              <a:t> 128 + 64 -32 = 160 formas posibles</a:t>
            </a:r>
            <a:endParaRPr lang="es-ES" dirty="0">
              <a:latin typeface="Verdana" panose="020B0604030504040204" pitchFamily="34" charset="0"/>
              <a:ea typeface="Verdana" panose="020B0604030504040204" pitchFamily="34" charset="0"/>
              <a:cs typeface="Verdana" panose="020B0604030504040204" pitchFamily="34" charset="0"/>
            </a:endParaRPr>
          </a:p>
          <a:p>
            <a:pPr algn="just"/>
            <a:endParaRPr lang="es-ES" b="1" dirty="0">
              <a:latin typeface="Verdana" panose="020B0604030504040204" pitchFamily="34" charset="0"/>
              <a:ea typeface="Verdana" panose="020B0604030504040204" pitchFamily="34" charset="0"/>
              <a:cs typeface="Verdana" panose="020B0604030504040204" pitchFamily="34" charset="0"/>
            </a:endParaRPr>
          </a:p>
        </p:txBody>
      </p:sp>
    </p:spTree>
    <p:extLst>
      <p:ext uri="{BB962C8B-B14F-4D97-AF65-F5344CB8AC3E}">
        <p14:creationId xmlns:p14="http://schemas.microsoft.com/office/powerpoint/2010/main" val="31729195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ppt_x"/>
                                          </p:val>
                                        </p:tav>
                                        <p:tav tm="100000">
                                          <p:val>
                                            <p:strVal val="#ppt_x"/>
                                          </p:val>
                                        </p:tav>
                                      </p:tavLst>
                                    </p:anim>
                                    <p:anim calcmode="lin" valueType="num">
                                      <p:cBhvr additive="base">
                                        <p:cTn id="8"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7"/>
                                        </p:tgtEl>
                                        <p:attrNameLst>
                                          <p:attrName>style.visibility</p:attrName>
                                        </p:attrNameLst>
                                      </p:cBhvr>
                                      <p:to>
                                        <p:strVal val="visible"/>
                                      </p:to>
                                    </p:set>
                                    <p:anim calcmode="lin" valueType="num">
                                      <p:cBhvr additive="base">
                                        <p:cTn id="13" dur="500" fill="hold"/>
                                        <p:tgtEl>
                                          <p:spTgt spid="7"/>
                                        </p:tgtEl>
                                        <p:attrNameLst>
                                          <p:attrName>ppt_x</p:attrName>
                                        </p:attrNameLst>
                                      </p:cBhvr>
                                      <p:tavLst>
                                        <p:tav tm="0">
                                          <p:val>
                                            <p:strVal val="#ppt_x"/>
                                          </p:val>
                                        </p:tav>
                                        <p:tav tm="100000">
                                          <p:val>
                                            <p:strVal val="#ppt_x"/>
                                          </p:val>
                                        </p:tav>
                                      </p:tavLst>
                                    </p:anim>
                                    <p:anim calcmode="lin" valueType="num">
                                      <p:cBhvr additive="base">
                                        <p:cTn id="14"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2"/>
                                        </p:tgtEl>
                                        <p:attrNameLst>
                                          <p:attrName>style.visibility</p:attrName>
                                        </p:attrNameLst>
                                      </p:cBhvr>
                                      <p:to>
                                        <p:strVal val="visible"/>
                                      </p:to>
                                    </p:set>
                                    <p:anim calcmode="lin" valueType="num">
                                      <p:cBhvr additive="base">
                                        <p:cTn id="19" dur="500" fill="hold"/>
                                        <p:tgtEl>
                                          <p:spTgt spid="2"/>
                                        </p:tgtEl>
                                        <p:attrNameLst>
                                          <p:attrName>ppt_x</p:attrName>
                                        </p:attrNameLst>
                                      </p:cBhvr>
                                      <p:tavLst>
                                        <p:tav tm="0">
                                          <p:val>
                                            <p:strVal val="#ppt_x"/>
                                          </p:val>
                                        </p:tav>
                                        <p:tav tm="100000">
                                          <p:val>
                                            <p:strVal val="#ppt_x"/>
                                          </p:val>
                                        </p:tav>
                                      </p:tavLst>
                                    </p:anim>
                                    <p:anim calcmode="lin" valueType="num">
                                      <p:cBhvr additive="base">
                                        <p:cTn id="20"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7" grpId="0"/>
      <p:bldP spid="2"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9"/>
          <p:cNvSpPr/>
          <p:nvPr/>
        </p:nvSpPr>
        <p:spPr>
          <a:xfrm>
            <a:off x="1524000" y="473139"/>
            <a:ext cx="9144000" cy="649224"/>
          </a:xfrm>
          <a:custGeom>
            <a:avLst/>
            <a:gdLst/>
            <a:ahLst/>
            <a:cxnLst/>
            <a:rect l="l" t="t" r="r" b="b"/>
            <a:pathLst>
              <a:path w="9144000" h="649224">
                <a:moveTo>
                  <a:pt x="9144000" y="649223"/>
                </a:moveTo>
                <a:lnTo>
                  <a:pt x="9144000" y="0"/>
                </a:lnTo>
                <a:lnTo>
                  <a:pt x="0" y="0"/>
                </a:lnTo>
                <a:lnTo>
                  <a:pt x="0" y="649224"/>
                </a:lnTo>
                <a:lnTo>
                  <a:pt x="9144000" y="649223"/>
                </a:lnTo>
                <a:close/>
              </a:path>
            </a:pathLst>
          </a:custGeom>
          <a:solidFill>
            <a:srgbClr val="E6031E"/>
          </a:solidFill>
        </p:spPr>
        <p:txBody>
          <a:bodyPr wrap="square" lIns="0" tIns="0" rIns="0" bIns="0" rtlCol="0">
            <a:noAutofit/>
          </a:bodyPr>
          <a:lstStyle/>
          <a:p>
            <a:pPr algn="ctr"/>
            <a:r>
              <a:rPr lang="es-CO" sz="2400" b="1" dirty="0">
                <a:solidFill>
                  <a:schemeClr val="bg1"/>
                </a:solidFill>
                <a:latin typeface="Verdana" panose="020B0604030504040204" pitchFamily="34" charset="0"/>
                <a:ea typeface="Verdana" panose="020B0604030504040204" pitchFamily="34" charset="0"/>
                <a:cs typeface="Verdana" panose="020B0604030504040204" pitchFamily="34" charset="0"/>
              </a:rPr>
              <a:t>PRINCIPIO DE INCLUSIÓN - EXCLUSIÓN</a:t>
            </a:r>
            <a:endParaRPr sz="2400" b="1" dirty="0">
              <a:solidFill>
                <a:schemeClr val="bg1"/>
              </a:solidFill>
              <a:latin typeface="Verdana" panose="020B0604030504040204" pitchFamily="34" charset="0"/>
              <a:ea typeface="Verdana" panose="020B0604030504040204" pitchFamily="34" charset="0"/>
              <a:cs typeface="Verdana" panose="020B0604030504040204" pitchFamily="34" charset="0"/>
            </a:endParaRPr>
          </a:p>
        </p:txBody>
      </p:sp>
      <p:sp>
        <p:nvSpPr>
          <p:cNvPr id="6" name="object 12"/>
          <p:cNvSpPr/>
          <p:nvPr/>
        </p:nvSpPr>
        <p:spPr>
          <a:xfrm>
            <a:off x="10242773" y="6153222"/>
            <a:ext cx="425227" cy="549401"/>
          </a:xfrm>
          <a:prstGeom prst="rect">
            <a:avLst/>
          </a:prstGeom>
          <a:blipFill>
            <a:blip r:embed="rId2" cstate="print"/>
            <a:stretch>
              <a:fillRect/>
            </a:stretch>
          </a:blipFill>
        </p:spPr>
        <p:txBody>
          <a:bodyPr wrap="square" lIns="0" tIns="0" rIns="0" bIns="0" rtlCol="0">
            <a:noAutofit/>
          </a:bodyPr>
          <a:lstStyle/>
          <a:p>
            <a:endParaRPr/>
          </a:p>
        </p:txBody>
      </p:sp>
      <p:sp>
        <p:nvSpPr>
          <p:cNvPr id="3" name="object 11">
            <a:extLst>
              <a:ext uri="{FF2B5EF4-FFF2-40B4-BE49-F238E27FC236}">
                <a16:creationId xmlns:a16="http://schemas.microsoft.com/office/drawing/2014/main" id="{46DBE57D-BC43-4A76-836D-DA3ECB0D8800}"/>
              </a:ext>
            </a:extLst>
          </p:cNvPr>
          <p:cNvSpPr/>
          <p:nvPr/>
        </p:nvSpPr>
        <p:spPr>
          <a:xfrm flipV="1">
            <a:off x="1524000" y="6049107"/>
            <a:ext cx="9144000" cy="64484"/>
          </a:xfrm>
          <a:custGeom>
            <a:avLst/>
            <a:gdLst/>
            <a:ahLst/>
            <a:cxnLst/>
            <a:rect l="l" t="t" r="r" b="b"/>
            <a:pathLst>
              <a:path w="9144000">
                <a:moveTo>
                  <a:pt x="9144000" y="0"/>
                </a:moveTo>
                <a:lnTo>
                  <a:pt x="20573" y="0"/>
                </a:lnTo>
              </a:path>
              <a:path w="9144000">
                <a:moveTo>
                  <a:pt x="20573" y="1"/>
                </a:moveTo>
                <a:lnTo>
                  <a:pt x="9144000" y="0"/>
                </a:lnTo>
              </a:path>
            </a:pathLst>
          </a:custGeom>
          <a:ln w="28575">
            <a:solidFill>
              <a:srgbClr val="E6031E"/>
            </a:solidFill>
          </a:ln>
        </p:spPr>
        <p:txBody>
          <a:bodyPr wrap="square" lIns="0" tIns="0" rIns="0" bIns="0" rtlCol="0">
            <a:noAutofit/>
          </a:bodyPr>
          <a:lstStyle/>
          <a:p>
            <a:endParaRPr/>
          </a:p>
        </p:txBody>
      </p:sp>
      <p:sp>
        <p:nvSpPr>
          <p:cNvPr id="2" name="CuadroTexto 1">
            <a:extLst>
              <a:ext uri="{FF2B5EF4-FFF2-40B4-BE49-F238E27FC236}">
                <a16:creationId xmlns:a16="http://schemas.microsoft.com/office/drawing/2014/main" id="{48841838-5861-63D0-E654-3592BDB26C4F}"/>
              </a:ext>
            </a:extLst>
          </p:cNvPr>
          <p:cNvSpPr txBox="1"/>
          <p:nvPr/>
        </p:nvSpPr>
        <p:spPr>
          <a:xfrm>
            <a:off x="1523999" y="1165979"/>
            <a:ext cx="9144001" cy="1477328"/>
          </a:xfrm>
          <a:prstGeom prst="rect">
            <a:avLst/>
          </a:prstGeom>
          <a:noFill/>
        </p:spPr>
        <p:txBody>
          <a:bodyPr wrap="square" rtlCol="0">
            <a:spAutoFit/>
          </a:bodyPr>
          <a:lstStyle/>
          <a:p>
            <a:pPr algn="just"/>
            <a:r>
              <a:rPr lang="es-ES" b="1" dirty="0">
                <a:latin typeface="Verdana" panose="020B0604030504040204" pitchFamily="34" charset="0"/>
                <a:ea typeface="Verdana" panose="020B0604030504040204" pitchFamily="34" charset="0"/>
                <a:cs typeface="Verdana" panose="020B0604030504040204" pitchFamily="34" charset="0"/>
              </a:rPr>
              <a:t>Ejemplo: </a:t>
            </a:r>
            <a:r>
              <a:rPr lang="es-ES" dirty="0">
                <a:latin typeface="Verdana" panose="020B0604030504040204" pitchFamily="34" charset="0"/>
                <a:ea typeface="Verdana" panose="020B0604030504040204" pitchFamily="34" charset="0"/>
                <a:cs typeface="Verdana" panose="020B0604030504040204" pitchFamily="34" charset="0"/>
              </a:rPr>
              <a:t>Al tratar de tomar una decisión acerca de la ampliación de una planta, un administrador organiza a 12 de sus empleados en 2 comités. El comité A está formado por 5 miembros y está encargado de investigar los resultados favorables posibles de dicha ampliación. Los otros 7 empleados, del comité B, revisarán todas las posibles repercusiones desfavorables.</a:t>
            </a:r>
            <a:endParaRPr lang="es-CO" dirty="0">
              <a:latin typeface="Verdana" panose="020B0604030504040204" pitchFamily="34" charset="0"/>
              <a:ea typeface="Verdana" panose="020B0604030504040204" pitchFamily="34" charset="0"/>
              <a:cs typeface="Verdana" panose="020B0604030504040204" pitchFamily="34" charset="0"/>
            </a:endParaRPr>
          </a:p>
        </p:txBody>
      </p:sp>
      <p:sp>
        <p:nvSpPr>
          <p:cNvPr id="5" name="CuadroTexto 4">
            <a:extLst>
              <a:ext uri="{FF2B5EF4-FFF2-40B4-BE49-F238E27FC236}">
                <a16:creationId xmlns:a16="http://schemas.microsoft.com/office/drawing/2014/main" id="{34BFA22F-AD35-955F-7291-9B30754E45D0}"/>
              </a:ext>
            </a:extLst>
          </p:cNvPr>
          <p:cNvSpPr txBox="1"/>
          <p:nvPr/>
        </p:nvSpPr>
        <p:spPr>
          <a:xfrm>
            <a:off x="1524000" y="3429000"/>
            <a:ext cx="9144000" cy="1477328"/>
          </a:xfrm>
          <a:prstGeom prst="rect">
            <a:avLst/>
          </a:prstGeom>
          <a:noFill/>
        </p:spPr>
        <p:txBody>
          <a:bodyPr wrap="square" rtlCol="0">
            <a:spAutoFit/>
          </a:bodyPr>
          <a:lstStyle/>
          <a:p>
            <a:pPr algn="just"/>
            <a:r>
              <a:rPr lang="es-ES" b="1" dirty="0">
                <a:latin typeface="Verdana" panose="020B0604030504040204" pitchFamily="34" charset="0"/>
                <a:ea typeface="Verdana" panose="020B0604030504040204" pitchFamily="34" charset="0"/>
                <a:cs typeface="Verdana" panose="020B0604030504040204" pitchFamily="34" charset="0"/>
              </a:rPr>
              <a:t>Solución: </a:t>
            </a:r>
            <a:r>
              <a:rPr lang="es-ES" dirty="0">
                <a:latin typeface="Verdana" panose="020B0604030504040204" pitchFamily="34" charset="0"/>
                <a:ea typeface="Verdana" panose="020B0604030504040204" pitchFamily="34" charset="0"/>
                <a:cs typeface="Verdana" panose="020B0604030504040204" pitchFamily="34" charset="0"/>
              </a:rPr>
              <a:t>si decide hablar solo con un comité antes de tomar su decisión, entonces, por la regla de la suma existirán 12 empleados a los que puede llamar. Si decide hablar con un miembro del comité A el lunes y el martes con uno del B mediante la regla del producto puede elegir a esos 2 empleados de 5x7= 35 formas.</a:t>
            </a:r>
            <a:endParaRPr lang="es-CO" dirty="0">
              <a:latin typeface="Verdana" panose="020B0604030504040204" pitchFamily="34" charset="0"/>
              <a:ea typeface="Verdana" panose="020B0604030504040204" pitchFamily="34" charset="0"/>
              <a:cs typeface="Verdana" panose="020B0604030504040204" pitchFamily="34" charset="0"/>
            </a:endParaRPr>
          </a:p>
        </p:txBody>
      </p:sp>
    </p:spTree>
    <p:extLst>
      <p:ext uri="{BB962C8B-B14F-4D97-AF65-F5344CB8AC3E}">
        <p14:creationId xmlns:p14="http://schemas.microsoft.com/office/powerpoint/2010/main" val="19674416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9"/>
          <p:cNvSpPr/>
          <p:nvPr/>
        </p:nvSpPr>
        <p:spPr>
          <a:xfrm>
            <a:off x="1524000" y="473139"/>
            <a:ext cx="9144000" cy="649224"/>
          </a:xfrm>
          <a:custGeom>
            <a:avLst/>
            <a:gdLst/>
            <a:ahLst/>
            <a:cxnLst/>
            <a:rect l="l" t="t" r="r" b="b"/>
            <a:pathLst>
              <a:path w="9144000" h="649224">
                <a:moveTo>
                  <a:pt x="9144000" y="649223"/>
                </a:moveTo>
                <a:lnTo>
                  <a:pt x="9144000" y="0"/>
                </a:lnTo>
                <a:lnTo>
                  <a:pt x="0" y="0"/>
                </a:lnTo>
                <a:lnTo>
                  <a:pt x="0" y="649224"/>
                </a:lnTo>
                <a:lnTo>
                  <a:pt x="9144000" y="649223"/>
                </a:lnTo>
                <a:close/>
              </a:path>
            </a:pathLst>
          </a:custGeom>
          <a:solidFill>
            <a:srgbClr val="E6031E"/>
          </a:solidFill>
        </p:spPr>
        <p:txBody>
          <a:bodyPr wrap="square" lIns="0" tIns="0" rIns="0" bIns="0" rtlCol="0">
            <a:noAutofit/>
          </a:bodyPr>
          <a:lstStyle/>
          <a:p>
            <a:pPr algn="ctr"/>
            <a:r>
              <a:rPr lang="es-CO" sz="2400" b="1" dirty="0">
                <a:solidFill>
                  <a:schemeClr val="bg1"/>
                </a:solidFill>
                <a:latin typeface="Verdana" panose="020B0604030504040204" pitchFamily="34" charset="0"/>
                <a:ea typeface="Verdana" panose="020B0604030504040204" pitchFamily="34" charset="0"/>
                <a:cs typeface="Verdana" panose="020B0604030504040204" pitchFamily="34" charset="0"/>
              </a:rPr>
              <a:t>DIAGRAMAS EN ÁRBOL</a:t>
            </a:r>
            <a:endParaRPr sz="2400" b="1" dirty="0">
              <a:solidFill>
                <a:schemeClr val="bg1"/>
              </a:solidFill>
              <a:latin typeface="Verdana" panose="020B0604030504040204" pitchFamily="34" charset="0"/>
              <a:ea typeface="Verdana" panose="020B0604030504040204" pitchFamily="34" charset="0"/>
              <a:cs typeface="Verdana" panose="020B0604030504040204" pitchFamily="34" charset="0"/>
            </a:endParaRPr>
          </a:p>
        </p:txBody>
      </p:sp>
      <p:sp>
        <p:nvSpPr>
          <p:cNvPr id="6" name="object 12"/>
          <p:cNvSpPr/>
          <p:nvPr/>
        </p:nvSpPr>
        <p:spPr>
          <a:xfrm>
            <a:off x="10242773" y="6153222"/>
            <a:ext cx="425227" cy="549401"/>
          </a:xfrm>
          <a:prstGeom prst="rect">
            <a:avLst/>
          </a:prstGeom>
          <a:blipFill>
            <a:blip r:embed="rId2" cstate="print"/>
            <a:stretch>
              <a:fillRect/>
            </a:stretch>
          </a:blipFill>
        </p:spPr>
        <p:txBody>
          <a:bodyPr wrap="square" lIns="0" tIns="0" rIns="0" bIns="0" rtlCol="0">
            <a:noAutofit/>
          </a:bodyPr>
          <a:lstStyle/>
          <a:p>
            <a:endParaRPr/>
          </a:p>
        </p:txBody>
      </p:sp>
      <p:sp>
        <p:nvSpPr>
          <p:cNvPr id="3" name="object 11">
            <a:extLst>
              <a:ext uri="{FF2B5EF4-FFF2-40B4-BE49-F238E27FC236}">
                <a16:creationId xmlns:a16="http://schemas.microsoft.com/office/drawing/2014/main" id="{46DBE57D-BC43-4A76-836D-DA3ECB0D8800}"/>
              </a:ext>
            </a:extLst>
          </p:cNvPr>
          <p:cNvSpPr/>
          <p:nvPr/>
        </p:nvSpPr>
        <p:spPr>
          <a:xfrm flipV="1">
            <a:off x="1524000" y="6049107"/>
            <a:ext cx="9144000" cy="64484"/>
          </a:xfrm>
          <a:custGeom>
            <a:avLst/>
            <a:gdLst/>
            <a:ahLst/>
            <a:cxnLst/>
            <a:rect l="l" t="t" r="r" b="b"/>
            <a:pathLst>
              <a:path w="9144000">
                <a:moveTo>
                  <a:pt x="9144000" y="0"/>
                </a:moveTo>
                <a:lnTo>
                  <a:pt x="20573" y="0"/>
                </a:lnTo>
              </a:path>
              <a:path w="9144000">
                <a:moveTo>
                  <a:pt x="20573" y="1"/>
                </a:moveTo>
                <a:lnTo>
                  <a:pt x="9144000" y="0"/>
                </a:lnTo>
              </a:path>
            </a:pathLst>
          </a:custGeom>
          <a:ln w="28575">
            <a:solidFill>
              <a:srgbClr val="E6031E"/>
            </a:solidFill>
          </a:ln>
        </p:spPr>
        <p:txBody>
          <a:bodyPr wrap="square" lIns="0" tIns="0" rIns="0" bIns="0" rtlCol="0">
            <a:noAutofit/>
          </a:bodyPr>
          <a:lstStyle/>
          <a:p>
            <a:endParaRPr/>
          </a:p>
        </p:txBody>
      </p:sp>
      <p:sp>
        <p:nvSpPr>
          <p:cNvPr id="2" name="CuadroTexto 1">
            <a:extLst>
              <a:ext uri="{FF2B5EF4-FFF2-40B4-BE49-F238E27FC236}">
                <a16:creationId xmlns:a16="http://schemas.microsoft.com/office/drawing/2014/main" id="{48841838-5861-63D0-E654-3592BDB26C4F}"/>
              </a:ext>
            </a:extLst>
          </p:cNvPr>
          <p:cNvSpPr txBox="1"/>
          <p:nvPr/>
        </p:nvSpPr>
        <p:spPr>
          <a:xfrm>
            <a:off x="1523999" y="1165979"/>
            <a:ext cx="9144001" cy="1200329"/>
          </a:xfrm>
          <a:prstGeom prst="rect">
            <a:avLst/>
          </a:prstGeom>
          <a:noFill/>
        </p:spPr>
        <p:txBody>
          <a:bodyPr wrap="square" rtlCol="0">
            <a:spAutoFit/>
          </a:bodyPr>
          <a:lstStyle/>
          <a:p>
            <a:pPr algn="just"/>
            <a:r>
              <a:rPr lang="es-MX" dirty="0">
                <a:latin typeface="Verdana" panose="020B0604030504040204" pitchFamily="34" charset="0"/>
                <a:ea typeface="Verdana" panose="020B0604030504040204" pitchFamily="34" charset="0"/>
                <a:cs typeface="Verdana" panose="020B0604030504040204" pitchFamily="34" charset="0"/>
              </a:rPr>
              <a:t>Un árbol está formado por una raíz</a:t>
            </a:r>
            <a:r>
              <a:rPr lang="es-MX">
                <a:latin typeface="Verdana" panose="020B0604030504040204" pitchFamily="34" charset="0"/>
                <a:ea typeface="Verdana" panose="020B0604030504040204" pitchFamily="34" charset="0"/>
                <a:cs typeface="Verdana" panose="020B0604030504040204" pitchFamily="34" charset="0"/>
              </a:rPr>
              <a:t>, un </a:t>
            </a:r>
            <a:r>
              <a:rPr lang="es-MX" dirty="0">
                <a:latin typeface="Verdana" panose="020B0604030504040204" pitchFamily="34" charset="0"/>
                <a:ea typeface="Verdana" panose="020B0604030504040204" pitchFamily="34" charset="0"/>
                <a:cs typeface="Verdana" panose="020B0604030504040204" pitchFamily="34" charset="0"/>
              </a:rPr>
              <a:t>determinado número de ramas que parten de la raíz y quizá por otras ramas que nacen de los extremos de ramas anteriores. Algunos problemas de recuento se pueden resolver utilizando diagramas en árbol.</a:t>
            </a:r>
            <a:endParaRPr lang="es-CO" dirty="0">
              <a:latin typeface="Verdana" panose="020B0604030504040204" pitchFamily="34" charset="0"/>
              <a:ea typeface="Verdana" panose="020B0604030504040204" pitchFamily="34" charset="0"/>
              <a:cs typeface="Verdana" panose="020B0604030504040204" pitchFamily="34" charset="0"/>
            </a:endParaRPr>
          </a:p>
        </p:txBody>
      </p:sp>
      <p:pic>
        <p:nvPicPr>
          <p:cNvPr id="1026" name="Picture 2" descr="Partes - Matemáticas Discretas">
            <a:extLst>
              <a:ext uri="{FF2B5EF4-FFF2-40B4-BE49-F238E27FC236}">
                <a16:creationId xmlns:a16="http://schemas.microsoft.com/office/drawing/2014/main" id="{A84E4EE3-D983-608C-C791-D04DA658BD3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52749" y="2693232"/>
            <a:ext cx="6286500" cy="30289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4274750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9"/>
          <p:cNvSpPr/>
          <p:nvPr/>
        </p:nvSpPr>
        <p:spPr>
          <a:xfrm>
            <a:off x="1524000" y="473139"/>
            <a:ext cx="9144000" cy="649224"/>
          </a:xfrm>
          <a:custGeom>
            <a:avLst/>
            <a:gdLst/>
            <a:ahLst/>
            <a:cxnLst/>
            <a:rect l="l" t="t" r="r" b="b"/>
            <a:pathLst>
              <a:path w="9144000" h="649224">
                <a:moveTo>
                  <a:pt x="9144000" y="649223"/>
                </a:moveTo>
                <a:lnTo>
                  <a:pt x="9144000" y="0"/>
                </a:lnTo>
                <a:lnTo>
                  <a:pt x="0" y="0"/>
                </a:lnTo>
                <a:lnTo>
                  <a:pt x="0" y="649224"/>
                </a:lnTo>
                <a:lnTo>
                  <a:pt x="9144000" y="649223"/>
                </a:lnTo>
                <a:close/>
              </a:path>
            </a:pathLst>
          </a:custGeom>
          <a:solidFill>
            <a:srgbClr val="E6031E"/>
          </a:solidFill>
        </p:spPr>
        <p:txBody>
          <a:bodyPr wrap="square" lIns="0" tIns="0" rIns="0" bIns="0" rtlCol="0">
            <a:noAutofit/>
          </a:bodyPr>
          <a:lstStyle/>
          <a:p>
            <a:pPr algn="ctr"/>
            <a:r>
              <a:rPr lang="es-CO" sz="2400" b="1" dirty="0">
                <a:solidFill>
                  <a:schemeClr val="bg1"/>
                </a:solidFill>
                <a:latin typeface="Verdana" panose="020B0604030504040204" pitchFamily="34" charset="0"/>
                <a:ea typeface="Verdana" panose="020B0604030504040204" pitchFamily="34" charset="0"/>
                <a:cs typeface="Verdana" panose="020B0604030504040204" pitchFamily="34" charset="0"/>
              </a:rPr>
              <a:t>DIAGRAMAS EN ÁRBOL</a:t>
            </a:r>
            <a:endParaRPr sz="2400" b="1" dirty="0">
              <a:solidFill>
                <a:schemeClr val="bg1"/>
              </a:solidFill>
              <a:latin typeface="Verdana" panose="020B0604030504040204" pitchFamily="34" charset="0"/>
              <a:ea typeface="Verdana" panose="020B0604030504040204" pitchFamily="34" charset="0"/>
              <a:cs typeface="Verdana" panose="020B0604030504040204" pitchFamily="34" charset="0"/>
            </a:endParaRPr>
          </a:p>
        </p:txBody>
      </p:sp>
      <p:sp>
        <p:nvSpPr>
          <p:cNvPr id="6" name="object 12"/>
          <p:cNvSpPr/>
          <p:nvPr/>
        </p:nvSpPr>
        <p:spPr>
          <a:xfrm>
            <a:off x="10242773" y="6153222"/>
            <a:ext cx="425227" cy="549401"/>
          </a:xfrm>
          <a:prstGeom prst="rect">
            <a:avLst/>
          </a:prstGeom>
          <a:blipFill>
            <a:blip r:embed="rId2" cstate="print"/>
            <a:stretch>
              <a:fillRect/>
            </a:stretch>
          </a:blipFill>
        </p:spPr>
        <p:txBody>
          <a:bodyPr wrap="square" lIns="0" tIns="0" rIns="0" bIns="0" rtlCol="0">
            <a:noAutofit/>
          </a:bodyPr>
          <a:lstStyle/>
          <a:p>
            <a:endParaRPr/>
          </a:p>
        </p:txBody>
      </p:sp>
      <p:sp>
        <p:nvSpPr>
          <p:cNvPr id="3" name="object 11">
            <a:extLst>
              <a:ext uri="{FF2B5EF4-FFF2-40B4-BE49-F238E27FC236}">
                <a16:creationId xmlns:a16="http://schemas.microsoft.com/office/drawing/2014/main" id="{46DBE57D-BC43-4A76-836D-DA3ECB0D8800}"/>
              </a:ext>
            </a:extLst>
          </p:cNvPr>
          <p:cNvSpPr/>
          <p:nvPr/>
        </p:nvSpPr>
        <p:spPr>
          <a:xfrm flipV="1">
            <a:off x="1524000" y="6049107"/>
            <a:ext cx="9144000" cy="64484"/>
          </a:xfrm>
          <a:custGeom>
            <a:avLst/>
            <a:gdLst/>
            <a:ahLst/>
            <a:cxnLst/>
            <a:rect l="l" t="t" r="r" b="b"/>
            <a:pathLst>
              <a:path w="9144000">
                <a:moveTo>
                  <a:pt x="9144000" y="0"/>
                </a:moveTo>
                <a:lnTo>
                  <a:pt x="20573" y="0"/>
                </a:lnTo>
              </a:path>
              <a:path w="9144000">
                <a:moveTo>
                  <a:pt x="20573" y="1"/>
                </a:moveTo>
                <a:lnTo>
                  <a:pt x="9144000" y="0"/>
                </a:lnTo>
              </a:path>
            </a:pathLst>
          </a:custGeom>
          <a:ln w="28575">
            <a:solidFill>
              <a:srgbClr val="E6031E"/>
            </a:solidFill>
          </a:ln>
        </p:spPr>
        <p:txBody>
          <a:bodyPr wrap="square" lIns="0" tIns="0" rIns="0" bIns="0" rtlCol="0">
            <a:noAutofit/>
          </a:bodyPr>
          <a:lstStyle/>
          <a:p>
            <a:endParaRPr/>
          </a:p>
        </p:txBody>
      </p:sp>
      <p:sp>
        <p:nvSpPr>
          <p:cNvPr id="2" name="CuadroTexto 1">
            <a:extLst>
              <a:ext uri="{FF2B5EF4-FFF2-40B4-BE49-F238E27FC236}">
                <a16:creationId xmlns:a16="http://schemas.microsoft.com/office/drawing/2014/main" id="{48841838-5861-63D0-E654-3592BDB26C4F}"/>
              </a:ext>
            </a:extLst>
          </p:cNvPr>
          <p:cNvSpPr txBox="1"/>
          <p:nvPr/>
        </p:nvSpPr>
        <p:spPr>
          <a:xfrm>
            <a:off x="1523999" y="1531739"/>
            <a:ext cx="9144001" cy="1200329"/>
          </a:xfrm>
          <a:prstGeom prst="rect">
            <a:avLst/>
          </a:prstGeom>
          <a:noFill/>
        </p:spPr>
        <p:txBody>
          <a:bodyPr wrap="square" rtlCol="0">
            <a:spAutoFit/>
          </a:bodyPr>
          <a:lstStyle/>
          <a:p>
            <a:pPr algn="just"/>
            <a:r>
              <a:rPr lang="es-MX" dirty="0">
                <a:latin typeface="Verdana" panose="020B0604030504040204" pitchFamily="34" charset="0"/>
                <a:ea typeface="Verdana" panose="020B0604030504040204" pitchFamily="34" charset="0"/>
                <a:cs typeface="Verdana" panose="020B0604030504040204" pitchFamily="34" charset="0"/>
              </a:rPr>
              <a:t>Si queremos utilizar los árboles para contar, se utiliza las ramas para representar cada posible elección. Los resultados posibles están representados por las hojas del árbol, que son los extremos de las ramas de los que no parte ninguna otra rama.</a:t>
            </a:r>
            <a:endParaRPr lang="es-CO" dirty="0">
              <a:latin typeface="Verdana" panose="020B0604030504040204" pitchFamily="34" charset="0"/>
              <a:ea typeface="Verdana" panose="020B0604030504040204" pitchFamily="34" charset="0"/>
              <a:cs typeface="Verdana" panose="020B0604030504040204" pitchFamily="34" charset="0"/>
            </a:endParaRPr>
          </a:p>
        </p:txBody>
      </p:sp>
      <p:sp>
        <p:nvSpPr>
          <p:cNvPr id="5" name="CuadroTexto 4">
            <a:extLst>
              <a:ext uri="{FF2B5EF4-FFF2-40B4-BE49-F238E27FC236}">
                <a16:creationId xmlns:a16="http://schemas.microsoft.com/office/drawing/2014/main" id="{0A45DC88-4EF7-0DD6-1ABD-EAE37BC98CA7}"/>
              </a:ext>
            </a:extLst>
          </p:cNvPr>
          <p:cNvSpPr txBox="1"/>
          <p:nvPr/>
        </p:nvSpPr>
        <p:spPr>
          <a:xfrm>
            <a:off x="1523999" y="3190258"/>
            <a:ext cx="9144001" cy="923330"/>
          </a:xfrm>
          <a:prstGeom prst="rect">
            <a:avLst/>
          </a:prstGeom>
          <a:noFill/>
        </p:spPr>
        <p:txBody>
          <a:bodyPr wrap="square" rtlCol="0">
            <a:spAutoFit/>
          </a:bodyPr>
          <a:lstStyle/>
          <a:p>
            <a:pPr algn="just"/>
            <a:r>
              <a:rPr lang="es-MX" b="1" dirty="0">
                <a:latin typeface="Verdana" panose="020B0604030504040204" pitchFamily="34" charset="0"/>
                <a:ea typeface="Verdana" panose="020B0604030504040204" pitchFamily="34" charset="0"/>
                <a:cs typeface="Verdana" panose="020B0604030504040204" pitchFamily="34" charset="0"/>
              </a:rPr>
              <a:t>Ejemplo.</a:t>
            </a:r>
          </a:p>
          <a:p>
            <a:pPr algn="just"/>
            <a:r>
              <a:rPr lang="es-MX" dirty="0">
                <a:latin typeface="Verdana" panose="020B0604030504040204" pitchFamily="34" charset="0"/>
                <a:ea typeface="Verdana" panose="020B0604030504040204" pitchFamily="34" charset="0"/>
                <a:cs typeface="Verdana" panose="020B0604030504040204" pitchFamily="34" charset="0"/>
              </a:rPr>
              <a:t>¿Cuántas cadenas de bits de longitud cuatro no tienen dos unos consecutivos?</a:t>
            </a:r>
            <a:endParaRPr lang="es-CO" dirty="0">
              <a:latin typeface="Verdana" panose="020B0604030504040204" pitchFamily="34" charset="0"/>
              <a:ea typeface="Verdana" panose="020B0604030504040204" pitchFamily="34" charset="0"/>
              <a:cs typeface="Verdana" panose="020B0604030504040204" pitchFamily="34" charset="0"/>
            </a:endParaRPr>
          </a:p>
        </p:txBody>
      </p:sp>
    </p:spTree>
    <p:extLst>
      <p:ext uri="{BB962C8B-B14F-4D97-AF65-F5344CB8AC3E}">
        <p14:creationId xmlns:p14="http://schemas.microsoft.com/office/powerpoint/2010/main" val="217325677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9"/>
          <p:cNvSpPr/>
          <p:nvPr/>
        </p:nvSpPr>
        <p:spPr>
          <a:xfrm>
            <a:off x="1524000" y="473139"/>
            <a:ext cx="9144000" cy="649224"/>
          </a:xfrm>
          <a:custGeom>
            <a:avLst/>
            <a:gdLst/>
            <a:ahLst/>
            <a:cxnLst/>
            <a:rect l="l" t="t" r="r" b="b"/>
            <a:pathLst>
              <a:path w="9144000" h="649224">
                <a:moveTo>
                  <a:pt x="9144000" y="649223"/>
                </a:moveTo>
                <a:lnTo>
                  <a:pt x="9144000" y="0"/>
                </a:lnTo>
                <a:lnTo>
                  <a:pt x="0" y="0"/>
                </a:lnTo>
                <a:lnTo>
                  <a:pt x="0" y="649224"/>
                </a:lnTo>
                <a:lnTo>
                  <a:pt x="9144000" y="649223"/>
                </a:lnTo>
                <a:close/>
              </a:path>
            </a:pathLst>
          </a:custGeom>
          <a:solidFill>
            <a:srgbClr val="E6031E"/>
          </a:solidFill>
        </p:spPr>
        <p:txBody>
          <a:bodyPr wrap="square" lIns="0" tIns="0" rIns="0" bIns="0" rtlCol="0">
            <a:noAutofit/>
          </a:bodyPr>
          <a:lstStyle/>
          <a:p>
            <a:pPr algn="ctr"/>
            <a:r>
              <a:rPr lang="es-CO" sz="2400" b="1" dirty="0">
                <a:solidFill>
                  <a:schemeClr val="bg1"/>
                </a:solidFill>
                <a:latin typeface="Verdana" panose="020B0604030504040204" pitchFamily="34" charset="0"/>
                <a:ea typeface="Verdana" panose="020B0604030504040204" pitchFamily="34" charset="0"/>
                <a:cs typeface="Verdana" panose="020B0604030504040204" pitchFamily="34" charset="0"/>
              </a:rPr>
              <a:t>DIAGRAMAS EN ÁRBOL</a:t>
            </a:r>
            <a:endParaRPr sz="2400" b="1" dirty="0">
              <a:solidFill>
                <a:schemeClr val="bg1"/>
              </a:solidFill>
              <a:latin typeface="Verdana" panose="020B0604030504040204" pitchFamily="34" charset="0"/>
              <a:ea typeface="Verdana" panose="020B0604030504040204" pitchFamily="34" charset="0"/>
              <a:cs typeface="Verdana" panose="020B0604030504040204" pitchFamily="34" charset="0"/>
            </a:endParaRPr>
          </a:p>
        </p:txBody>
      </p:sp>
      <p:sp>
        <p:nvSpPr>
          <p:cNvPr id="6" name="object 12"/>
          <p:cNvSpPr/>
          <p:nvPr/>
        </p:nvSpPr>
        <p:spPr>
          <a:xfrm>
            <a:off x="10242773" y="6153222"/>
            <a:ext cx="425227" cy="549401"/>
          </a:xfrm>
          <a:prstGeom prst="rect">
            <a:avLst/>
          </a:prstGeom>
          <a:blipFill>
            <a:blip r:embed="rId2" cstate="print"/>
            <a:stretch>
              <a:fillRect/>
            </a:stretch>
          </a:blipFill>
        </p:spPr>
        <p:txBody>
          <a:bodyPr wrap="square" lIns="0" tIns="0" rIns="0" bIns="0" rtlCol="0">
            <a:noAutofit/>
          </a:bodyPr>
          <a:lstStyle/>
          <a:p>
            <a:endParaRPr/>
          </a:p>
        </p:txBody>
      </p:sp>
      <p:sp>
        <p:nvSpPr>
          <p:cNvPr id="3" name="object 11">
            <a:extLst>
              <a:ext uri="{FF2B5EF4-FFF2-40B4-BE49-F238E27FC236}">
                <a16:creationId xmlns:a16="http://schemas.microsoft.com/office/drawing/2014/main" id="{46DBE57D-BC43-4A76-836D-DA3ECB0D8800}"/>
              </a:ext>
            </a:extLst>
          </p:cNvPr>
          <p:cNvSpPr/>
          <p:nvPr/>
        </p:nvSpPr>
        <p:spPr>
          <a:xfrm flipV="1">
            <a:off x="1524000" y="6049107"/>
            <a:ext cx="9144000" cy="64484"/>
          </a:xfrm>
          <a:custGeom>
            <a:avLst/>
            <a:gdLst/>
            <a:ahLst/>
            <a:cxnLst/>
            <a:rect l="l" t="t" r="r" b="b"/>
            <a:pathLst>
              <a:path w="9144000">
                <a:moveTo>
                  <a:pt x="9144000" y="0"/>
                </a:moveTo>
                <a:lnTo>
                  <a:pt x="20573" y="0"/>
                </a:lnTo>
              </a:path>
              <a:path w="9144000">
                <a:moveTo>
                  <a:pt x="20573" y="1"/>
                </a:moveTo>
                <a:lnTo>
                  <a:pt x="9144000" y="0"/>
                </a:lnTo>
              </a:path>
            </a:pathLst>
          </a:custGeom>
          <a:ln w="28575">
            <a:solidFill>
              <a:srgbClr val="E6031E"/>
            </a:solidFill>
          </a:ln>
        </p:spPr>
        <p:txBody>
          <a:bodyPr wrap="square" lIns="0" tIns="0" rIns="0" bIns="0" rtlCol="0">
            <a:noAutofit/>
          </a:bodyPr>
          <a:lstStyle/>
          <a:p>
            <a:endParaRPr/>
          </a:p>
        </p:txBody>
      </p:sp>
      <p:pic>
        <p:nvPicPr>
          <p:cNvPr id="8" name="Imagen 7">
            <a:extLst>
              <a:ext uri="{FF2B5EF4-FFF2-40B4-BE49-F238E27FC236}">
                <a16:creationId xmlns:a16="http://schemas.microsoft.com/office/drawing/2014/main" id="{0671C5CD-1366-83E9-2463-5E5F90A93621}"/>
              </a:ext>
            </a:extLst>
          </p:cNvPr>
          <p:cNvPicPr>
            <a:picLocks noChangeAspect="1"/>
          </p:cNvPicPr>
          <p:nvPr/>
        </p:nvPicPr>
        <p:blipFill rotWithShape="1">
          <a:blip r:embed="rId3"/>
          <a:srcRect l="5811" t="33228" r="72254" b="23957"/>
          <a:stretch/>
        </p:blipFill>
        <p:spPr>
          <a:xfrm>
            <a:off x="2809460" y="2497910"/>
            <a:ext cx="6573078" cy="3551197"/>
          </a:xfrm>
          <a:prstGeom prst="rect">
            <a:avLst/>
          </a:prstGeom>
        </p:spPr>
      </p:pic>
      <p:sp>
        <p:nvSpPr>
          <p:cNvPr id="9" name="CuadroTexto 8">
            <a:extLst>
              <a:ext uri="{FF2B5EF4-FFF2-40B4-BE49-F238E27FC236}">
                <a16:creationId xmlns:a16="http://schemas.microsoft.com/office/drawing/2014/main" id="{9ECF0B36-ABF9-584F-2D04-B481B14A2B67}"/>
              </a:ext>
            </a:extLst>
          </p:cNvPr>
          <p:cNvSpPr txBox="1"/>
          <p:nvPr/>
        </p:nvSpPr>
        <p:spPr>
          <a:xfrm>
            <a:off x="1523999" y="1481985"/>
            <a:ext cx="9144001" cy="923330"/>
          </a:xfrm>
          <a:prstGeom prst="rect">
            <a:avLst/>
          </a:prstGeom>
          <a:noFill/>
        </p:spPr>
        <p:txBody>
          <a:bodyPr wrap="square" rtlCol="0">
            <a:spAutoFit/>
          </a:bodyPr>
          <a:lstStyle/>
          <a:p>
            <a:pPr algn="just"/>
            <a:r>
              <a:rPr lang="es-MX" b="1" dirty="0">
                <a:latin typeface="Verdana" panose="020B0604030504040204" pitchFamily="34" charset="0"/>
                <a:ea typeface="Verdana" panose="020B0604030504040204" pitchFamily="34" charset="0"/>
                <a:cs typeface="Verdana" panose="020B0604030504040204" pitchFamily="34" charset="0"/>
              </a:rPr>
              <a:t>Ejemplo.</a:t>
            </a:r>
          </a:p>
          <a:p>
            <a:pPr algn="just"/>
            <a:r>
              <a:rPr lang="es-MX" dirty="0">
                <a:latin typeface="Verdana" panose="020B0604030504040204" pitchFamily="34" charset="0"/>
                <a:ea typeface="Verdana" panose="020B0604030504040204" pitchFamily="34" charset="0"/>
                <a:cs typeface="Verdana" panose="020B0604030504040204" pitchFamily="34" charset="0"/>
              </a:rPr>
              <a:t>¿Cuántas cadenas de bits de longitud cuatro no tienen dos unos consecutivos?</a:t>
            </a:r>
            <a:endParaRPr lang="es-CO" dirty="0">
              <a:latin typeface="Verdana" panose="020B0604030504040204" pitchFamily="34" charset="0"/>
              <a:ea typeface="Verdana" panose="020B0604030504040204" pitchFamily="34" charset="0"/>
              <a:cs typeface="Verdana" panose="020B0604030504040204" pitchFamily="34" charset="0"/>
            </a:endParaRPr>
          </a:p>
        </p:txBody>
      </p:sp>
    </p:spTree>
    <p:extLst>
      <p:ext uri="{BB962C8B-B14F-4D97-AF65-F5344CB8AC3E}">
        <p14:creationId xmlns:p14="http://schemas.microsoft.com/office/powerpoint/2010/main" val="91773798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9"/>
          <p:cNvSpPr/>
          <p:nvPr/>
        </p:nvSpPr>
        <p:spPr>
          <a:xfrm>
            <a:off x="1524000" y="473139"/>
            <a:ext cx="9144000" cy="649224"/>
          </a:xfrm>
          <a:custGeom>
            <a:avLst/>
            <a:gdLst/>
            <a:ahLst/>
            <a:cxnLst/>
            <a:rect l="l" t="t" r="r" b="b"/>
            <a:pathLst>
              <a:path w="9144000" h="649224">
                <a:moveTo>
                  <a:pt x="9144000" y="649223"/>
                </a:moveTo>
                <a:lnTo>
                  <a:pt x="9144000" y="0"/>
                </a:lnTo>
                <a:lnTo>
                  <a:pt x="0" y="0"/>
                </a:lnTo>
                <a:lnTo>
                  <a:pt x="0" y="649224"/>
                </a:lnTo>
                <a:lnTo>
                  <a:pt x="9144000" y="649223"/>
                </a:lnTo>
                <a:close/>
              </a:path>
            </a:pathLst>
          </a:custGeom>
          <a:solidFill>
            <a:srgbClr val="E6031E"/>
          </a:solidFill>
        </p:spPr>
        <p:txBody>
          <a:bodyPr wrap="square" lIns="0" tIns="0" rIns="0" bIns="0" rtlCol="0">
            <a:noAutofit/>
          </a:bodyPr>
          <a:lstStyle/>
          <a:p>
            <a:pPr algn="ctr"/>
            <a:r>
              <a:rPr lang="es-CO" sz="2400" b="1" dirty="0">
                <a:solidFill>
                  <a:schemeClr val="bg1"/>
                </a:solidFill>
                <a:latin typeface="Verdana" panose="020B0604030504040204" pitchFamily="34" charset="0"/>
                <a:ea typeface="Verdana" panose="020B0604030504040204" pitchFamily="34" charset="0"/>
                <a:cs typeface="Verdana" panose="020B0604030504040204" pitchFamily="34" charset="0"/>
              </a:rPr>
              <a:t>DIAGRAMAS EN ÁRBOL</a:t>
            </a:r>
            <a:endParaRPr sz="2400" b="1" dirty="0">
              <a:solidFill>
                <a:schemeClr val="bg1"/>
              </a:solidFill>
              <a:latin typeface="Verdana" panose="020B0604030504040204" pitchFamily="34" charset="0"/>
              <a:ea typeface="Verdana" panose="020B0604030504040204" pitchFamily="34" charset="0"/>
              <a:cs typeface="Verdana" panose="020B0604030504040204" pitchFamily="34" charset="0"/>
            </a:endParaRPr>
          </a:p>
        </p:txBody>
      </p:sp>
      <p:sp>
        <p:nvSpPr>
          <p:cNvPr id="6" name="object 12"/>
          <p:cNvSpPr/>
          <p:nvPr/>
        </p:nvSpPr>
        <p:spPr>
          <a:xfrm>
            <a:off x="10242773" y="6153222"/>
            <a:ext cx="425227" cy="549401"/>
          </a:xfrm>
          <a:prstGeom prst="rect">
            <a:avLst/>
          </a:prstGeom>
          <a:blipFill>
            <a:blip r:embed="rId2" cstate="print"/>
            <a:stretch>
              <a:fillRect/>
            </a:stretch>
          </a:blipFill>
        </p:spPr>
        <p:txBody>
          <a:bodyPr wrap="square" lIns="0" tIns="0" rIns="0" bIns="0" rtlCol="0">
            <a:noAutofit/>
          </a:bodyPr>
          <a:lstStyle/>
          <a:p>
            <a:endParaRPr/>
          </a:p>
        </p:txBody>
      </p:sp>
      <p:sp>
        <p:nvSpPr>
          <p:cNvPr id="3" name="object 11">
            <a:extLst>
              <a:ext uri="{FF2B5EF4-FFF2-40B4-BE49-F238E27FC236}">
                <a16:creationId xmlns:a16="http://schemas.microsoft.com/office/drawing/2014/main" id="{46DBE57D-BC43-4A76-836D-DA3ECB0D8800}"/>
              </a:ext>
            </a:extLst>
          </p:cNvPr>
          <p:cNvSpPr/>
          <p:nvPr/>
        </p:nvSpPr>
        <p:spPr>
          <a:xfrm flipV="1">
            <a:off x="1524000" y="6049107"/>
            <a:ext cx="9144000" cy="64484"/>
          </a:xfrm>
          <a:custGeom>
            <a:avLst/>
            <a:gdLst/>
            <a:ahLst/>
            <a:cxnLst/>
            <a:rect l="l" t="t" r="r" b="b"/>
            <a:pathLst>
              <a:path w="9144000">
                <a:moveTo>
                  <a:pt x="9144000" y="0"/>
                </a:moveTo>
                <a:lnTo>
                  <a:pt x="20573" y="0"/>
                </a:lnTo>
              </a:path>
              <a:path w="9144000">
                <a:moveTo>
                  <a:pt x="20573" y="1"/>
                </a:moveTo>
                <a:lnTo>
                  <a:pt x="9144000" y="0"/>
                </a:lnTo>
              </a:path>
            </a:pathLst>
          </a:custGeom>
          <a:ln w="28575">
            <a:solidFill>
              <a:srgbClr val="E6031E"/>
            </a:solidFill>
          </a:ln>
        </p:spPr>
        <p:txBody>
          <a:bodyPr wrap="square" lIns="0" tIns="0" rIns="0" bIns="0" rtlCol="0">
            <a:noAutofit/>
          </a:bodyPr>
          <a:lstStyle/>
          <a:p>
            <a:endParaRPr/>
          </a:p>
        </p:txBody>
      </p:sp>
      <p:sp>
        <p:nvSpPr>
          <p:cNvPr id="5" name="CuadroTexto 4">
            <a:extLst>
              <a:ext uri="{FF2B5EF4-FFF2-40B4-BE49-F238E27FC236}">
                <a16:creationId xmlns:a16="http://schemas.microsoft.com/office/drawing/2014/main" id="{0A45DC88-4EF7-0DD6-1ABD-EAE37BC98CA7}"/>
              </a:ext>
            </a:extLst>
          </p:cNvPr>
          <p:cNvSpPr txBox="1"/>
          <p:nvPr/>
        </p:nvSpPr>
        <p:spPr>
          <a:xfrm>
            <a:off x="1523999" y="1613250"/>
            <a:ext cx="9144001" cy="1754326"/>
          </a:xfrm>
          <a:prstGeom prst="rect">
            <a:avLst/>
          </a:prstGeom>
          <a:noFill/>
        </p:spPr>
        <p:txBody>
          <a:bodyPr wrap="square" rtlCol="0">
            <a:spAutoFit/>
          </a:bodyPr>
          <a:lstStyle/>
          <a:p>
            <a:pPr algn="just"/>
            <a:r>
              <a:rPr lang="es-MX" b="1" dirty="0">
                <a:latin typeface="Verdana" panose="020B0604030504040204" pitchFamily="34" charset="0"/>
                <a:ea typeface="Verdana" panose="020B0604030504040204" pitchFamily="34" charset="0"/>
                <a:cs typeface="Verdana" panose="020B0604030504040204" pitchFamily="34" charset="0"/>
              </a:rPr>
              <a:t>Ejercicio en clase.</a:t>
            </a:r>
          </a:p>
          <a:p>
            <a:pPr algn="just"/>
            <a:endParaRPr lang="es-MX" b="1" dirty="0">
              <a:latin typeface="Verdana" panose="020B0604030504040204" pitchFamily="34" charset="0"/>
              <a:ea typeface="Verdana" panose="020B0604030504040204" pitchFamily="34" charset="0"/>
              <a:cs typeface="Verdana" panose="020B0604030504040204" pitchFamily="34" charset="0"/>
            </a:endParaRPr>
          </a:p>
          <a:p>
            <a:pPr algn="just"/>
            <a:r>
              <a:rPr lang="es-MX" dirty="0">
                <a:latin typeface="Verdana" panose="020B0604030504040204" pitchFamily="34" charset="0"/>
                <a:ea typeface="Verdana" panose="020B0604030504040204" pitchFamily="34" charset="0"/>
                <a:cs typeface="Verdana" panose="020B0604030504040204" pitchFamily="34" charset="0"/>
              </a:rPr>
              <a:t>Un torneo de fútbol profesional colombiano entre dos equipos (América y Cali) consiste en lo más de tres partidos, el primer equipo que gane dos partidos resulta vencedor. ¿Cuántos posibles desarrollos de ganar se pueden dar?</a:t>
            </a:r>
            <a:endParaRPr lang="es-CO" dirty="0">
              <a:latin typeface="Verdana" panose="020B0604030504040204" pitchFamily="34" charset="0"/>
              <a:ea typeface="Verdana" panose="020B0604030504040204" pitchFamily="34" charset="0"/>
              <a:cs typeface="Verdana" panose="020B0604030504040204" pitchFamily="34" charset="0"/>
            </a:endParaRPr>
          </a:p>
        </p:txBody>
      </p:sp>
      <p:pic>
        <p:nvPicPr>
          <p:cNvPr id="1026" name="Picture 2" descr="América y Deportivo Cali se enfrentarían en un partido amistoso realizado  en Miami">
            <a:extLst>
              <a:ext uri="{FF2B5EF4-FFF2-40B4-BE49-F238E27FC236}">
                <a16:creationId xmlns:a16="http://schemas.microsoft.com/office/drawing/2014/main" id="{B7AA342E-E287-5F8E-0AD2-CB9D5D2B32A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26953" y="3285296"/>
            <a:ext cx="4938091" cy="272418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1538948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9"/>
          <p:cNvSpPr/>
          <p:nvPr/>
        </p:nvSpPr>
        <p:spPr>
          <a:xfrm>
            <a:off x="1524000" y="473139"/>
            <a:ext cx="9144000" cy="649224"/>
          </a:xfrm>
          <a:custGeom>
            <a:avLst/>
            <a:gdLst/>
            <a:ahLst/>
            <a:cxnLst/>
            <a:rect l="l" t="t" r="r" b="b"/>
            <a:pathLst>
              <a:path w="9144000" h="649224">
                <a:moveTo>
                  <a:pt x="9144000" y="649223"/>
                </a:moveTo>
                <a:lnTo>
                  <a:pt x="9144000" y="0"/>
                </a:lnTo>
                <a:lnTo>
                  <a:pt x="0" y="0"/>
                </a:lnTo>
                <a:lnTo>
                  <a:pt x="0" y="649224"/>
                </a:lnTo>
                <a:lnTo>
                  <a:pt x="9144000" y="649223"/>
                </a:lnTo>
                <a:close/>
              </a:path>
            </a:pathLst>
          </a:custGeom>
          <a:solidFill>
            <a:srgbClr val="E6031E"/>
          </a:solidFill>
        </p:spPr>
        <p:txBody>
          <a:bodyPr wrap="square" lIns="0" tIns="0" rIns="0" bIns="0" rtlCol="0">
            <a:noAutofit/>
          </a:bodyPr>
          <a:lstStyle/>
          <a:p>
            <a:pPr algn="ctr"/>
            <a:r>
              <a:rPr lang="es-CO" sz="2400" b="1" dirty="0">
                <a:solidFill>
                  <a:schemeClr val="bg1"/>
                </a:solidFill>
                <a:latin typeface="Verdana" panose="020B0604030504040204" pitchFamily="34" charset="0"/>
                <a:ea typeface="Verdana" panose="020B0604030504040204" pitchFamily="34" charset="0"/>
                <a:cs typeface="Verdana" panose="020B0604030504040204" pitchFamily="34" charset="0"/>
              </a:rPr>
              <a:t>DIAGRAMAS EN ÁRBOL</a:t>
            </a:r>
            <a:endParaRPr sz="2400" b="1" dirty="0">
              <a:solidFill>
                <a:schemeClr val="bg1"/>
              </a:solidFill>
              <a:latin typeface="Verdana" panose="020B0604030504040204" pitchFamily="34" charset="0"/>
              <a:ea typeface="Verdana" panose="020B0604030504040204" pitchFamily="34" charset="0"/>
              <a:cs typeface="Verdana" panose="020B0604030504040204" pitchFamily="34" charset="0"/>
            </a:endParaRPr>
          </a:p>
        </p:txBody>
      </p:sp>
      <p:sp>
        <p:nvSpPr>
          <p:cNvPr id="6" name="object 12"/>
          <p:cNvSpPr/>
          <p:nvPr/>
        </p:nvSpPr>
        <p:spPr>
          <a:xfrm>
            <a:off x="10242773" y="6153222"/>
            <a:ext cx="425227" cy="549401"/>
          </a:xfrm>
          <a:prstGeom prst="rect">
            <a:avLst/>
          </a:prstGeom>
          <a:blipFill>
            <a:blip r:embed="rId2" cstate="print"/>
            <a:stretch>
              <a:fillRect/>
            </a:stretch>
          </a:blipFill>
        </p:spPr>
        <p:txBody>
          <a:bodyPr wrap="square" lIns="0" tIns="0" rIns="0" bIns="0" rtlCol="0">
            <a:noAutofit/>
          </a:bodyPr>
          <a:lstStyle/>
          <a:p>
            <a:endParaRPr/>
          </a:p>
        </p:txBody>
      </p:sp>
      <p:sp>
        <p:nvSpPr>
          <p:cNvPr id="3" name="object 11">
            <a:extLst>
              <a:ext uri="{FF2B5EF4-FFF2-40B4-BE49-F238E27FC236}">
                <a16:creationId xmlns:a16="http://schemas.microsoft.com/office/drawing/2014/main" id="{46DBE57D-BC43-4A76-836D-DA3ECB0D8800}"/>
              </a:ext>
            </a:extLst>
          </p:cNvPr>
          <p:cNvSpPr/>
          <p:nvPr/>
        </p:nvSpPr>
        <p:spPr>
          <a:xfrm flipV="1">
            <a:off x="1524000" y="6049107"/>
            <a:ext cx="9144000" cy="64484"/>
          </a:xfrm>
          <a:custGeom>
            <a:avLst/>
            <a:gdLst/>
            <a:ahLst/>
            <a:cxnLst/>
            <a:rect l="l" t="t" r="r" b="b"/>
            <a:pathLst>
              <a:path w="9144000">
                <a:moveTo>
                  <a:pt x="9144000" y="0"/>
                </a:moveTo>
                <a:lnTo>
                  <a:pt x="20573" y="0"/>
                </a:lnTo>
              </a:path>
              <a:path w="9144000">
                <a:moveTo>
                  <a:pt x="20573" y="1"/>
                </a:moveTo>
                <a:lnTo>
                  <a:pt x="9144000" y="0"/>
                </a:lnTo>
              </a:path>
            </a:pathLst>
          </a:custGeom>
          <a:ln w="28575">
            <a:solidFill>
              <a:srgbClr val="E6031E"/>
            </a:solidFill>
          </a:ln>
        </p:spPr>
        <p:txBody>
          <a:bodyPr wrap="square" lIns="0" tIns="0" rIns="0" bIns="0" rtlCol="0">
            <a:noAutofit/>
          </a:bodyPr>
          <a:lstStyle/>
          <a:p>
            <a:endParaRPr/>
          </a:p>
        </p:txBody>
      </p:sp>
      <p:sp>
        <p:nvSpPr>
          <p:cNvPr id="5" name="CuadroTexto 4">
            <a:extLst>
              <a:ext uri="{FF2B5EF4-FFF2-40B4-BE49-F238E27FC236}">
                <a16:creationId xmlns:a16="http://schemas.microsoft.com/office/drawing/2014/main" id="{0A45DC88-4EF7-0DD6-1ABD-EAE37BC98CA7}"/>
              </a:ext>
            </a:extLst>
          </p:cNvPr>
          <p:cNvSpPr txBox="1"/>
          <p:nvPr/>
        </p:nvSpPr>
        <p:spPr>
          <a:xfrm>
            <a:off x="1523999" y="1613250"/>
            <a:ext cx="9144001" cy="2031325"/>
          </a:xfrm>
          <a:prstGeom prst="rect">
            <a:avLst/>
          </a:prstGeom>
          <a:noFill/>
        </p:spPr>
        <p:txBody>
          <a:bodyPr wrap="square" rtlCol="0">
            <a:spAutoFit/>
          </a:bodyPr>
          <a:lstStyle/>
          <a:p>
            <a:pPr algn="just"/>
            <a:r>
              <a:rPr lang="es-MX" b="1" dirty="0">
                <a:latin typeface="Verdana" panose="020B0604030504040204" pitchFamily="34" charset="0"/>
                <a:ea typeface="Verdana" panose="020B0604030504040204" pitchFamily="34" charset="0"/>
                <a:cs typeface="Verdana" panose="020B0604030504040204" pitchFamily="34" charset="0"/>
              </a:rPr>
              <a:t>Ejemplo en Clase.</a:t>
            </a:r>
          </a:p>
          <a:p>
            <a:pPr algn="just"/>
            <a:endParaRPr lang="es-MX" b="1" dirty="0">
              <a:latin typeface="Verdana" panose="020B0604030504040204" pitchFamily="34" charset="0"/>
              <a:ea typeface="Verdana" panose="020B0604030504040204" pitchFamily="34" charset="0"/>
              <a:cs typeface="Verdana" panose="020B0604030504040204" pitchFamily="34" charset="0"/>
            </a:endParaRPr>
          </a:p>
          <a:p>
            <a:pPr algn="just"/>
            <a:r>
              <a:rPr lang="es-MX" dirty="0">
                <a:latin typeface="Verdana" panose="020B0604030504040204" pitchFamily="34" charset="0"/>
                <a:ea typeface="Verdana" panose="020B0604030504040204" pitchFamily="34" charset="0"/>
                <a:cs typeface="Verdana" panose="020B0604030504040204" pitchFamily="34" charset="0"/>
              </a:rPr>
              <a:t>La tienda de Ropa Univalle Tuluá, fabrica camiseta en cinco tallas diferentes: S, M, L, XL, y XXL. Además, cada talla se fabrica en los colores blanco, negro, rojo y verde excepto para la talla XXL, que sólo se fabrica en verde y negro. ¿Cuántas camisetas diferentes debe haber en el almacén de una tienda si se quiere tener disponible una de cada modelo?</a:t>
            </a:r>
            <a:endParaRPr lang="es-CO" dirty="0">
              <a:latin typeface="Verdana" panose="020B0604030504040204" pitchFamily="34" charset="0"/>
              <a:ea typeface="Verdana" panose="020B0604030504040204" pitchFamily="34" charset="0"/>
              <a:cs typeface="Verdana" panose="020B0604030504040204" pitchFamily="34" charset="0"/>
            </a:endParaRPr>
          </a:p>
        </p:txBody>
      </p:sp>
    </p:spTree>
    <p:extLst>
      <p:ext uri="{BB962C8B-B14F-4D97-AF65-F5344CB8AC3E}">
        <p14:creationId xmlns:p14="http://schemas.microsoft.com/office/powerpoint/2010/main" val="114939868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9"/>
          <p:cNvSpPr/>
          <p:nvPr/>
        </p:nvSpPr>
        <p:spPr>
          <a:xfrm>
            <a:off x="1524000" y="473139"/>
            <a:ext cx="9144000" cy="649224"/>
          </a:xfrm>
          <a:custGeom>
            <a:avLst/>
            <a:gdLst/>
            <a:ahLst/>
            <a:cxnLst/>
            <a:rect l="l" t="t" r="r" b="b"/>
            <a:pathLst>
              <a:path w="9144000" h="649224">
                <a:moveTo>
                  <a:pt x="9144000" y="649223"/>
                </a:moveTo>
                <a:lnTo>
                  <a:pt x="9144000" y="0"/>
                </a:lnTo>
                <a:lnTo>
                  <a:pt x="0" y="0"/>
                </a:lnTo>
                <a:lnTo>
                  <a:pt x="0" y="649224"/>
                </a:lnTo>
                <a:lnTo>
                  <a:pt x="9144000" y="649223"/>
                </a:lnTo>
                <a:close/>
              </a:path>
            </a:pathLst>
          </a:custGeom>
          <a:solidFill>
            <a:srgbClr val="E6031E"/>
          </a:solidFill>
        </p:spPr>
        <p:txBody>
          <a:bodyPr wrap="square" lIns="0" tIns="0" rIns="0" bIns="0" rtlCol="0">
            <a:noAutofit/>
          </a:bodyPr>
          <a:lstStyle/>
          <a:p>
            <a:pPr algn="ctr"/>
            <a:r>
              <a:rPr lang="es-CO" sz="2400" b="1" dirty="0">
                <a:solidFill>
                  <a:schemeClr val="bg1"/>
                </a:solidFill>
                <a:latin typeface="Verdana" panose="020B0604030504040204" pitchFamily="34" charset="0"/>
                <a:ea typeface="Verdana" panose="020B0604030504040204" pitchFamily="34" charset="0"/>
                <a:cs typeface="Verdana" panose="020B0604030504040204" pitchFamily="34" charset="0"/>
              </a:rPr>
              <a:t>EJERCICIOS EN GENERAL</a:t>
            </a:r>
            <a:endParaRPr sz="2400" b="1" dirty="0">
              <a:solidFill>
                <a:schemeClr val="bg1"/>
              </a:solidFill>
              <a:latin typeface="Verdana" panose="020B0604030504040204" pitchFamily="34" charset="0"/>
              <a:ea typeface="Verdana" panose="020B0604030504040204" pitchFamily="34" charset="0"/>
              <a:cs typeface="Verdana" panose="020B0604030504040204" pitchFamily="34" charset="0"/>
            </a:endParaRPr>
          </a:p>
        </p:txBody>
      </p:sp>
      <p:sp>
        <p:nvSpPr>
          <p:cNvPr id="6" name="object 12"/>
          <p:cNvSpPr/>
          <p:nvPr/>
        </p:nvSpPr>
        <p:spPr>
          <a:xfrm>
            <a:off x="10242773" y="6153222"/>
            <a:ext cx="425227" cy="549401"/>
          </a:xfrm>
          <a:prstGeom prst="rect">
            <a:avLst/>
          </a:prstGeom>
          <a:blipFill>
            <a:blip r:embed="rId2" cstate="print"/>
            <a:stretch>
              <a:fillRect/>
            </a:stretch>
          </a:blipFill>
        </p:spPr>
        <p:txBody>
          <a:bodyPr wrap="square" lIns="0" tIns="0" rIns="0" bIns="0" rtlCol="0">
            <a:noAutofit/>
          </a:bodyPr>
          <a:lstStyle/>
          <a:p>
            <a:endParaRPr/>
          </a:p>
        </p:txBody>
      </p:sp>
      <p:sp>
        <p:nvSpPr>
          <p:cNvPr id="3" name="object 11">
            <a:extLst>
              <a:ext uri="{FF2B5EF4-FFF2-40B4-BE49-F238E27FC236}">
                <a16:creationId xmlns:a16="http://schemas.microsoft.com/office/drawing/2014/main" id="{46DBE57D-BC43-4A76-836D-DA3ECB0D8800}"/>
              </a:ext>
            </a:extLst>
          </p:cNvPr>
          <p:cNvSpPr/>
          <p:nvPr/>
        </p:nvSpPr>
        <p:spPr>
          <a:xfrm flipV="1">
            <a:off x="1524000" y="6049107"/>
            <a:ext cx="9144000" cy="64484"/>
          </a:xfrm>
          <a:custGeom>
            <a:avLst/>
            <a:gdLst/>
            <a:ahLst/>
            <a:cxnLst/>
            <a:rect l="l" t="t" r="r" b="b"/>
            <a:pathLst>
              <a:path w="9144000">
                <a:moveTo>
                  <a:pt x="9144000" y="0"/>
                </a:moveTo>
                <a:lnTo>
                  <a:pt x="20573" y="0"/>
                </a:lnTo>
              </a:path>
              <a:path w="9144000">
                <a:moveTo>
                  <a:pt x="20573" y="1"/>
                </a:moveTo>
                <a:lnTo>
                  <a:pt x="9144000" y="0"/>
                </a:lnTo>
              </a:path>
            </a:pathLst>
          </a:custGeom>
          <a:ln w="28575">
            <a:solidFill>
              <a:srgbClr val="E6031E"/>
            </a:solidFill>
          </a:ln>
        </p:spPr>
        <p:txBody>
          <a:bodyPr wrap="square" lIns="0" tIns="0" rIns="0" bIns="0" rtlCol="0">
            <a:noAutofit/>
          </a:bodyPr>
          <a:lstStyle/>
          <a:p>
            <a:endParaRPr/>
          </a:p>
        </p:txBody>
      </p:sp>
      <p:sp>
        <p:nvSpPr>
          <p:cNvPr id="2" name="CuadroTexto 1">
            <a:extLst>
              <a:ext uri="{FF2B5EF4-FFF2-40B4-BE49-F238E27FC236}">
                <a16:creationId xmlns:a16="http://schemas.microsoft.com/office/drawing/2014/main" id="{48841838-5861-63D0-E654-3592BDB26C4F}"/>
              </a:ext>
            </a:extLst>
          </p:cNvPr>
          <p:cNvSpPr txBox="1"/>
          <p:nvPr/>
        </p:nvSpPr>
        <p:spPr>
          <a:xfrm>
            <a:off x="1523999" y="1167767"/>
            <a:ext cx="9144001" cy="2308324"/>
          </a:xfrm>
          <a:prstGeom prst="rect">
            <a:avLst/>
          </a:prstGeom>
          <a:noFill/>
        </p:spPr>
        <p:txBody>
          <a:bodyPr wrap="square" rtlCol="0">
            <a:spAutoFit/>
          </a:bodyPr>
          <a:lstStyle/>
          <a:p>
            <a:pPr algn="just"/>
            <a:r>
              <a:rPr lang="es-ES" dirty="0">
                <a:latin typeface="Verdana" panose="020B0604030504040204" pitchFamily="34" charset="0"/>
                <a:ea typeface="Verdana" panose="020B0604030504040204" pitchFamily="34" charset="0"/>
                <a:cs typeface="Verdana" panose="020B0604030504040204" pitchFamily="34" charset="0"/>
              </a:rPr>
              <a:t>1. En una Universidad hay 18 estudiantes de matemáticas y 325 estudiantes de ciencias de la computación</a:t>
            </a:r>
          </a:p>
          <a:p>
            <a:pPr algn="just"/>
            <a:endParaRPr lang="es-ES" dirty="0">
              <a:latin typeface="Verdana" panose="020B0604030504040204" pitchFamily="34" charset="0"/>
              <a:ea typeface="Verdana" panose="020B0604030504040204" pitchFamily="34" charset="0"/>
              <a:cs typeface="Verdana" panose="020B0604030504040204" pitchFamily="34" charset="0"/>
            </a:endParaRPr>
          </a:p>
          <a:p>
            <a:pPr algn="just"/>
            <a:r>
              <a:rPr lang="es-ES" dirty="0">
                <a:latin typeface="Verdana" panose="020B0604030504040204" pitchFamily="34" charset="0"/>
                <a:ea typeface="Verdana" panose="020B0604030504040204" pitchFamily="34" charset="0"/>
                <a:cs typeface="Verdana" panose="020B0604030504040204" pitchFamily="34" charset="0"/>
              </a:rPr>
              <a:t>	a. ¿Cuántas maneras hay de colocar dos representantes, tal que uno 	sea estudiante de matemáticas y otro de ciencias de la computación?</a:t>
            </a:r>
          </a:p>
          <a:p>
            <a:pPr algn="just"/>
            <a:endParaRPr lang="es-ES" dirty="0">
              <a:latin typeface="Verdana" panose="020B0604030504040204" pitchFamily="34" charset="0"/>
              <a:ea typeface="Verdana" panose="020B0604030504040204" pitchFamily="34" charset="0"/>
              <a:cs typeface="Verdana" panose="020B0604030504040204" pitchFamily="34" charset="0"/>
            </a:endParaRPr>
          </a:p>
          <a:p>
            <a:pPr algn="just"/>
            <a:r>
              <a:rPr lang="es-ES" dirty="0">
                <a:latin typeface="Verdana" panose="020B0604030504040204" pitchFamily="34" charset="0"/>
                <a:ea typeface="Verdana" panose="020B0604030504040204" pitchFamily="34" charset="0"/>
                <a:cs typeface="Verdana" panose="020B0604030504040204" pitchFamily="34" charset="0"/>
              </a:rPr>
              <a:t>	b. ¿Cuántas formas de colocar un representante que sea estudiante 	de matemáticas o estudiante de ciencias de la computación? </a:t>
            </a:r>
            <a:endParaRPr lang="es-CO" dirty="0">
              <a:latin typeface="Verdana" panose="020B0604030504040204" pitchFamily="34" charset="0"/>
              <a:ea typeface="Verdana" panose="020B0604030504040204" pitchFamily="34" charset="0"/>
              <a:cs typeface="Verdana" panose="020B0604030504040204" pitchFamily="34" charset="0"/>
            </a:endParaRPr>
          </a:p>
        </p:txBody>
      </p:sp>
      <p:sp>
        <p:nvSpPr>
          <p:cNvPr id="7" name="CuadroTexto 6">
            <a:extLst>
              <a:ext uri="{FF2B5EF4-FFF2-40B4-BE49-F238E27FC236}">
                <a16:creationId xmlns:a16="http://schemas.microsoft.com/office/drawing/2014/main" id="{C16C89FC-7C5B-F1E0-E74E-E3D435039B75}"/>
              </a:ext>
            </a:extLst>
          </p:cNvPr>
          <p:cNvSpPr txBox="1"/>
          <p:nvPr/>
        </p:nvSpPr>
        <p:spPr>
          <a:xfrm>
            <a:off x="1523999" y="3698955"/>
            <a:ext cx="9144000" cy="2308324"/>
          </a:xfrm>
          <a:prstGeom prst="rect">
            <a:avLst/>
          </a:prstGeom>
          <a:noFill/>
        </p:spPr>
        <p:txBody>
          <a:bodyPr wrap="square" rtlCol="0">
            <a:spAutoFit/>
          </a:bodyPr>
          <a:lstStyle/>
          <a:p>
            <a:r>
              <a:rPr lang="es-ES" dirty="0">
                <a:latin typeface="Verdana" panose="020B0604030504040204" pitchFamily="34" charset="0"/>
                <a:ea typeface="Verdana" panose="020B0604030504040204" pitchFamily="34" charset="0"/>
                <a:cs typeface="Verdana" panose="020B0604030504040204" pitchFamily="34" charset="0"/>
              </a:rPr>
              <a:t>2. Un examen de selección múltiple contiene 10 preguntas, hay 4 posibles respuestas para cada pregunta.</a:t>
            </a:r>
          </a:p>
          <a:p>
            <a:endParaRPr lang="es-ES" dirty="0">
              <a:latin typeface="Verdana" panose="020B0604030504040204" pitchFamily="34" charset="0"/>
              <a:ea typeface="Verdana" panose="020B0604030504040204" pitchFamily="34" charset="0"/>
              <a:cs typeface="Verdana" panose="020B0604030504040204" pitchFamily="34" charset="0"/>
            </a:endParaRPr>
          </a:p>
          <a:p>
            <a:r>
              <a:rPr lang="es-ES" dirty="0">
                <a:latin typeface="Verdana" panose="020B0604030504040204" pitchFamily="34" charset="0"/>
                <a:ea typeface="Verdana" panose="020B0604030504040204" pitchFamily="34" charset="0"/>
                <a:cs typeface="Verdana" panose="020B0604030504040204" pitchFamily="34" charset="0"/>
              </a:rPr>
              <a:t>	a. De cuántas formas posibles un estudiante puede responder el 	examen si todas las preguntas son respondidas?</a:t>
            </a:r>
          </a:p>
          <a:p>
            <a:endParaRPr lang="es-ES" dirty="0">
              <a:latin typeface="Verdana" panose="020B0604030504040204" pitchFamily="34" charset="0"/>
              <a:ea typeface="Verdana" panose="020B0604030504040204" pitchFamily="34" charset="0"/>
              <a:cs typeface="Verdana" panose="020B0604030504040204" pitchFamily="34" charset="0"/>
            </a:endParaRPr>
          </a:p>
          <a:p>
            <a:r>
              <a:rPr lang="es-ES" dirty="0">
                <a:latin typeface="Verdana" panose="020B0604030504040204" pitchFamily="34" charset="0"/>
                <a:ea typeface="Verdana" panose="020B0604030504040204" pitchFamily="34" charset="0"/>
                <a:cs typeface="Verdana" panose="020B0604030504040204" pitchFamily="34" charset="0"/>
              </a:rPr>
              <a:t>	b. De cuántas formas puede un estudiante responder el examen si 	puede dejar respuestas en blanco? </a:t>
            </a:r>
            <a:endParaRPr lang="es-CO" dirty="0">
              <a:latin typeface="Verdana" panose="020B0604030504040204" pitchFamily="34" charset="0"/>
              <a:ea typeface="Verdana" panose="020B0604030504040204" pitchFamily="34" charset="0"/>
              <a:cs typeface="Verdana" panose="020B0604030504040204" pitchFamily="34" charset="0"/>
            </a:endParaRPr>
          </a:p>
        </p:txBody>
      </p:sp>
    </p:spTree>
    <p:extLst>
      <p:ext uri="{BB962C8B-B14F-4D97-AF65-F5344CB8AC3E}">
        <p14:creationId xmlns:p14="http://schemas.microsoft.com/office/powerpoint/2010/main" val="15716257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ppt_x"/>
                                          </p:val>
                                        </p:tav>
                                        <p:tav tm="100000">
                                          <p:val>
                                            <p:strVal val="#ppt_x"/>
                                          </p:val>
                                        </p:tav>
                                      </p:tavLst>
                                    </p:anim>
                                    <p:anim calcmode="lin" valueType="num">
                                      <p:cBhvr additive="base">
                                        <p:cTn id="8"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7297</TotalTime>
  <Words>3193</Words>
  <Application>Microsoft Office PowerPoint</Application>
  <PresentationFormat>Panorámica</PresentationFormat>
  <Paragraphs>221</Paragraphs>
  <Slides>42</Slides>
  <Notes>0</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42</vt:i4>
      </vt:variant>
    </vt:vector>
  </HeadingPairs>
  <TitlesOfParts>
    <vt:vector size="47" baseType="lpstr">
      <vt:lpstr>Arial</vt:lpstr>
      <vt:lpstr>Calibri</vt:lpstr>
      <vt:lpstr>Calibri Light</vt:lpstr>
      <vt:lpstr>Verdana</vt:lpstr>
      <vt:lpstr>Tema de Office</vt:lpstr>
      <vt:lpstr>Luis Germán Toro Pareja Ingeniero de Sistemas Magister en Seguridad Informática Universidad del Valle   </vt:lpstr>
      <vt:lpstr>Luis Germán Toro Pareja Ingeniero de Sistemas Magister en Seguridad Informática Universidad del Valle   </vt:lpstr>
      <vt:lpstr>Clase No. 1</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PYTHON</dc:title>
  <dc:creator>Luis Toro</dc:creator>
  <cp:lastModifiedBy>JUAN DIEGO GARZON MARIN</cp:lastModifiedBy>
  <cp:revision>105</cp:revision>
  <dcterms:created xsi:type="dcterms:W3CDTF">2019-05-10T21:13:59Z</dcterms:created>
  <dcterms:modified xsi:type="dcterms:W3CDTF">2026-09-29T20:34:28Z</dcterms:modified>
</cp:coreProperties>
</file>